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6.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7.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alk" id="{6ae54d29-68fa-33b4-5336-f052540e7c2c}">
          <p14:sldIdLst>
            <p14:sldId id="256"/>
            <p14:sldId id="257"/>
            <p14:sldId id="258"/>
            <p14:sldId id="259"/>
            <p14:sldId id="260"/>
            <p14:sldId id="261"/>
            <p14:sldId id="262"/>
            <p14:sldId id="263"/>
            <p14:sldId id="264"/>
          </p14:sldIdLst>
        </p14:section>
        <p14:section name="Backup" id="{78ed2042-118f-2d17-2960-38df4dfff17e}">
          <p14:sldIdLst>
            <p14:sldId id="265"/>
            <p14:sldId id="266"/>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4A5568"/>
                </a:solidFill>
                <a:latin typeface="+mn-lt"/>
              </a:defRPr>
            </a:pPr>
            <a:r>
              <a:rPr sz="1100" b="0" i="0" u="none" strike="noStrike">
                <a:solidFill>
                  <a:srgbClr val="4A5568"/>
                </a:solidFill>
                <a:latin typeface="+mn-lt"/>
              </a:rPr>
              <a:t>Share of civilian contract dollars in highly concentrated segments, each year</a:t>
            </a:r>
          </a:p>
        </c:rich>
      </c:tx>
      <c:layout/>
      <c:overlay val="0"/>
    </c:title>
    <c:autoTitleDeleted val="0"/>
    <c:plotArea>
      <c:layout/>
      <c:lineChart>
        <c:varyColors val="0"/>
        <c:ser>
          <c:idx val="0"/>
          <c:order val="0"/>
          <c:tx>
            <c:strRef>
              <c:f>Sheet1!$B$1</c:f>
              <c:strCache>
                <c:ptCount val="1"/>
                <c:pt idx="0">
                  <c:v>Civilian agencies</c:v>
                </c:pt>
              </c:strCache>
            </c:strRef>
          </c:tx>
          <c:spPr>
            <a:solidFill>
              <a:srgbClr val="C2410C"/>
            </a:solidFill>
            <a:ln w="38100" cap="flat">
              <a:solidFill>
                <a:srgbClr val="C2410C"/>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5"/>
            <c:spPr>
              <a:solidFill>
                <a:srgbClr val="C2410C"/>
              </a:solidFill>
              <a:ln w="9525" cap="flat">
                <a:solidFill>
                  <a:srgbClr val="C2410C"/>
                </a:solidFill>
                <a:prstDash val="solid"/>
                <a:round/>
              </a:ln>
              <a:effectLst/>
            </c:spPr>
          </c:marker>
          <c:cat>
            <c:multiLvlStrRef>
              <c:f>Sheet1!$A$2:$A$19</c:f>
              <c:multiLvlStrCache>
                <c:ptCount val="18"/>
                <c:lvl>
                  <c:pt idx="0">
                    <c:v>'08</c:v>
                  </c:pt>
                  <c:pt idx="1">
                    <c:v>'09</c:v>
                  </c:pt>
                  <c:pt idx="2">
                    <c:v>'10</c:v>
                  </c:pt>
                  <c:pt idx="3">
                    <c:v>'11</c:v>
                  </c:pt>
                  <c:pt idx="4">
                    <c:v>'12</c:v>
                  </c:pt>
                  <c:pt idx="5">
                    <c:v>'13</c:v>
                  </c:pt>
                  <c:pt idx="6">
                    <c:v>'14</c:v>
                  </c:pt>
                  <c:pt idx="7">
                    <c:v>'15</c:v>
                  </c:pt>
                  <c:pt idx="8">
                    <c:v>'16</c:v>
                  </c:pt>
                  <c:pt idx="9">
                    <c:v>'17</c:v>
                  </c:pt>
                  <c:pt idx="10">
                    <c:v>'18</c:v>
                  </c:pt>
                  <c:pt idx="11">
                    <c:v>'19</c:v>
                  </c:pt>
                  <c:pt idx="12">
                    <c:v>'20</c:v>
                  </c:pt>
                  <c:pt idx="13">
                    <c:v>'21</c:v>
                  </c:pt>
                  <c:pt idx="14">
                    <c:v>'22</c:v>
                  </c:pt>
                  <c:pt idx="15">
                    <c:v>'23</c:v>
                  </c:pt>
                  <c:pt idx="16">
                    <c:v>'24</c:v>
                  </c:pt>
                  <c:pt idx="17">
                    <c:v>'25</c:v>
                  </c:pt>
                </c:lvl>
              </c:multiLvlStrCache>
            </c:multiLvlStrRef>
          </c:cat>
          <c:val>
            <c:numRef>
              <c:f>Sheet1!$B$2:$B$19</c:f>
              <c:numCache>
                <c:formatCode>General</c:formatCode>
                <c:ptCount val="18"/>
                <c:pt idx="0">
                  <c:v>44.14</c:v>
                </c:pt>
                <c:pt idx="1">
                  <c:v>43.87</c:v>
                </c:pt>
                <c:pt idx="2">
                  <c:v>41.36</c:v>
                </c:pt>
                <c:pt idx="3">
                  <c:v>37.87</c:v>
                </c:pt>
                <c:pt idx="4">
                  <c:v>41.48</c:v>
                </c:pt>
                <c:pt idx="5">
                  <c:v>42.41</c:v>
                </c:pt>
                <c:pt idx="6">
                  <c:v>37.83</c:v>
                </c:pt>
                <c:pt idx="7">
                  <c:v>39.42</c:v>
                </c:pt>
                <c:pt idx="8">
                  <c:v>40.31</c:v>
                </c:pt>
                <c:pt idx="9">
                  <c:v>45.28</c:v>
                </c:pt>
                <c:pt idx="10">
                  <c:v>42.53</c:v>
                </c:pt>
                <c:pt idx="11">
                  <c:v>45.67</c:v>
                </c:pt>
                <c:pt idx="12">
                  <c:v>44.67</c:v>
                </c:pt>
                <c:pt idx="13">
                  <c:v>49.01</c:v>
                </c:pt>
                <c:pt idx="14">
                  <c:v>53.3</c:v>
                </c:pt>
                <c:pt idx="15">
                  <c:v>50.13</c:v>
                </c:pt>
                <c:pt idx="16">
                  <c:v>42.76</c:v>
                </c:pt>
                <c:pt idx="17">
                  <c:v>50.49</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6350" cap="flat">
              <a:solidFill>
                <a:srgbClr val="E2E5EA"/>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4A5568"/>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4A5568"/>
                </a:solidFill>
                <a:latin typeface="+mn-lt"/>
              </a:defRPr>
            </a:pPr>
            <a:r>
              <a:rPr sz="1100" b="0" i="0" u="none" strike="noStrike">
                <a:solidFill>
                  <a:srgbClr val="4A5568"/>
                </a:solidFill>
                <a:latin typeface="+mn-lt"/>
              </a:rPr>
              <a:t>Share of dollars in highly concentrated segments</a:t>
            </a:r>
          </a:p>
        </c:rich>
      </c:tx>
      <c:layout/>
      <c:overlay val="0"/>
    </c:title>
    <c:autoTitleDeleted val="0"/>
    <c:plotArea>
      <c:layout/>
      <c:barChart>
        <c:barDir val="bar"/>
        <c:grouping val="clustered"/>
        <c:varyColors val="0"/>
        <c:ser>
          <c:idx val="0"/>
          <c:order val="0"/>
          <c:tx>
            <c:strRef>
              <c:f>Sheet1!$B$1</c:f>
              <c:strCache>
                <c:ptCount val="1"/>
                <c:pt idx="0">
                  <c:v>FY2008</c:v>
                </c:pt>
              </c:strCache>
            </c:strRef>
          </c:tx>
          <c:spPr>
            <a:solidFill>
              <a:srgbClr val="8A94A6"/>
            </a:solidFill>
            <a:effectLst/>
          </c:spPr>
          <c:invertIfNegative val="0"/>
          <c:dLbls>
            <c:numFmt formatCode="0&quot;%&quot;" sourceLinked="0"/>
            <c:txPr>
              <a:bodyPr/>
              <a:lstStyle/>
              <a:p>
                <a:pPr>
                  <a:defRPr b="0" i="0" strike="noStrike" sz="1000" u="none">
                    <a:solidFill>
                      <a:srgbClr val="1F2430"/>
                    </a:solidFill>
                    <a:latin typeface="+mn-lt"/>
                  </a:defRPr>
                </a:pPr>
              </a:p>
            </c:txPr>
            <c:showLegendKey val="0"/>
            <c:showVal val="1"/>
            <c:showCatName val="0"/>
            <c:showSerName val="0"/>
            <c:showPercent val="0"/>
            <c:showBubbleSize val="0"/>
            <c:showLeaderLines val="0"/>
          </c:dLbls>
          <c:cat>
            <c:multiLvlStrRef>
              <c:f>Sheet1!$A$2:$A$7</c:f>
              <c:multiLvlStrCache>
                <c:ptCount val="6"/>
                <c:lvl>
                  <c:pt idx="0">
                    <c:v>Veterans Affairs</c:v>
                  </c:pt>
                  <c:pt idx="1">
                    <c:v>Energy</c:v>
                  </c:pt>
                  <c:pt idx="2">
                    <c:v>Homeland Security</c:v>
                  </c:pt>
                  <c:pt idx="3">
                    <c:v>Health and Human Services</c:v>
                  </c:pt>
                  <c:pt idx="4">
                    <c:v>General Services Admin.</c:v>
                  </c:pt>
                  <c:pt idx="5">
                    <c:v>NASA</c:v>
                  </c:pt>
                </c:lvl>
              </c:multiLvlStrCache>
            </c:multiLvlStrRef>
          </c:cat>
          <c:val>
            <c:numRef>
              <c:f>Sheet1!$B$2:$B$7</c:f>
              <c:numCache>
                <c:formatCode>General</c:formatCode>
                <c:ptCount val="6"/>
                <c:pt idx="0">
                  <c:v>33.43</c:v>
                </c:pt>
                <c:pt idx="1">
                  <c:v>51.8</c:v>
                </c:pt>
                <c:pt idx="2">
                  <c:v>39.69</c:v>
                </c:pt>
                <c:pt idx="3">
                  <c:v>23.83</c:v>
                </c:pt>
                <c:pt idx="4">
                  <c:v>17.22</c:v>
                </c:pt>
                <c:pt idx="5">
                  <c:v>89.6</c:v>
                </c:pt>
              </c:numCache>
            </c:numRef>
          </c:val>
        </c:ser>
        <c:ser>
          <c:idx val="1"/>
          <c:order val="1"/>
          <c:tx>
            <c:strRef>
              <c:f>Sheet1!$C$1</c:f>
              <c:strCache>
                <c:ptCount val="1"/>
                <c:pt idx="0">
                  <c:v>FY2025</c:v>
                </c:pt>
              </c:strCache>
            </c:strRef>
          </c:tx>
          <c:spPr>
            <a:solidFill>
              <a:srgbClr val="C2410C"/>
            </a:solidFill>
            <a:effectLst/>
          </c:spPr>
          <c:invertIfNegative val="0"/>
          <c:dLbls>
            <c:numFmt formatCode="0&quot;%&quot;" sourceLinked="0"/>
            <c:txPr>
              <a:bodyPr/>
              <a:lstStyle/>
              <a:p>
                <a:pPr>
                  <a:defRPr b="0" i="0" strike="noStrike" sz="1000" u="none">
                    <a:solidFill>
                      <a:srgbClr val="1F2430"/>
                    </a:solidFill>
                    <a:latin typeface="+mn-lt"/>
                  </a:defRPr>
                </a:pPr>
              </a:p>
            </c:txPr>
            <c:showLegendKey val="0"/>
            <c:showVal val="1"/>
            <c:showCatName val="0"/>
            <c:showSerName val="0"/>
            <c:showPercent val="0"/>
            <c:showBubbleSize val="0"/>
            <c:showLeaderLines val="0"/>
          </c:dLbls>
          <c:cat>
            <c:multiLvlStrRef>
              <c:f>Sheet1!$A$2:$A$7</c:f>
              <c:multiLvlStrCache>
                <c:ptCount val="6"/>
                <c:lvl>
                  <c:pt idx="0">
                    <c:v>Veterans Affairs</c:v>
                  </c:pt>
                  <c:pt idx="1">
                    <c:v>Energy</c:v>
                  </c:pt>
                  <c:pt idx="2">
                    <c:v>Homeland Security</c:v>
                  </c:pt>
                  <c:pt idx="3">
                    <c:v>Health and Human Services</c:v>
                  </c:pt>
                  <c:pt idx="4">
                    <c:v>General Services Admin.</c:v>
                  </c:pt>
                  <c:pt idx="5">
                    <c:v>NASA</c:v>
                  </c:pt>
                </c:lvl>
              </c:multiLvlStrCache>
            </c:multiLvlStrRef>
          </c:cat>
          <c:val>
            <c:numRef>
              <c:f>Sheet1!$C$2:$C$7</c:f>
              <c:numCache>
                <c:formatCode>General</c:formatCode>
                <c:ptCount val="6"/>
                <c:pt idx="0">
                  <c:v>75.6</c:v>
                </c:pt>
                <c:pt idx="1">
                  <c:v>35.62</c:v>
                </c:pt>
                <c:pt idx="2">
                  <c:v>49.28</c:v>
                </c:pt>
                <c:pt idx="3">
                  <c:v>12.64</c:v>
                </c:pt>
                <c:pt idx="4">
                  <c:v>35.59</c:v>
                </c:pt>
                <c:pt idx="5">
                  <c:v>76.99</c:v>
                </c:pt>
              </c:numCache>
            </c:numRef>
          </c:val>
        </c:ser>
        <c:dLbls>
          <c:numFmt formatCode="0&quot;%&quot;" sourceLinked="0"/>
          <c:txPr>
            <a:bodyPr/>
            <a:lstStyle/>
            <a:p>
              <a:pPr>
                <a:defRPr b="0" i="0" strike="noStrike" sz="1000" u="none">
                  <a:solidFill>
                    <a:srgbClr val="1F2430"/>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E2E5EA"/>
              </a:solidFill>
              <a:prstDash val="solid"/>
              <a:round/>
            </a:ln>
          </c:spPr>
        </c:majorGridlines>
        <c:numFmt formatCode="0&quot;%&quot;" sourceLinked="0"/>
        <c:majorTickMark val="out"/>
        <c:minorTickMark val="none"/>
        <c:tickLblPos val="low"/>
        <c:spPr>
          <a:ln w="12700" cap="flat">
            <a:noFill/>
            <a:prstDash val="solid"/>
            <a:round/>
          </a:ln>
        </c:spPr>
        <c:txPr>
          <a:bodyPr/>
          <a:lstStyle/>
          <a:p>
            <a:pPr>
              <a:defRPr sz="1000" b="0" i="0" u="none" strike="noStrike">
                <a:solidFill>
                  <a:srgbClr val="4A556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4A556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4A5568"/>
                </a:solidFill>
                <a:latin typeface="+mn-lt"/>
              </a:defRPr>
            </a:pPr>
            <a:r>
              <a:rPr sz="1100" b="0" i="0" u="none" strike="noStrike">
                <a:solidFill>
                  <a:srgbClr val="4A5568"/>
                </a:solidFill>
                <a:latin typeface="+mn-lt"/>
              </a:rPr>
              <a:t>Veterans Affairs, managed healthcare</a:t>
            </a:r>
          </a:p>
        </c:rich>
      </c:tx>
      <c:layout/>
      <c:overlay val="0"/>
    </c:title>
    <c:autoTitleDeleted val="0"/>
    <c:plotArea>
      <c:layout/>
      <c:barChart>
        <c:barDir val="col"/>
        <c:grouping val="clustered"/>
        <c:varyColors val="0"/>
        <c:ser>
          <c:idx val="0"/>
          <c:order val="0"/>
          <c:tx>
            <c:strRef>
              <c:f>Sheet1!$B$1</c:f>
              <c:strCache>
                <c:ptCount val="1"/>
                <c:pt idx="0">
                  <c:v>Money spent ($B)</c:v>
                </c:pt>
              </c:strCache>
            </c:strRef>
          </c:tx>
          <c:spPr>
            <a:solidFill>
              <a:srgbClr val="C9CED8"/>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Sheet1!$A$2:$A$11</c:f>
              <c:multiLvlStrCache>
                <c:ptCount val="10"/>
                <c:lvl>
                  <c:pt idx="0">
                    <c:v>2016</c:v>
                  </c:pt>
                  <c:pt idx="1">
                    <c:v>2017</c:v>
                  </c:pt>
                  <c:pt idx="2">
                    <c:v>2018</c:v>
                  </c:pt>
                  <c:pt idx="3">
                    <c:v>2019</c:v>
                  </c:pt>
                  <c:pt idx="4">
                    <c:v>2020</c:v>
                  </c:pt>
                  <c:pt idx="5">
                    <c:v>2021</c:v>
                  </c:pt>
                  <c:pt idx="6">
                    <c:v>2022</c:v>
                  </c:pt>
                  <c:pt idx="7">
                    <c:v>2023</c:v>
                  </c:pt>
                  <c:pt idx="8">
                    <c:v>2024</c:v>
                  </c:pt>
                  <c:pt idx="9">
                    <c:v>2025</c:v>
                  </c:pt>
                </c:lvl>
              </c:multiLvlStrCache>
            </c:multiLvlStrRef>
          </c:cat>
          <c:val>
            <c:numRef>
              <c:f>Sheet1!$B$2:$B$11</c:f>
              <c:numCache>
                <c:formatCode>General</c:formatCode>
                <c:ptCount val="10"/>
                <c:pt idx="0">
                  <c:v>0.30126070534</c:v>
                </c:pt>
                <c:pt idx="1">
                  <c:v>0.29801573877</c:v>
                </c:pt>
                <c:pt idx="2">
                  <c:v>0.29918258244</c:v>
                </c:pt>
                <c:pt idx="3">
                  <c:v>0.38934277024</c:v>
                </c:pt>
                <c:pt idx="4">
                  <c:v>2.1684143270100003</c:v>
                </c:pt>
                <c:pt idx="5">
                  <c:v>9.26413713268</c:v>
                </c:pt>
                <c:pt idx="6">
                  <c:v>14.948401231790001</c:v>
                </c:pt>
                <c:pt idx="7">
                  <c:v>16.5821411651</c:v>
                </c:pt>
                <c:pt idx="8">
                  <c:v>20.50843980962</c:v>
                </c:pt>
                <c:pt idx="9">
                  <c:v>22.84524150164</c:v>
                </c:pt>
              </c:numCache>
            </c:numRef>
          </c:val>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gapWidth val="40"/>
        <c:overlap val="0"/>
        <c:axId val="2094734554"/>
        <c:axId val="2094734552"/>
        <c:axId val="2094734556"/>
      </c:barChart>
      <c:lineChart>
        <c:varyColors val="0"/>
        <c:ser>
          <c:idx val="1"/>
          <c:order val="1"/>
          <c:tx>
            <c:strRef>
              <c:f>Sheet1!$C$1</c:f>
              <c:strCache>
                <c:ptCount val="1"/>
                <c:pt idx="0">
                  <c:v>Largest company's share (%)</c:v>
                </c:pt>
              </c:strCache>
            </c:strRef>
          </c:tx>
          <c:spPr>
            <a:solidFill>
              <a:srgbClr val="C2410C"/>
            </a:solidFill>
            <a:ln w="38100" cap="flat">
              <a:solidFill>
                <a:srgbClr val="C2410C"/>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C2410C"/>
              </a:solidFill>
              <a:ln w="9525" cap="flat">
                <a:solidFill>
                  <a:srgbClr val="C2410C"/>
                </a:solidFill>
                <a:prstDash val="solid"/>
                <a:round/>
              </a:ln>
              <a:effectLst/>
            </c:spPr>
          </c:marker>
          <c:cat>
            <c:multiLvlStrRef>
              <c:f>Sheet1!$A$2:$A$11</c:f>
              <c:multiLvlStrCache>
                <c:ptCount val="10"/>
                <c:lvl>
                  <c:pt idx="0">
                    <c:v>2016</c:v>
                  </c:pt>
                  <c:pt idx="1">
                    <c:v>2017</c:v>
                  </c:pt>
                  <c:pt idx="2">
                    <c:v>2018</c:v>
                  </c:pt>
                  <c:pt idx="3">
                    <c:v>2019</c:v>
                  </c:pt>
                  <c:pt idx="4">
                    <c:v>2020</c:v>
                  </c:pt>
                  <c:pt idx="5">
                    <c:v>2021</c:v>
                  </c:pt>
                  <c:pt idx="6">
                    <c:v>2022</c:v>
                  </c:pt>
                  <c:pt idx="7">
                    <c:v>2023</c:v>
                  </c:pt>
                  <c:pt idx="8">
                    <c:v>2024</c:v>
                  </c:pt>
                  <c:pt idx="9">
                    <c:v>2025</c:v>
                  </c:pt>
                </c:lvl>
              </c:multiLvlStrCache>
            </c:multiLvlStrRef>
          </c:cat>
          <c:val>
            <c:numRef>
              <c:f>Sheet1!$C$2:$C$11</c:f>
              <c:numCache>
                <c:formatCode>General</c:formatCode>
                <c:ptCount val="10"/>
                <c:pt idx="0">
                  <c:v>15.2</c:v>
                </c:pt>
                <c:pt idx="1">
                  <c:v>21</c:v>
                </c:pt>
                <c:pt idx="2">
                  <c:v>22.6</c:v>
                </c:pt>
                <c:pt idx="3">
                  <c:v>18.6</c:v>
                </c:pt>
                <c:pt idx="4">
                  <c:v>84</c:v>
                </c:pt>
                <c:pt idx="5">
                  <c:v>95.5</c:v>
                </c:pt>
                <c:pt idx="6">
                  <c:v>97</c:v>
                </c:pt>
                <c:pt idx="7">
                  <c:v>97.7</c:v>
                </c:pt>
                <c:pt idx="8">
                  <c:v>82</c:v>
                </c:pt>
                <c:pt idx="9">
                  <c:v>98.4</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2E5EA"/>
              </a:solidFill>
              <a:prstDash val="solid"/>
              <a:round/>
            </a:ln>
          </c:spPr>
        </c:majorGridlines>
        <c:title>
          <c:tx>
            <c:rich>
              <a:bodyPr/>
              <a:lstStyle/>
              <a:p>
                <a:pPr>
                  <a:defRPr sz="1000" b="0" i="0" u="none" strike="noStrike">
                    <a:solidFill>
                      <a:srgbClr val="4A5568"/>
                    </a:solidFill>
                    <a:latin typeface="Arial"/>
                  </a:defRPr>
                </a:pPr>
                <a:r>
                  <a:rPr sz="1000" b="0" i="0" u="none" strike="noStrike">
                    <a:solidFill>
                      <a:srgbClr val="4A5568"/>
                    </a:solidFill>
                    <a:latin typeface="Arial"/>
                  </a:rPr>
                  <a:t>$ billion</a:t>
                </a:r>
              </a:p>
            </c:rich>
          </c:tx>
          <c:layout/>
          <c:overlay val="0"/>
        </c:title>
        <c:numFmt formatCode="General" sourceLinked="0"/>
        <c:majorTickMark val="out"/>
        <c:minorTickMark val="none"/>
        <c:tickLblPos val="nextTo"/>
        <c:spPr>
          <a:ln w="12700" cap="flat">
            <a:noFill/>
            <a:prstDash val="solid"/>
            <a:round/>
          </a:ln>
        </c:spPr>
        <c:txPr>
          <a:bodyPr/>
          <a:lstStyle/>
          <a:p>
            <a:pPr>
              <a:defRPr sz="1000" b="0" i="0" u="none" strike="noStrike">
                <a:solidFill>
                  <a:srgbClr val="4A5568"/>
                </a:solidFill>
                <a:latin typeface="+mn-lt"/>
              </a:defRPr>
            </a:pPr>
            <a:endParaRPr lang="en-US"/>
          </a:p>
        </c:txPr>
        <c:crossAx val="2094734554"/>
        <c:crosses val="autoZero"/>
        <c:crossBetween val="between"/>
      </c:valAx>
      <c:valAx>
        <c:axId val="2094734553"/>
        <c:scaling>
          <c:orientation val="minMax"/>
          <c:max val="100"/>
          <c:min val="0"/>
        </c:scaling>
        <c:delete val="0"/>
        <c:axPos val="r"/>
        <c:title>
          <c:tx>
            <c:rich>
              <a:bodyPr/>
              <a:lstStyle/>
              <a:p>
                <a:pPr>
                  <a:defRPr sz="1000" b="0" i="0" u="none" strike="noStrike">
                    <a:solidFill>
                      <a:srgbClr val="4A5568"/>
                    </a:solidFill>
                    <a:latin typeface="Arial"/>
                  </a:defRPr>
                </a:pPr>
                <a:r>
                  <a:rPr sz="1000" b="0" i="0" u="none" strike="noStrike">
                    <a:solidFill>
                      <a:srgbClr val="4A5568"/>
                    </a:solidFill>
                    <a:latin typeface="Arial"/>
                  </a:rPr>
                  <a:t>largest share %</a:t>
                </a:r>
              </a:p>
            </c:rich>
          </c:tx>
          <c:layout/>
          <c:overlay val="0"/>
        </c:title>
        <c:numFmt formatCode="General" sourceLinked="0"/>
        <c:majorTickMark val="out"/>
        <c:minorTickMark val="none"/>
        <c:tickLblPos val="nextTo"/>
        <c:spPr>
          <a:ln w="12700" cap="flat">
            <a:noFill/>
            <a:prstDash val="solid"/>
            <a:round/>
          </a:ln>
        </c:spPr>
        <c:txPr>
          <a:bodyPr/>
          <a:lstStyle/>
          <a:p>
            <a:pPr>
              <a:defRPr sz="1000" b="0" i="0" u="none" strike="noStrike">
                <a:solidFill>
                  <a:srgbClr val="4A5568"/>
                </a:solidFill>
                <a:latin typeface="+mn-lt"/>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4A5568"/>
                </a:solidFill>
                <a:latin typeface="+mn-lt"/>
              </a:defRPr>
            </a:pPr>
            <a:endParaRPr lang="en-US"/>
          </a:p>
        </c:txPr>
        <c:crossAx val="2094734553"/>
        <c:crosses val="autoZero"/>
        <c:auto val="1"/>
        <c:lblAlgn val="ctr"/>
        <c:noMultiLvlLbl val="1"/>
      </c:catAx>
      <c:spPr>
        <a:noFill/>
        <a:ln>
          <a:noFill/>
        </a:ln>
        <a:effectLst/>
      </c:spPr>
    </c:plotArea>
    <c:legend>
      <c:legendPos val="b"/>
      <c:overlay val="0"/>
      <c:txPr>
        <a:bodyPr/>
        <a:lstStyle/>
        <a:p>
          <a:pPr>
            <a:defRPr sz="1000">
              <a:solidFill>
                <a:srgbClr val="4A556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4A5568"/>
                </a:solidFill>
                <a:latin typeface="+mn-lt"/>
              </a:defRPr>
            </a:pPr>
            <a:r>
              <a:rPr sz="1100" b="0" i="0" u="none" strike="noStrike">
                <a:solidFill>
                  <a:srgbClr val="4A5568"/>
                </a:solidFill>
                <a:latin typeface="+mn-lt"/>
              </a:rPr>
              <a:t>Share of dollars in highly concentrated segments</a:t>
            </a:r>
          </a:p>
        </c:rich>
      </c:tx>
      <c:layout/>
      <c:overlay val="0"/>
    </c:title>
    <c:autoTitleDeleted val="0"/>
    <c:plotArea>
      <c:layout/>
      <c:lineChart>
        <c:varyColors val="0"/>
        <c:ser>
          <c:idx val="0"/>
          <c:order val="0"/>
          <c:tx>
            <c:strRef>
              <c:f>Sheet1!$B$1</c:f>
              <c:strCache>
                <c:ptCount val="1"/>
                <c:pt idx="0">
                  <c:v>Civilian agencies</c:v>
                </c:pt>
              </c:strCache>
            </c:strRef>
          </c:tx>
          <c:spPr>
            <a:solidFill>
              <a:srgbClr val="C2410C"/>
            </a:solidFill>
            <a:ln w="31750" cap="flat">
              <a:solidFill>
                <a:srgbClr val="C2410C"/>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C2410C"/>
              </a:solidFill>
              <a:ln w="9525" cap="flat">
                <a:solidFill>
                  <a:srgbClr val="C2410C"/>
                </a:solidFill>
                <a:prstDash val="solid"/>
                <a:round/>
              </a:ln>
              <a:effectLst/>
            </c:spPr>
          </c:marker>
          <c:cat>
            <c:multiLvlStrRef>
              <c:f>Sheet1!$A$2:$A$19</c:f>
              <c:multiLvlStrCache>
                <c:ptCount val="18"/>
                <c:lvl>
                  <c:pt idx="0">
                    <c:v>'08</c:v>
                  </c:pt>
                  <c:pt idx="1">
                    <c:v>'09</c:v>
                  </c:pt>
                  <c:pt idx="2">
                    <c:v>'10</c:v>
                  </c:pt>
                  <c:pt idx="3">
                    <c:v>'11</c:v>
                  </c:pt>
                  <c:pt idx="4">
                    <c:v>'12</c:v>
                  </c:pt>
                  <c:pt idx="5">
                    <c:v>'13</c:v>
                  </c:pt>
                  <c:pt idx="6">
                    <c:v>'14</c:v>
                  </c:pt>
                  <c:pt idx="7">
                    <c:v>'15</c:v>
                  </c:pt>
                  <c:pt idx="8">
                    <c:v>'16</c:v>
                  </c:pt>
                  <c:pt idx="9">
                    <c:v>'17</c:v>
                  </c:pt>
                  <c:pt idx="10">
                    <c:v>'18</c:v>
                  </c:pt>
                  <c:pt idx="11">
                    <c:v>'19</c:v>
                  </c:pt>
                  <c:pt idx="12">
                    <c:v>'20</c:v>
                  </c:pt>
                  <c:pt idx="13">
                    <c:v>'21</c:v>
                  </c:pt>
                  <c:pt idx="14">
                    <c:v>'22</c:v>
                  </c:pt>
                  <c:pt idx="15">
                    <c:v>'23</c:v>
                  </c:pt>
                  <c:pt idx="16">
                    <c:v>'24</c:v>
                  </c:pt>
                  <c:pt idx="17">
                    <c:v>'25</c:v>
                  </c:pt>
                </c:lvl>
              </c:multiLvlStrCache>
            </c:multiLvlStrRef>
          </c:cat>
          <c:val>
            <c:numRef>
              <c:f>Sheet1!$B$2:$B$19</c:f>
              <c:numCache>
                <c:formatCode>General</c:formatCode>
                <c:ptCount val="18"/>
                <c:pt idx="0">
                  <c:v>44.14</c:v>
                </c:pt>
                <c:pt idx="1">
                  <c:v>43.87</c:v>
                </c:pt>
                <c:pt idx="2">
                  <c:v>41.36</c:v>
                </c:pt>
                <c:pt idx="3">
                  <c:v>37.87</c:v>
                </c:pt>
                <c:pt idx="4">
                  <c:v>41.48</c:v>
                </c:pt>
                <c:pt idx="5">
                  <c:v>42.41</c:v>
                </c:pt>
                <c:pt idx="6">
                  <c:v>37.83</c:v>
                </c:pt>
                <c:pt idx="7">
                  <c:v>39.42</c:v>
                </c:pt>
                <c:pt idx="8">
                  <c:v>40.31</c:v>
                </c:pt>
                <c:pt idx="9">
                  <c:v>45.28</c:v>
                </c:pt>
                <c:pt idx="10">
                  <c:v>42.53</c:v>
                </c:pt>
                <c:pt idx="11">
                  <c:v>45.67</c:v>
                </c:pt>
                <c:pt idx="12">
                  <c:v>44.67</c:v>
                </c:pt>
                <c:pt idx="13">
                  <c:v>49.01</c:v>
                </c:pt>
                <c:pt idx="14">
                  <c:v>53.3</c:v>
                </c:pt>
                <c:pt idx="15">
                  <c:v>50.13</c:v>
                </c:pt>
                <c:pt idx="16">
                  <c:v>42.76</c:v>
                </c:pt>
                <c:pt idx="17">
                  <c:v>50.49</c:v>
                </c:pt>
              </c:numCache>
            </c:numRef>
          </c:val>
          <c:smooth val="0"/>
        </c:ser>
        <c:ser>
          <c:idx val="1"/>
          <c:order val="1"/>
          <c:tx>
            <c:strRef>
              <c:f>Sheet1!$C$1</c:f>
              <c:strCache>
                <c:ptCount val="1"/>
                <c:pt idx="0">
                  <c:v>Defense</c:v>
                </c:pt>
              </c:strCache>
            </c:strRef>
          </c:tx>
          <c:spPr>
            <a:solidFill>
              <a:srgbClr val="8A94A6"/>
            </a:solidFill>
            <a:ln w="31750" cap="flat">
              <a:solidFill>
                <a:srgbClr val="8A94A6"/>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8A94A6"/>
              </a:solidFill>
              <a:ln w="9525" cap="flat">
                <a:solidFill>
                  <a:srgbClr val="8A94A6"/>
                </a:solidFill>
                <a:prstDash val="solid"/>
                <a:round/>
              </a:ln>
              <a:effectLst/>
            </c:spPr>
          </c:marker>
          <c:cat>
            <c:multiLvlStrRef>
              <c:f>Sheet1!$A$2:$A$19</c:f>
              <c:multiLvlStrCache>
                <c:ptCount val="18"/>
                <c:lvl>
                  <c:pt idx="0">
                    <c:v>'08</c:v>
                  </c:pt>
                  <c:pt idx="1">
                    <c:v>'09</c:v>
                  </c:pt>
                  <c:pt idx="2">
                    <c:v>'10</c:v>
                  </c:pt>
                  <c:pt idx="3">
                    <c:v>'11</c:v>
                  </c:pt>
                  <c:pt idx="4">
                    <c:v>'12</c:v>
                  </c:pt>
                  <c:pt idx="5">
                    <c:v>'13</c:v>
                  </c:pt>
                  <c:pt idx="6">
                    <c:v>'14</c:v>
                  </c:pt>
                  <c:pt idx="7">
                    <c:v>'15</c:v>
                  </c:pt>
                  <c:pt idx="8">
                    <c:v>'16</c:v>
                  </c:pt>
                  <c:pt idx="9">
                    <c:v>'17</c:v>
                  </c:pt>
                  <c:pt idx="10">
                    <c:v>'18</c:v>
                  </c:pt>
                  <c:pt idx="11">
                    <c:v>'19</c:v>
                  </c:pt>
                  <c:pt idx="12">
                    <c:v>'20</c:v>
                  </c:pt>
                  <c:pt idx="13">
                    <c:v>'21</c:v>
                  </c:pt>
                  <c:pt idx="14">
                    <c:v>'22</c:v>
                  </c:pt>
                  <c:pt idx="15">
                    <c:v>'23</c:v>
                  </c:pt>
                  <c:pt idx="16">
                    <c:v>'24</c:v>
                  </c:pt>
                  <c:pt idx="17">
                    <c:v>'25</c:v>
                  </c:pt>
                </c:lvl>
              </c:multiLvlStrCache>
            </c:multiLvlStrRef>
          </c:cat>
          <c:val>
            <c:numRef>
              <c:f>Sheet1!$C$2:$C$19</c:f>
              <c:numCache>
                <c:formatCode>General</c:formatCode>
                <c:ptCount val="18"/>
                <c:pt idx="0">
                  <c:v>42.61</c:v>
                </c:pt>
                <c:pt idx="1">
                  <c:v>37.21</c:v>
                </c:pt>
                <c:pt idx="2">
                  <c:v>38.26</c:v>
                </c:pt>
                <c:pt idx="3">
                  <c:v>40.01</c:v>
                </c:pt>
                <c:pt idx="4">
                  <c:v>38.71</c:v>
                </c:pt>
                <c:pt idx="5">
                  <c:v>40.87</c:v>
                </c:pt>
                <c:pt idx="6">
                  <c:v>40.39</c:v>
                </c:pt>
                <c:pt idx="7">
                  <c:v>41.82</c:v>
                </c:pt>
                <c:pt idx="8">
                  <c:v>44.04</c:v>
                </c:pt>
                <c:pt idx="9">
                  <c:v>43.72</c:v>
                </c:pt>
                <c:pt idx="10">
                  <c:v>43.72</c:v>
                </c:pt>
                <c:pt idx="11">
                  <c:v>46.55</c:v>
                </c:pt>
                <c:pt idx="12">
                  <c:v>48.41</c:v>
                </c:pt>
                <c:pt idx="13">
                  <c:v>41</c:v>
                </c:pt>
                <c:pt idx="14">
                  <c:v>47.42</c:v>
                </c:pt>
                <c:pt idx="15">
                  <c:v>47.79</c:v>
                </c:pt>
                <c:pt idx="16">
                  <c:v>30.49</c:v>
                </c:pt>
                <c:pt idx="17">
                  <c:v>50.23</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6350" cap="flat">
              <a:solidFill>
                <a:srgbClr val="E2E5EA"/>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4A556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4A556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4A5568"/>
                </a:solidFill>
                <a:latin typeface="+mn-lt"/>
              </a:defRPr>
            </a:pPr>
            <a:r>
              <a:rPr sz="1100" b="0" i="0" u="none" strike="noStrike">
                <a:solidFill>
                  <a:srgbClr val="4A5568"/>
                </a:solidFill>
                <a:latin typeface="+mn-lt"/>
              </a:rPr>
              <a:t>Civilian: share of dollars in highly concentrated segments</a:t>
            </a:r>
          </a:p>
        </c:rich>
      </c:tx>
      <c:layout/>
      <c:overlay val="0"/>
    </c:title>
    <c:autoTitleDeleted val="0"/>
    <c:plotArea>
      <c:layout/>
      <c:barChart>
        <c:barDir val="col"/>
        <c:grouping val="clustered"/>
        <c:varyColors val="0"/>
        <c:ser>
          <c:idx val="0"/>
          <c:order val="0"/>
          <c:tx>
            <c:strRef>
              <c:f>Sheet1!$B$1</c:f>
              <c:strCache>
                <c:ptCount val="1"/>
                <c:pt idx="0">
                  <c:v>FY2008</c:v>
                </c:pt>
              </c:strCache>
            </c:strRef>
          </c:tx>
          <c:spPr>
            <a:solidFill>
              <a:srgbClr val="8A94A6"/>
            </a:solidFill>
            <a:effectLst/>
          </c:spPr>
          <c:invertIfNegative val="0"/>
          <c:dLbls>
            <c:numFmt formatCode="0&quot;%&quot;" sourceLinked="0"/>
            <c:txPr>
              <a:bodyPr/>
              <a:lstStyle/>
              <a:p>
                <a:pPr>
                  <a:defRPr b="0" i="0" strike="noStrike" sz="1000" u="none">
                    <a:solidFill>
                      <a:srgbClr val="1F2430"/>
                    </a:solidFill>
                    <a:latin typeface="+mn-lt"/>
                  </a:defRPr>
                </a:pPr>
              </a:p>
            </c:txPr>
            <c:showLegendKey val="0"/>
            <c:showVal val="1"/>
            <c:showCatName val="0"/>
            <c:showSerName val="0"/>
            <c:showPercent val="0"/>
            <c:showBubbleSize val="0"/>
            <c:showLeaderLines val="0"/>
          </c:dLbls>
          <c:cat>
            <c:multiLvlStrRef>
              <c:f>Sheet1!$A$2:$A$4</c:f>
              <c:multiLvlStrCache>
                <c:ptCount val="3"/>
                <c:lvl>
                  <c:pt idx="0">
                    <c:v>Services</c:v>
                  </c:pt>
                  <c:pt idx="1">
                    <c:v>Products</c:v>
                  </c:pt>
                  <c:pt idx="2">
                    <c:v>Research</c:v>
                  </c:pt>
                </c:lvl>
              </c:multiLvlStrCache>
            </c:multiLvlStrRef>
          </c:cat>
          <c:val>
            <c:numRef>
              <c:f>Sheet1!$B$2:$B$4</c:f>
              <c:numCache>
                <c:formatCode>General</c:formatCode>
                <c:ptCount val="3"/>
                <c:pt idx="0">
                  <c:v>36.86</c:v>
                </c:pt>
                <c:pt idx="1">
                  <c:v>49.92</c:v>
                </c:pt>
                <c:pt idx="2">
                  <c:v>79.61</c:v>
                </c:pt>
              </c:numCache>
            </c:numRef>
          </c:val>
        </c:ser>
        <c:ser>
          <c:idx val="1"/>
          <c:order val="1"/>
          <c:tx>
            <c:strRef>
              <c:f>Sheet1!$C$1</c:f>
              <c:strCache>
                <c:ptCount val="1"/>
                <c:pt idx="0">
                  <c:v>FY2025</c:v>
                </c:pt>
              </c:strCache>
            </c:strRef>
          </c:tx>
          <c:spPr>
            <a:solidFill>
              <a:srgbClr val="C2410C"/>
            </a:solidFill>
            <a:effectLst/>
          </c:spPr>
          <c:invertIfNegative val="0"/>
          <c:dLbls>
            <c:numFmt formatCode="0&quot;%&quot;" sourceLinked="0"/>
            <c:txPr>
              <a:bodyPr/>
              <a:lstStyle/>
              <a:p>
                <a:pPr>
                  <a:defRPr b="0" i="0" strike="noStrike" sz="1000" u="none">
                    <a:solidFill>
                      <a:srgbClr val="1F2430"/>
                    </a:solidFill>
                    <a:latin typeface="+mn-lt"/>
                  </a:defRPr>
                </a:pPr>
              </a:p>
            </c:txPr>
            <c:showLegendKey val="0"/>
            <c:showVal val="1"/>
            <c:showCatName val="0"/>
            <c:showSerName val="0"/>
            <c:showPercent val="0"/>
            <c:showBubbleSize val="0"/>
            <c:showLeaderLines val="0"/>
          </c:dLbls>
          <c:cat>
            <c:multiLvlStrRef>
              <c:f>Sheet1!$A$2:$A$4</c:f>
              <c:multiLvlStrCache>
                <c:ptCount val="3"/>
                <c:lvl>
                  <c:pt idx="0">
                    <c:v>Services</c:v>
                  </c:pt>
                  <c:pt idx="1">
                    <c:v>Products</c:v>
                  </c:pt>
                  <c:pt idx="2">
                    <c:v>Research</c:v>
                  </c:pt>
                </c:lvl>
              </c:multiLvlStrCache>
            </c:multiLvlStrRef>
          </c:cat>
          <c:val>
            <c:numRef>
              <c:f>Sheet1!$C$2:$C$4</c:f>
              <c:numCache>
                <c:formatCode>General</c:formatCode>
                <c:ptCount val="3"/>
                <c:pt idx="0">
                  <c:v>47.87</c:v>
                </c:pt>
                <c:pt idx="1">
                  <c:v>52.21</c:v>
                </c:pt>
                <c:pt idx="2">
                  <c:v>76.16</c:v>
                </c:pt>
              </c:numCache>
            </c:numRef>
          </c:val>
        </c:ser>
        <c:dLbls>
          <c:numFmt formatCode="0&quot;%&quot;" sourceLinked="0"/>
          <c:txPr>
            <a:bodyPr/>
            <a:lstStyle/>
            <a:p>
              <a:pPr>
                <a:defRPr b="0" i="0" strike="noStrike" sz="1000" u="none">
                  <a:solidFill>
                    <a:srgbClr val="1F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2E5EA"/>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4A556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4A556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4A5568"/>
                </a:solidFill>
                <a:latin typeface="+mn-lt"/>
              </a:defRPr>
            </a:pPr>
            <a:r>
              <a:rPr sz="1100" b="0" i="0" u="none" strike="noStrike">
                <a:solidFill>
                  <a:srgbClr val="4A5568"/>
                </a:solidFill>
                <a:latin typeface="+mn-lt"/>
              </a:rPr>
              <a:t>All agencies: share of dollars above HHI 2,500</a:t>
            </a:r>
          </a:p>
        </c:rich>
      </c:tx>
      <c:layout/>
      <c:overlay val="0"/>
    </c:title>
    <c:autoTitleDeleted val="0"/>
    <c:plotArea>
      <c:layout/>
      <c:lineChart>
        <c:varyColors val="0"/>
        <c:ser>
          <c:idx val="0"/>
          <c:order val="0"/>
          <c:tx>
            <c:strRef>
              <c:f>Sheet1!$B$1</c:f>
              <c:strCache>
                <c:ptCount val="1"/>
                <c:pt idx="0">
                  <c:v>As recorded (V0)</c:v>
                </c:pt>
              </c:strCache>
            </c:strRef>
          </c:tx>
          <c:spPr>
            <a:solidFill>
              <a:srgbClr val="8A94A6"/>
            </a:solidFill>
            <a:ln w="31750" cap="flat">
              <a:solidFill>
                <a:srgbClr val="8A94A6"/>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8A94A6"/>
              </a:solidFill>
              <a:ln w="9525" cap="flat">
                <a:solidFill>
                  <a:srgbClr val="8A94A6"/>
                </a:solidFill>
                <a:prstDash val="solid"/>
                <a:round/>
              </a:ln>
              <a:effectLst/>
            </c:spPr>
          </c:marker>
          <c:cat>
            <c:multiLvlStrRef>
              <c:f>Sheet1!$A$2:$A$19</c:f>
              <c:multiLvlStrCache>
                <c:ptCount val="18"/>
                <c:lvl>
                  <c:pt idx="0">
                    <c:v>'08</c:v>
                  </c:pt>
                  <c:pt idx="1">
                    <c:v>'09</c:v>
                  </c:pt>
                  <c:pt idx="2">
                    <c:v>'10</c:v>
                  </c:pt>
                  <c:pt idx="3">
                    <c:v>'11</c:v>
                  </c:pt>
                  <c:pt idx="4">
                    <c:v>'12</c:v>
                  </c:pt>
                  <c:pt idx="5">
                    <c:v>'13</c:v>
                  </c:pt>
                  <c:pt idx="6">
                    <c:v>'14</c:v>
                  </c:pt>
                  <c:pt idx="7">
                    <c:v>'15</c:v>
                  </c:pt>
                  <c:pt idx="8">
                    <c:v>'16</c:v>
                  </c:pt>
                  <c:pt idx="9">
                    <c:v>'17</c:v>
                  </c:pt>
                  <c:pt idx="10">
                    <c:v>'18</c:v>
                  </c:pt>
                  <c:pt idx="11">
                    <c:v>'19</c:v>
                  </c:pt>
                  <c:pt idx="12">
                    <c:v>'20</c:v>
                  </c:pt>
                  <c:pt idx="13">
                    <c:v>'21</c:v>
                  </c:pt>
                  <c:pt idx="14">
                    <c:v>'22</c:v>
                  </c:pt>
                  <c:pt idx="15">
                    <c:v>'23</c:v>
                  </c:pt>
                  <c:pt idx="16">
                    <c:v>'24</c:v>
                  </c:pt>
                  <c:pt idx="17">
                    <c:v>'25</c:v>
                  </c:pt>
                </c:lvl>
              </c:multiLvlStrCache>
            </c:multiLvlStrRef>
          </c:cat>
          <c:val>
            <c:numRef>
              <c:f>Sheet1!$B$2:$B$19</c:f>
              <c:numCache>
                <c:formatCode>General</c:formatCode>
                <c:ptCount val="18"/>
                <c:pt idx="0">
                  <c:v>46.69</c:v>
                </c:pt>
                <c:pt idx="1">
                  <c:v>40.2</c:v>
                </c:pt>
                <c:pt idx="2">
                  <c:v>41.51</c:v>
                </c:pt>
                <c:pt idx="3">
                  <c:v>39.18</c:v>
                </c:pt>
                <c:pt idx="4">
                  <c:v>39.55</c:v>
                </c:pt>
                <c:pt idx="5">
                  <c:v>41.39</c:v>
                </c:pt>
                <c:pt idx="6">
                  <c:v>39.51</c:v>
                </c:pt>
                <c:pt idx="7">
                  <c:v>41.01</c:v>
                </c:pt>
                <c:pt idx="8">
                  <c:v>42.63</c:v>
                </c:pt>
                <c:pt idx="9">
                  <c:v>44.31</c:v>
                </c:pt>
                <c:pt idx="10">
                  <c:v>43.3</c:v>
                </c:pt>
                <c:pt idx="11">
                  <c:v>46.26</c:v>
                </c:pt>
                <c:pt idx="12">
                  <c:v>47.02</c:v>
                </c:pt>
                <c:pt idx="13">
                  <c:v>44.22</c:v>
                </c:pt>
                <c:pt idx="14">
                  <c:v>49.78</c:v>
                </c:pt>
                <c:pt idx="15">
                  <c:v>48.72</c:v>
                </c:pt>
                <c:pt idx="16">
                  <c:v>35.52</c:v>
                </c:pt>
                <c:pt idx="17">
                  <c:v>50.32</c:v>
                </c:pt>
              </c:numCache>
            </c:numRef>
          </c:val>
          <c:smooth val="0"/>
        </c:ser>
        <c:ser>
          <c:idx val="1"/>
          <c:order val="1"/>
          <c:tx>
            <c:strRef>
              <c:f>Sheet1!$C$1</c:f>
              <c:strCache>
                <c:ptCount val="1"/>
                <c:pt idx="0">
                  <c:v>Decisions as proposed (V1)</c:v>
                </c:pt>
              </c:strCache>
            </c:strRef>
          </c:tx>
          <c:spPr>
            <a:solidFill>
              <a:srgbClr val="C2410C"/>
            </a:solidFill>
            <a:ln w="31750" cap="flat">
              <a:solidFill>
                <a:srgbClr val="C2410C"/>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C2410C"/>
              </a:solidFill>
              <a:ln w="9525" cap="flat">
                <a:solidFill>
                  <a:srgbClr val="C2410C"/>
                </a:solidFill>
                <a:prstDash val="solid"/>
                <a:round/>
              </a:ln>
              <a:effectLst/>
            </c:spPr>
          </c:marker>
          <c:cat>
            <c:multiLvlStrRef>
              <c:f>Sheet1!$A$2:$A$19</c:f>
              <c:multiLvlStrCache>
                <c:ptCount val="18"/>
                <c:lvl>
                  <c:pt idx="0">
                    <c:v>'08</c:v>
                  </c:pt>
                  <c:pt idx="1">
                    <c:v>'09</c:v>
                  </c:pt>
                  <c:pt idx="2">
                    <c:v>'10</c:v>
                  </c:pt>
                  <c:pt idx="3">
                    <c:v>'11</c:v>
                  </c:pt>
                  <c:pt idx="4">
                    <c:v>'12</c:v>
                  </c:pt>
                  <c:pt idx="5">
                    <c:v>'13</c:v>
                  </c:pt>
                  <c:pt idx="6">
                    <c:v>'14</c:v>
                  </c:pt>
                  <c:pt idx="7">
                    <c:v>'15</c:v>
                  </c:pt>
                  <c:pt idx="8">
                    <c:v>'16</c:v>
                  </c:pt>
                  <c:pt idx="9">
                    <c:v>'17</c:v>
                  </c:pt>
                  <c:pt idx="10">
                    <c:v>'18</c:v>
                  </c:pt>
                  <c:pt idx="11">
                    <c:v>'19</c:v>
                  </c:pt>
                  <c:pt idx="12">
                    <c:v>'20</c:v>
                  </c:pt>
                  <c:pt idx="13">
                    <c:v>'21</c:v>
                  </c:pt>
                  <c:pt idx="14">
                    <c:v>'22</c:v>
                  </c:pt>
                  <c:pt idx="15">
                    <c:v>'23</c:v>
                  </c:pt>
                  <c:pt idx="16">
                    <c:v>'24</c:v>
                  </c:pt>
                  <c:pt idx="17">
                    <c:v>'25</c:v>
                  </c:pt>
                </c:lvl>
              </c:multiLvlStrCache>
            </c:multiLvlStrRef>
          </c:cat>
          <c:val>
            <c:numRef>
              <c:f>Sheet1!$C$2:$C$19</c:f>
              <c:numCache>
                <c:formatCode>General</c:formatCode>
                <c:ptCount val="18"/>
                <c:pt idx="0">
                  <c:v>43.04</c:v>
                </c:pt>
                <c:pt idx="1">
                  <c:v>39.23</c:v>
                </c:pt>
                <c:pt idx="2">
                  <c:v>39.25</c:v>
                </c:pt>
                <c:pt idx="3">
                  <c:v>39.35</c:v>
                </c:pt>
                <c:pt idx="4">
                  <c:v>39.54</c:v>
                </c:pt>
                <c:pt idx="5">
                  <c:v>41.38</c:v>
                </c:pt>
                <c:pt idx="6">
                  <c:v>39.46</c:v>
                </c:pt>
                <c:pt idx="7">
                  <c:v>40.92</c:v>
                </c:pt>
                <c:pt idx="8">
                  <c:v>42.65</c:v>
                </c:pt>
                <c:pt idx="9">
                  <c:v>44.3</c:v>
                </c:pt>
                <c:pt idx="10">
                  <c:v>43.3</c:v>
                </c:pt>
                <c:pt idx="11">
                  <c:v>46.24</c:v>
                </c:pt>
                <c:pt idx="12">
                  <c:v>47.02</c:v>
                </c:pt>
                <c:pt idx="13">
                  <c:v>44.21</c:v>
                </c:pt>
                <c:pt idx="14">
                  <c:v>49.79</c:v>
                </c:pt>
                <c:pt idx="15">
                  <c:v>48.72</c:v>
                </c:pt>
                <c:pt idx="16">
                  <c:v>35.52</c:v>
                </c:pt>
                <c:pt idx="17">
                  <c:v>50.33</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6350" cap="flat">
              <a:solidFill>
                <a:srgbClr val="E2E5EA"/>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4A556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4A556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4A5568"/>
                </a:solidFill>
                <a:latin typeface="+mn-lt"/>
              </a:defRPr>
            </a:pPr>
            <a:r>
              <a:rPr sz="1100" b="0" i="0" u="none" strike="noStrike">
                <a:solidFill>
                  <a:srgbClr val="4A5568"/>
                </a:solidFill>
                <a:latin typeface="+mn-lt"/>
              </a:rPr>
              <a:t>Yearly change in HHI by segment size, smallest (D1) to largest (D10)</a:t>
            </a:r>
          </a:p>
        </c:rich>
      </c:tx>
      <c:layout/>
      <c:overlay val="0"/>
    </c:title>
    <c:autoTitleDeleted val="0"/>
    <c:plotArea>
      <c:layout/>
      <c:barChart>
        <c:barDir val="col"/>
        <c:grouping val="clustered"/>
        <c:varyColors val="0"/>
        <c:ser>
          <c:idx val="0"/>
          <c:order val="0"/>
          <c:tx>
            <c:strRef>
              <c:f>Sheet1!$B$1</c:f>
              <c:strCache>
                <c:ptCount val="1"/>
                <c:pt idx="0">
                  <c:v>Median yearly change</c:v>
                </c:pt>
              </c:strCache>
            </c:strRef>
          </c:tx>
          <c:spPr>
            <a:solidFill>
              <a:srgbClr val="2E3A4D"/>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Sheet1!$A$2:$A$11</c:f>
              <c:multiLvlStrCache>
                <c:ptCount val="10"/>
                <c:lvl>
                  <c:pt idx="0">
                    <c:v>D1</c:v>
                  </c:pt>
                  <c:pt idx="1">
                    <c:v>D2</c:v>
                  </c:pt>
                  <c:pt idx="2">
                    <c:v>D3</c:v>
                  </c:pt>
                  <c:pt idx="3">
                    <c:v>D4</c:v>
                  </c:pt>
                  <c:pt idx="4">
                    <c:v>D5</c:v>
                  </c:pt>
                  <c:pt idx="5">
                    <c:v>D6</c:v>
                  </c:pt>
                  <c:pt idx="6">
                    <c:v>D7</c:v>
                  </c:pt>
                  <c:pt idx="7">
                    <c:v>D8</c:v>
                  </c:pt>
                  <c:pt idx="8">
                    <c:v>D9</c:v>
                  </c:pt>
                  <c:pt idx="9">
                    <c:v>D10</c:v>
                  </c:pt>
                </c:lvl>
              </c:multiLvlStrCache>
            </c:multiLvlStrRef>
          </c:cat>
          <c:val>
            <c:numRef>
              <c:f>Sheet1!$B$2:$B$11</c:f>
              <c:numCache>
                <c:formatCode>General</c:formatCode>
                <c:ptCount val="10"/>
                <c:pt idx="0">
                  <c:v>0</c:v>
                </c:pt>
                <c:pt idx="1">
                  <c:v>1396.9</c:v>
                </c:pt>
                <c:pt idx="2">
                  <c:v>1401.3</c:v>
                </c:pt>
                <c:pt idx="3">
                  <c:v>1235.8</c:v>
                </c:pt>
                <c:pt idx="4">
                  <c:v>1107.3</c:v>
                </c:pt>
                <c:pt idx="5">
                  <c:v>976.1</c:v>
                </c:pt>
                <c:pt idx="6">
                  <c:v>894.5</c:v>
                </c:pt>
                <c:pt idx="7">
                  <c:v>780</c:v>
                </c:pt>
                <c:pt idx="8">
                  <c:v>652.5</c:v>
                </c:pt>
                <c:pt idx="9">
                  <c:v>363.9</c:v>
                </c:pt>
              </c:numCache>
            </c:numRef>
          </c:val>
        </c:ser>
        <c:ser>
          <c:idx val="1"/>
          <c:order val="1"/>
          <c:tx>
            <c:strRef>
              <c:f>Sheet1!$C$1</c:f>
              <c:strCache>
                <c:ptCount val="1"/>
                <c:pt idx="0">
                  <c:v>90th percentile</c:v>
                </c:pt>
              </c:strCache>
            </c:strRef>
          </c:tx>
          <c:spPr>
            <a:solidFill>
              <a:srgbClr val="C9CED8"/>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Sheet1!$A$2:$A$11</c:f>
              <c:multiLvlStrCache>
                <c:ptCount val="10"/>
                <c:lvl>
                  <c:pt idx="0">
                    <c:v>D1</c:v>
                  </c:pt>
                  <c:pt idx="1">
                    <c:v>D2</c:v>
                  </c:pt>
                  <c:pt idx="2">
                    <c:v>D3</c:v>
                  </c:pt>
                  <c:pt idx="3">
                    <c:v>D4</c:v>
                  </c:pt>
                  <c:pt idx="4">
                    <c:v>D5</c:v>
                  </c:pt>
                  <c:pt idx="5">
                    <c:v>D6</c:v>
                  </c:pt>
                  <c:pt idx="6">
                    <c:v>D7</c:v>
                  </c:pt>
                  <c:pt idx="7">
                    <c:v>D8</c:v>
                  </c:pt>
                  <c:pt idx="8">
                    <c:v>D9</c:v>
                  </c:pt>
                  <c:pt idx="9">
                    <c:v>D10</c:v>
                  </c:pt>
                </c:lvl>
              </c:multiLvlStrCache>
            </c:multiLvlStrRef>
          </c:cat>
          <c:val>
            <c:numRef>
              <c:f>Sheet1!$C$2:$C$11</c:f>
              <c:numCache>
                <c:formatCode>General</c:formatCode>
                <c:ptCount val="10"/>
                <c:pt idx="0">
                  <c:v>4927.8</c:v>
                </c:pt>
                <c:pt idx="1">
                  <c:v>5376</c:v>
                </c:pt>
                <c:pt idx="2">
                  <c:v>4999.9</c:v>
                </c:pt>
                <c:pt idx="3">
                  <c:v>4799.6</c:v>
                </c:pt>
                <c:pt idx="4">
                  <c:v>4540.5</c:v>
                </c:pt>
                <c:pt idx="5">
                  <c:v>4388.3</c:v>
                </c:pt>
                <c:pt idx="6">
                  <c:v>4104.5</c:v>
                </c:pt>
                <c:pt idx="7">
                  <c:v>3862</c:v>
                </c:pt>
                <c:pt idx="8">
                  <c:v>3361.8</c:v>
                </c:pt>
                <c:pt idx="9">
                  <c:v>2384.3</c:v>
                </c:pt>
              </c:numCache>
            </c:numRef>
          </c:val>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gapWidth val="40"/>
        <c:overlap val="0"/>
        <c:axId val="2094734554"/>
        <c:axId val="2094734552"/>
        <c:axId val="2094734556"/>
      </c:barChart>
      <c:lineChart>
        <c:varyColors val="0"/>
        <c:ser>
          <c:idx val="2"/>
          <c:order val="2"/>
          <c:tx>
            <c:strRef>
              <c:f>Sheet1!$D$1</c:f>
              <c:strCache>
                <c:ptCount val="1"/>
                <c:pt idx="0">
                  <c:v>500-point cutoff</c:v>
                </c:pt>
              </c:strCache>
            </c:strRef>
          </c:tx>
          <c:spPr>
            <a:solidFill>
              <a:srgbClr val="C2410C"/>
            </a:solidFill>
            <a:ln w="25400" cap="flat">
              <a:solidFill>
                <a:srgbClr val="C2410C"/>
              </a:solidFill>
              <a:prstDash val="dash"/>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C2410C"/>
              </a:solidFill>
              <a:ln w="9525" cap="flat">
                <a:solidFill>
                  <a:srgbClr val="C2410C"/>
                </a:solidFill>
                <a:prstDash val="solid"/>
                <a:round/>
              </a:ln>
              <a:effectLst/>
            </c:spPr>
          </c:marker>
          <c:cat>
            <c:multiLvlStrRef>
              <c:f>Sheet1!$A$2:$A$11</c:f>
              <c:multiLvlStrCache>
                <c:ptCount val="10"/>
                <c:lvl>
                  <c:pt idx="0">
                    <c:v>D1</c:v>
                  </c:pt>
                  <c:pt idx="1">
                    <c:v>D2</c:v>
                  </c:pt>
                  <c:pt idx="2">
                    <c:v>D3</c:v>
                  </c:pt>
                  <c:pt idx="3">
                    <c:v>D4</c:v>
                  </c:pt>
                  <c:pt idx="4">
                    <c:v>D5</c:v>
                  </c:pt>
                  <c:pt idx="5">
                    <c:v>D6</c:v>
                  </c:pt>
                  <c:pt idx="6">
                    <c:v>D7</c:v>
                  </c:pt>
                  <c:pt idx="7">
                    <c:v>D8</c:v>
                  </c:pt>
                  <c:pt idx="8">
                    <c:v>D9</c:v>
                  </c:pt>
                  <c:pt idx="9">
                    <c:v>D10</c:v>
                  </c:pt>
                </c:lvl>
              </c:multiLvlStrCache>
            </c:multiLvlStrRef>
          </c:cat>
          <c:val>
            <c:numRef>
              <c:f>Sheet1!$D$2:$D$11</c:f>
              <c:numCache>
                <c:formatCode>General</c:formatCode>
                <c:ptCount val="10"/>
                <c:pt idx="0">
                  <c:v>500</c:v>
                </c:pt>
                <c:pt idx="1">
                  <c:v>500</c:v>
                </c:pt>
                <c:pt idx="2">
                  <c:v>500</c:v>
                </c:pt>
                <c:pt idx="3">
                  <c:v>500</c:v>
                </c:pt>
                <c:pt idx="4">
                  <c:v>500</c:v>
                </c:pt>
                <c:pt idx="5">
                  <c:v>500</c:v>
                </c:pt>
                <c:pt idx="6">
                  <c:v>500</c:v>
                </c:pt>
                <c:pt idx="7">
                  <c:v>500</c:v>
                </c:pt>
                <c:pt idx="8">
                  <c:v>500</c:v>
                </c:pt>
                <c:pt idx="9">
                  <c:v>500</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2E5EA"/>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4A556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4A5568"/>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asks a simple question: when the government buys something, does the money go to many companies or to a few? Today: the data, how we processed it, how we measure it, and what the first look shows for the civilian agencies.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Civilian agencies, everything except Defense, spent about 301 billion dollars on contracts in FY2025. Defense spent another 492 billion, but it buys from a handful of large weapons makers and already studies its own market, so we focus on the civilian side, where no such measure exists. Picture two markets with the same budget. On the left, five companies split it evenly. On the right, one company gets 80 percent. That second market is what we call concentrated.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downloaded the government's public archive: 18 yearly files and 88.8 million rows. Each row is one contract action. Here is a real one from July 2025: Veterans Affairs paid Optum, part of UnitedHealth Group, 857 million dollars for managed healthcare, and the contract was openly competed. Keep this one in mind: we come back to this market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analysing anything, we made sure the data is right. One: we checked every file against its checksum and locked it. Two: we converted the files to a fast format and proved the copy is exact, row by row, to the cent. Three: 62 quality checks on every row found the records that would distort the measure, such as a 13.9 billion dollar entry reversed the next year. Four: we built the analysis tables, and 116 checks confirm they add back to the original. Our yearly totals match GAO's official figures within 0.2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cut the spending into segments. A segment is one agency buying one kind of product in one year. For example: Veterans Affairs buying managed healthcare in FY2025. In that segment, 75 companies shared 22.8 billion dollars, and the largest got 98 percent. Each segment gets a score, the HHI, the standard antitrust measure. Square each company's percentage share and add them up. Five equal companies score 2,000. One company with 80 percent scores 6,500. One company with everything scores 10,000. Above 2,500 counts as highly concentrated. Our VA example scores 9,680, near the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turn 18 years of segments into one number per year, we add up the dollars in all segments scoring above 2,500 and divide by all civilian contract dollars. In FY2025 that is 152 billion of 301 billion, or 50 percent. In FY2008 it was 44 percent. It moved between 38 and 44 percent until FY2014, climbed to 53 percent in FY2022, and is at 50 percent now. Why the dip in FY2024? Mostly one Department of Energy segment: contractors operating its buildings and sites, about 17 billion dollars, scored below 2,500 that year. That one segment explains 15 of the 19 billion dollar drop. Also worth knowing: one in three civilian segments has a single company, but those are small purchases, only about 4.5 percent of the money. The concentrated money is in big markets.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agencies? This chart shows, for the six largest civilian agencies, how much of each one's money sits in highly concentrated segments, in FY2008 and FY2025. Veterans Affairs jumped from 33 to 76 percent, and it is the largest civilian buyer at 78 billion dollars. GSA doubled, from 17 to 36 percent. Energy, HHS and NASA went down. On the right, the three biggest concentrated civilian segments in FY2025 are all VA health care: managed healthcare, 22.8 billion, 98 percent to UnitedHealth Group. Drugs, 11.7 billion, 98 percent to McKesson. Government health insurance, 9.5 billion, all to TriWest. Together, 44 billion dollars where one company gets almost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VA managed healthcare market over time. The grey bars are the money, the orange line is the largest company's share. In FY2019 it was a small market: 389 million dollars, 167 companies, and the largest had 19 percent. Then it grew very fast. By FY2025 it was 22.8 billion dollars, and one company, UnitedHealth Group, had 98 percent. Remember the contract on the data slide: it was openly competed. So concentration is not the same as a lack of competition. Our data shows what happened, not why, and that is the kind of question the next phase will look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The data is solid: our copy is exact, it matches GAO, and product codes carry across the 18 years. Two cautions: one big contract can swing a single year, and when we test trend lines, many apparent rises happen by chance, so we need a rule that separates real rises from noise. Next we set that rule, link the product codes that changed, settle our data decisions with our sponsor, and then ask what the markets that became concentrated have in common.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context, Defense and civilian agencies have followed a similar path, both ending near 50 percent in FY2025.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civilian agencies, the growth is in services: their concentrated share rose from 37 to 48 percent while service spending more than doubled. Research is highly concentrated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proposed data decisions, under 1 percent of segments change band over 18 years. The trend only moves in FY2008 to FY2010. V8b needs flags from a pipeline step that is still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Old codes were almost never retired. New codes were added and some spending moved onto them, mostly construction in FY2012 and IT in FY2021. We will link those codes across the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 500-point cutoff, 38 percent of lines rise and 28 percent still rise with their years shuffled, so most apparent rises are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Sole-source share is stable at about a third of dollars. Two fields change coverage in FY2018, which matters for explaining concentration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F243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8046720" cy="1737360"/>
          </a:xfrm>
          <a:prstGeom prst="rect">
            <a:avLst/>
          </a:prstGeom>
          <a:noFill/>
          <a:ln/>
        </p:spPr>
        <p:txBody>
          <a:bodyPr wrap="square" rtlCol="0"/>
          <a:lstStyle>
            <a:lvl1pPr algn="l" indent="0" marL="0">
              <a:buNone/>
              <a:defRPr lang="en-US" sz="3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800" dirty="0"/>
          </a:p>
        </p:txBody>
      </p:sp>
      <p:sp>
        <p:nvSpPr>
          <p:cNvPr id="3" name="Text 0"/>
          <p:cNvSpPr/>
          <p:nvPr>
            <p:ph idx="101" type="body" hasCustomPrompt="1"/>
          </p:nvPr>
        </p:nvSpPr>
        <p:spPr>
          <a:xfrm>
            <a:off x="548640" y="3063240"/>
            <a:ext cx="8046720" cy="1005840"/>
          </a:xfrm>
          <a:prstGeom prst="rect">
            <a:avLst/>
          </a:prstGeom>
          <a:noFill/>
          <a:ln/>
        </p:spPr>
        <p:txBody>
          <a:bodyPr wrap="square" rtlCol="0"/>
          <a:lstStyle>
            <a:lvl1pPr algn="l" indent="0" marL="0">
              <a:buNone/>
              <a:defRPr lang="en-US" sz="1600" dirty="0">
                <a:solidFill>
                  <a:srgbClr val="D5DAE1"/>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rtlCol="0"/>
          <a:lstStyle>
            <a:lvl1pPr algn="l" indent="0" marL="0">
              <a:buNone/>
              <a:defRPr lang="en-US" sz="2600" b="1" dirty="0">
                <a:solidFill>
                  <a:srgbClr val="1F2430"/>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3" name="Text 0"/>
          <p:cNvSpPr/>
          <p:nvPr/>
        </p:nvSpPr>
        <p:spPr>
          <a:xfrm>
            <a:off x="457200" y="4828032"/>
            <a:ext cx="6858000" cy="201168"/>
          </a:xfrm>
          <a:prstGeom prst="rect">
            <a:avLst/>
          </a:prstGeom>
          <a:noFill/>
          <a:ln/>
        </p:spPr>
        <p:txBody>
          <a:bodyPr wrap="square" rtlCol="0" anchor="ctr"/>
          <a:lstStyle/>
          <a:p>
            <a:pPr indent="0" marL="0">
              <a:buNone/>
            </a:pPr>
            <a:r>
              <a:rPr lang="en-US" sz="900" dirty="0">
                <a:solidFill>
                  <a:srgbClr val="4A5568"/>
                </a:solidFill>
              </a:rPr>
              <a:t>Vendor concentration in federal contracting, FY2008 to FY2025  |  First look, October 2026</a:t>
            </a:r>
            <a:endParaRPr lang="en-US" sz="900" dirty="0"/>
          </a:p>
        </p:txBody>
      </p:sp>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ACKUP">
    <p:bg>
      <p:bgPr>
        <a:solidFill>
          <a:srgbClr val="EEF0F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rtlCol="0"/>
          <a:lstStyle>
            <a:lvl1pPr algn="l" indent="0" marL="0">
              <a:buNone/>
              <a:defRPr lang="en-US" sz="2200" b="1" dirty="0">
                <a:solidFill>
                  <a:srgbClr val="1F2430"/>
                </a:solidFill>
                <a:latin typeface="Cambria" pitchFamily="34" charset="0"/>
                <a:ea typeface="Cambria" pitchFamily="34" charset="-122"/>
                <a:cs typeface="Cambria" pitchFamily="34" charset="-120"/>
              </a:defRPr>
            </a:lvl1pPr>
          </a:lstStyle>
          <a:p>
            <a:pPr algn="l" indent="0" marL="0">
              <a:buNone/>
            </a:pPr>
            <a:endParaRPr lang="en-US" sz="2200" dirty="0"/>
          </a:p>
        </p:txBody>
      </p:sp>
      <p:sp>
        <p:nvSpPr>
          <p:cNvPr id="3" name="Text 0"/>
          <p:cNvSpPr/>
          <p:nvPr/>
        </p:nvSpPr>
        <p:spPr>
          <a:xfrm>
            <a:off x="457200" y="4828032"/>
            <a:ext cx="6858000" cy="201168"/>
          </a:xfrm>
          <a:prstGeom prst="rect">
            <a:avLst/>
          </a:prstGeom>
          <a:noFill/>
          <a:ln/>
        </p:spPr>
        <p:txBody>
          <a:bodyPr wrap="square" rtlCol="0" anchor="ctr"/>
          <a:lstStyle/>
          <a:p>
            <a:pPr indent="0" marL="0">
              <a:buNone/>
            </a:pPr>
            <a:r>
              <a:rPr lang="en-US" sz="900" dirty="0">
                <a:solidFill>
                  <a:srgbClr val="4A5568"/>
                </a:solidFill>
              </a:rPr>
              <a:t>Vendor concentration in federal contracting, FY2008 to FY2025  |  First look, October 2026</a:t>
            </a:r>
            <a:endParaRPr lang="en-US" sz="900" dirty="0"/>
          </a:p>
        </p:txBody>
      </p:sp>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8046720" cy="1737360"/>
          </a:xfrm>
          <a:prstGeom prst="rect">
            <a:avLst/>
          </a:prstGeom>
          <a:noFill/>
          <a:ln/>
        </p:spPr>
        <p:txBody>
          <a:bodyPr wrap="square" rtlCol="0" anchor="b"/>
          <a:lstStyle/>
          <a:p>
            <a:pPr algn="l" indent="0" marL="0">
              <a:buNone/>
            </a:pPr>
            <a:r>
              <a:rPr lang="en-US" sz="3800" b="1" dirty="0">
                <a:solidFill>
                  <a:srgbClr val="FFFFFF"/>
                </a:solidFill>
                <a:latin typeface="Cambria" pitchFamily="34" charset="0"/>
                <a:ea typeface="Cambria" pitchFamily="34" charset="-122"/>
                <a:cs typeface="Cambria" pitchFamily="34" charset="-120"/>
              </a:rPr>
              <a:t>Is federal contract money going to fewer companies?</a:t>
            </a:r>
            <a:endParaRPr lang="en-US" sz="3800" dirty="0"/>
          </a:p>
        </p:txBody>
      </p:sp>
      <p:sp>
        <p:nvSpPr>
          <p:cNvPr id="3" name="Text 0"/>
          <p:cNvSpPr/>
          <p:nvPr>
            <p:ph idx="101" type="body" hasCustomPrompt="1"/>
          </p:nvPr>
        </p:nvSpPr>
        <p:spPr>
          <a:xfrm>
            <a:off x="548640" y="3063240"/>
            <a:ext cx="8046720" cy="1005840"/>
          </a:xfrm>
          <a:prstGeom prst="rect">
            <a:avLst/>
          </a:prstGeom>
          <a:noFill/>
          <a:ln/>
        </p:spPr>
        <p:txBody>
          <a:bodyPr wrap="square" rtlCol="0" anchor="t"/>
          <a:lstStyle/>
          <a:p>
            <a:pPr algn="l" indent="0" marL="0">
              <a:buNone/>
            </a:pPr>
            <a:r>
              <a:rPr lang="en-US" sz="1600" dirty="0">
                <a:solidFill>
                  <a:srgbClr val="D5DAE1"/>
                </a:solidFill>
              </a:rPr>
              <a:t>A first look at the civilian agencies, FY2008 to FY2025</a:t>
            </a:r>
            <a:endParaRPr lang="en-US" sz="1600" dirty="0"/>
          </a:p>
          <a:p>
            <a:pPr algn="l" indent="0" marL="0">
              <a:buNone/>
            </a:pPr>
            <a:r>
              <a:rPr lang="en-US" sz="1600" dirty="0">
                <a:solidFill>
                  <a:srgbClr val="D5DAE1"/>
                </a:solidFill>
              </a:rPr>
              <a:t>Suchitra Hole, Shivram Nekkanti, Andy Hannah  |  October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rtlCol="0" anchor="ctr"/>
          <a:lstStyle/>
          <a:p>
            <a:pPr algn="l" indent="0" marL="0">
              <a:buNone/>
            </a:pPr>
            <a:r>
              <a:rPr lang="en-US" sz="2600" b="1" dirty="0">
                <a:solidFill>
                  <a:srgbClr val="1F2430"/>
                </a:solidFill>
                <a:latin typeface="Cambria" pitchFamily="34" charset="0"/>
                <a:ea typeface="Cambria" pitchFamily="34" charset="-122"/>
                <a:cs typeface="Cambria" pitchFamily="34" charset="-120"/>
              </a:rPr>
              <a:t>The question: many companies, or a few?</a:t>
            </a:r>
            <a:endParaRPr lang="en-US" sz="2600" dirty="0"/>
          </a:p>
        </p:txBody>
      </p:sp>
      <p:sp>
        <p:nvSpPr>
          <p:cNvPr id="4" name="spend value"/>
          <p:cNvSpPr txBox="1"/>
          <p:nvPr/>
        </p:nvSpPr>
        <p:spPr>
          <a:xfrm>
            <a:off x="457200" y="1005840"/>
            <a:ext cx="3383280" cy="566928"/>
          </a:xfrm>
          <a:prstGeom prst="rect">
            <a:avLst/>
          </a:prstGeom>
          <a:noFill/>
          <a:ln/>
        </p:spPr>
        <p:txBody>
          <a:bodyPr wrap="square" lIns="0" tIns="0" rIns="0" bIns="0" rtlCol="0" anchor="b"/>
          <a:lstStyle/>
          <a:p>
            <a:pPr indent="0" marL="0">
              <a:buNone/>
            </a:pPr>
            <a:r>
              <a:rPr lang="en-US" sz="4000" b="1" dirty="0">
                <a:solidFill>
                  <a:srgbClr val="C2410C"/>
                </a:solidFill>
                <a:latin typeface="Cambria" pitchFamily="34" charset="0"/>
                <a:ea typeface="Cambria" pitchFamily="34" charset="-122"/>
                <a:cs typeface="Cambria" pitchFamily="34" charset="-120"/>
              </a:rPr>
              <a:t>$301B</a:t>
            </a:r>
            <a:endParaRPr lang="en-US" sz="4000" dirty="0"/>
          </a:p>
        </p:txBody>
      </p:sp>
      <p:sp>
        <p:nvSpPr>
          <p:cNvPr id="5" name="spend label"/>
          <p:cNvSpPr txBox="1"/>
          <p:nvPr/>
        </p:nvSpPr>
        <p:spPr>
          <a:xfrm>
            <a:off x="457200" y="1609344"/>
            <a:ext cx="3383280" cy="457200"/>
          </a:xfrm>
          <a:prstGeom prst="rect">
            <a:avLst/>
          </a:prstGeom>
          <a:noFill/>
          <a:ln/>
        </p:spPr>
        <p:txBody>
          <a:bodyPr wrap="square" lIns="0" tIns="0" rIns="0" bIns="0" rtlCol="0" anchor="t"/>
          <a:lstStyle/>
          <a:p>
            <a:pPr indent="0" marL="0">
              <a:buNone/>
            </a:pPr>
            <a:r>
              <a:rPr lang="en-US" sz="1200" dirty="0">
                <a:solidFill>
                  <a:srgbClr val="4A5568"/>
                </a:solidFill>
              </a:rPr>
              <a:t>spent through civilian agency contracts in FY2025</a:t>
            </a:r>
            <a:endParaRPr lang="en-US" sz="1200" dirty="0"/>
          </a:p>
        </p:txBody>
      </p:sp>
      <p:sp>
        <p:nvSpPr>
          <p:cNvPr id="6" name="why civilian"/>
          <p:cNvSpPr txBox="1"/>
          <p:nvPr/>
        </p:nvSpPr>
        <p:spPr>
          <a:xfrm>
            <a:off x="457200" y="2240280"/>
            <a:ext cx="3383280" cy="914400"/>
          </a:xfrm>
          <a:prstGeom prst="rect">
            <a:avLst/>
          </a:prstGeom>
          <a:noFill/>
          <a:ln/>
        </p:spPr>
        <p:txBody>
          <a:bodyPr wrap="square" lIns="0" tIns="0" rIns="0" bIns="0" rtlCol="0" anchor="t"/>
          <a:lstStyle/>
          <a:p>
            <a:pPr indent="0" marL="0">
              <a:buNone/>
            </a:pPr>
            <a:r>
              <a:rPr lang="en-US" sz="1200" dirty="0">
                <a:solidFill>
                  <a:srgbClr val="4A5568"/>
                </a:solidFill>
              </a:rPr>
              <a:t>Defense spent another $492B. It buys from a handful of large prime contractors and studies its own market, so our focus is the civilian agencies.</a:t>
            </a:r>
            <a:endParaRPr lang="en-US" sz="1200" dirty="0"/>
          </a:p>
        </p:txBody>
      </p:sp>
      <p:sp>
        <p:nvSpPr>
          <p:cNvPr id="7" name="goal"/>
          <p:cNvSpPr txBox="1"/>
          <p:nvPr/>
        </p:nvSpPr>
        <p:spPr>
          <a:xfrm>
            <a:off x="457200" y="3200400"/>
            <a:ext cx="3383280" cy="868680"/>
          </a:xfrm>
          <a:prstGeom prst="rect">
            <a:avLst/>
          </a:prstGeom>
          <a:noFill/>
          <a:ln/>
        </p:spPr>
        <p:txBody>
          <a:bodyPr wrap="square" lIns="0" tIns="0" rIns="0" bIns="0" rtlCol="0" anchor="t"/>
          <a:lstStyle/>
          <a:p>
            <a:pPr indent="0" marL="0">
              <a:buNone/>
            </a:pPr>
            <a:r>
              <a:rPr lang="en-US" sz="1400" b="1" dirty="0">
                <a:solidFill>
                  <a:srgbClr val="1F2430"/>
                </a:solidFill>
              </a:rPr>
              <a:t>Our goal: for every civilian agency, product and year, measure whether the money is spread out or goes to a few companies.</a:t>
            </a:r>
            <a:endParaRPr lang="en-US" sz="1400" dirty="0"/>
          </a:p>
        </p:txBody>
      </p:sp>
      <p:sp>
        <p:nvSpPr>
          <p:cNvPr id="8" name="market 1 card"/>
          <p:cNvSpPr/>
          <p:nvPr/>
        </p:nvSpPr>
        <p:spPr>
          <a:xfrm>
            <a:off x="4160520" y="1051560"/>
            <a:ext cx="2148840" cy="2880360"/>
          </a:xfrm>
          <a:prstGeom prst="roundRect">
            <a:avLst>
              <a:gd name="adj" fmla="val 3404"/>
            </a:avLst>
          </a:prstGeom>
          <a:solidFill>
            <a:srgbClr val="EEF0F3"/>
          </a:solidFill>
          <a:ln/>
        </p:spPr>
      </p:sp>
      <p:sp>
        <p:nvSpPr>
          <p:cNvPr id="9" name="market 1 label"/>
          <p:cNvSpPr txBox="1"/>
          <p:nvPr/>
        </p:nvSpPr>
        <p:spPr>
          <a:xfrm>
            <a:off x="4251960" y="1188720"/>
            <a:ext cx="1965960" cy="274320"/>
          </a:xfrm>
          <a:prstGeom prst="rect">
            <a:avLst/>
          </a:prstGeom>
          <a:noFill/>
          <a:ln/>
        </p:spPr>
        <p:txBody>
          <a:bodyPr wrap="square" lIns="0" tIns="0" rIns="0" bIns="0" rtlCol="0" anchor="t"/>
          <a:lstStyle/>
          <a:p>
            <a:pPr algn="ctr" indent="0" marL="0">
              <a:buNone/>
            </a:pPr>
            <a:r>
              <a:rPr lang="en-US" sz="1300" b="1" dirty="0">
                <a:solidFill>
                  <a:srgbClr val="1F2430"/>
                </a:solidFill>
              </a:rPr>
              <a:t>Many share the money</a:t>
            </a:r>
            <a:endParaRPr lang="en-US" sz="1300" dirty="0"/>
          </a:p>
        </p:txBody>
      </p:sp>
      <p:sp>
        <p:nvSpPr>
          <p:cNvPr id="10" name="market 1 vendor 1"/>
          <p:cNvSpPr/>
          <p:nvPr/>
        </p:nvSpPr>
        <p:spPr>
          <a:xfrm>
            <a:off x="4544568" y="1600200"/>
            <a:ext cx="548640" cy="548640"/>
          </a:xfrm>
          <a:prstGeom prst="ellipse">
            <a:avLst/>
          </a:prstGeom>
          <a:solidFill>
            <a:srgbClr val="2E3A4D"/>
          </a:solidFill>
          <a:ln w="12700">
            <a:solidFill>
              <a:srgbClr val="EEF0F3"/>
            </a:solidFill>
            <a:prstDash val="solid"/>
          </a:ln>
        </p:spPr>
      </p:sp>
      <p:sp>
        <p:nvSpPr>
          <p:cNvPr id="11" name="market 1 share 1"/>
          <p:cNvSpPr txBox="1"/>
          <p:nvPr/>
        </p:nvSpPr>
        <p:spPr>
          <a:xfrm>
            <a:off x="4544568" y="1600200"/>
            <a:ext cx="548640" cy="548640"/>
          </a:xfrm>
          <a:prstGeom prst="rect">
            <a:avLst/>
          </a:prstGeom>
          <a:noFill/>
          <a:ln/>
        </p:spPr>
        <p:txBody>
          <a:bodyPr wrap="square" lIns="0" tIns="0" rIns="0" bIns="0" rtlCol="0" anchor="ctr"/>
          <a:lstStyle/>
          <a:p>
            <a:pPr algn="ctr" indent="0" marL="0">
              <a:buNone/>
            </a:pPr>
            <a:r>
              <a:rPr lang="en-US" sz="1200" b="1" dirty="0">
                <a:solidFill>
                  <a:srgbClr val="FFFFFF"/>
                </a:solidFill>
              </a:rPr>
              <a:t>20%</a:t>
            </a:r>
            <a:endParaRPr lang="en-US" sz="1200" dirty="0"/>
          </a:p>
        </p:txBody>
      </p:sp>
      <p:sp>
        <p:nvSpPr>
          <p:cNvPr id="12" name="market 1 vendor 2"/>
          <p:cNvSpPr/>
          <p:nvPr/>
        </p:nvSpPr>
        <p:spPr>
          <a:xfrm>
            <a:off x="5376672" y="1600200"/>
            <a:ext cx="548640" cy="548640"/>
          </a:xfrm>
          <a:prstGeom prst="ellipse">
            <a:avLst/>
          </a:prstGeom>
          <a:solidFill>
            <a:srgbClr val="2E3A4D"/>
          </a:solidFill>
          <a:ln w="12700">
            <a:solidFill>
              <a:srgbClr val="EEF0F3"/>
            </a:solidFill>
            <a:prstDash val="solid"/>
          </a:ln>
        </p:spPr>
      </p:sp>
      <p:sp>
        <p:nvSpPr>
          <p:cNvPr id="13" name="market 1 share 2"/>
          <p:cNvSpPr txBox="1"/>
          <p:nvPr/>
        </p:nvSpPr>
        <p:spPr>
          <a:xfrm>
            <a:off x="5376672" y="1600200"/>
            <a:ext cx="548640" cy="548640"/>
          </a:xfrm>
          <a:prstGeom prst="rect">
            <a:avLst/>
          </a:prstGeom>
          <a:noFill/>
          <a:ln/>
        </p:spPr>
        <p:txBody>
          <a:bodyPr wrap="square" lIns="0" tIns="0" rIns="0" bIns="0" rtlCol="0" anchor="ctr"/>
          <a:lstStyle/>
          <a:p>
            <a:pPr algn="ctr" indent="0" marL="0">
              <a:buNone/>
            </a:pPr>
            <a:r>
              <a:rPr lang="en-US" sz="1200" b="1" dirty="0">
                <a:solidFill>
                  <a:srgbClr val="FFFFFF"/>
                </a:solidFill>
              </a:rPr>
              <a:t>20%</a:t>
            </a:r>
            <a:endParaRPr lang="en-US" sz="1200" dirty="0"/>
          </a:p>
        </p:txBody>
      </p:sp>
      <p:sp>
        <p:nvSpPr>
          <p:cNvPr id="14" name="market 1 vendor 3"/>
          <p:cNvSpPr/>
          <p:nvPr/>
        </p:nvSpPr>
        <p:spPr>
          <a:xfrm>
            <a:off x="4544568" y="2212848"/>
            <a:ext cx="548640" cy="548640"/>
          </a:xfrm>
          <a:prstGeom prst="ellipse">
            <a:avLst/>
          </a:prstGeom>
          <a:solidFill>
            <a:srgbClr val="2E3A4D"/>
          </a:solidFill>
          <a:ln w="12700">
            <a:solidFill>
              <a:srgbClr val="EEF0F3"/>
            </a:solidFill>
            <a:prstDash val="solid"/>
          </a:ln>
        </p:spPr>
      </p:sp>
      <p:sp>
        <p:nvSpPr>
          <p:cNvPr id="15" name="market 1 share 3"/>
          <p:cNvSpPr txBox="1"/>
          <p:nvPr/>
        </p:nvSpPr>
        <p:spPr>
          <a:xfrm>
            <a:off x="4544568" y="2212848"/>
            <a:ext cx="548640" cy="548640"/>
          </a:xfrm>
          <a:prstGeom prst="rect">
            <a:avLst/>
          </a:prstGeom>
          <a:noFill/>
          <a:ln/>
        </p:spPr>
        <p:txBody>
          <a:bodyPr wrap="square" lIns="0" tIns="0" rIns="0" bIns="0" rtlCol="0" anchor="ctr"/>
          <a:lstStyle/>
          <a:p>
            <a:pPr algn="ctr" indent="0" marL="0">
              <a:buNone/>
            </a:pPr>
            <a:r>
              <a:rPr lang="en-US" sz="1200" b="1" dirty="0">
                <a:solidFill>
                  <a:srgbClr val="FFFFFF"/>
                </a:solidFill>
              </a:rPr>
              <a:t>20%</a:t>
            </a:r>
            <a:endParaRPr lang="en-US" sz="1200" dirty="0"/>
          </a:p>
        </p:txBody>
      </p:sp>
      <p:sp>
        <p:nvSpPr>
          <p:cNvPr id="16" name="market 1 vendor 4"/>
          <p:cNvSpPr/>
          <p:nvPr/>
        </p:nvSpPr>
        <p:spPr>
          <a:xfrm>
            <a:off x="5376672" y="2212848"/>
            <a:ext cx="548640" cy="548640"/>
          </a:xfrm>
          <a:prstGeom prst="ellipse">
            <a:avLst/>
          </a:prstGeom>
          <a:solidFill>
            <a:srgbClr val="2E3A4D"/>
          </a:solidFill>
          <a:ln w="12700">
            <a:solidFill>
              <a:srgbClr val="EEF0F3"/>
            </a:solidFill>
            <a:prstDash val="solid"/>
          </a:ln>
        </p:spPr>
      </p:sp>
      <p:sp>
        <p:nvSpPr>
          <p:cNvPr id="17" name="market 1 share 4"/>
          <p:cNvSpPr txBox="1"/>
          <p:nvPr/>
        </p:nvSpPr>
        <p:spPr>
          <a:xfrm>
            <a:off x="5376672" y="2212848"/>
            <a:ext cx="548640" cy="548640"/>
          </a:xfrm>
          <a:prstGeom prst="rect">
            <a:avLst/>
          </a:prstGeom>
          <a:noFill/>
          <a:ln/>
        </p:spPr>
        <p:txBody>
          <a:bodyPr wrap="square" lIns="0" tIns="0" rIns="0" bIns="0" rtlCol="0" anchor="ctr"/>
          <a:lstStyle/>
          <a:p>
            <a:pPr algn="ctr" indent="0" marL="0">
              <a:buNone/>
            </a:pPr>
            <a:r>
              <a:rPr lang="en-US" sz="1200" b="1" dirty="0">
                <a:solidFill>
                  <a:srgbClr val="FFFFFF"/>
                </a:solidFill>
              </a:rPr>
              <a:t>20%</a:t>
            </a:r>
            <a:endParaRPr lang="en-US" sz="1200" dirty="0"/>
          </a:p>
        </p:txBody>
      </p:sp>
      <p:sp>
        <p:nvSpPr>
          <p:cNvPr id="18" name="market 1 vendor 5"/>
          <p:cNvSpPr/>
          <p:nvPr/>
        </p:nvSpPr>
        <p:spPr>
          <a:xfrm>
            <a:off x="4960620" y="2825496"/>
            <a:ext cx="548640" cy="548640"/>
          </a:xfrm>
          <a:prstGeom prst="ellipse">
            <a:avLst/>
          </a:prstGeom>
          <a:solidFill>
            <a:srgbClr val="2E3A4D"/>
          </a:solidFill>
          <a:ln w="12700">
            <a:solidFill>
              <a:srgbClr val="EEF0F3"/>
            </a:solidFill>
            <a:prstDash val="solid"/>
          </a:ln>
        </p:spPr>
      </p:sp>
      <p:sp>
        <p:nvSpPr>
          <p:cNvPr id="19" name="market 1 share 5"/>
          <p:cNvSpPr txBox="1"/>
          <p:nvPr/>
        </p:nvSpPr>
        <p:spPr>
          <a:xfrm>
            <a:off x="4960620" y="2825496"/>
            <a:ext cx="548640" cy="548640"/>
          </a:xfrm>
          <a:prstGeom prst="rect">
            <a:avLst/>
          </a:prstGeom>
          <a:noFill/>
          <a:ln/>
        </p:spPr>
        <p:txBody>
          <a:bodyPr wrap="square" lIns="0" tIns="0" rIns="0" bIns="0" rtlCol="0" anchor="ctr"/>
          <a:lstStyle/>
          <a:p>
            <a:pPr algn="ctr" indent="0" marL="0">
              <a:buNone/>
            </a:pPr>
            <a:r>
              <a:rPr lang="en-US" sz="1200" b="1" dirty="0">
                <a:solidFill>
                  <a:srgbClr val="FFFFFF"/>
                </a:solidFill>
              </a:rPr>
              <a:t>20%</a:t>
            </a:r>
            <a:endParaRPr lang="en-US" sz="1200" dirty="0"/>
          </a:p>
        </p:txBody>
      </p:sp>
      <p:sp>
        <p:nvSpPr>
          <p:cNvPr id="20" name="market 1 score"/>
          <p:cNvSpPr txBox="1"/>
          <p:nvPr/>
        </p:nvSpPr>
        <p:spPr>
          <a:xfrm>
            <a:off x="4160520" y="3538728"/>
            <a:ext cx="2148840" cy="292608"/>
          </a:xfrm>
          <a:prstGeom prst="rect">
            <a:avLst/>
          </a:prstGeom>
          <a:noFill/>
          <a:ln/>
        </p:spPr>
        <p:txBody>
          <a:bodyPr wrap="square" lIns="0" tIns="0" rIns="0" bIns="0" rtlCol="0" anchor="t"/>
          <a:lstStyle/>
          <a:p>
            <a:pPr algn="ctr" indent="0" marL="0">
              <a:buNone/>
            </a:pPr>
            <a:r>
              <a:rPr lang="en-US" sz="1400" b="1" dirty="0">
                <a:solidFill>
                  <a:srgbClr val="2E3A4D"/>
                </a:solidFill>
              </a:rPr>
              <a:t>HHI 2,000</a:t>
            </a:r>
            <a:endParaRPr lang="en-US" sz="1400" dirty="0"/>
          </a:p>
        </p:txBody>
      </p:sp>
      <p:sp>
        <p:nvSpPr>
          <p:cNvPr id="21" name="market 2 card"/>
          <p:cNvSpPr/>
          <p:nvPr/>
        </p:nvSpPr>
        <p:spPr>
          <a:xfrm>
            <a:off x="6446520" y="1051560"/>
            <a:ext cx="2148840" cy="2880360"/>
          </a:xfrm>
          <a:prstGeom prst="roundRect">
            <a:avLst>
              <a:gd name="adj" fmla="val 3404"/>
            </a:avLst>
          </a:prstGeom>
          <a:solidFill>
            <a:srgbClr val="EEF0F3"/>
          </a:solidFill>
          <a:ln/>
        </p:spPr>
      </p:sp>
      <p:sp>
        <p:nvSpPr>
          <p:cNvPr id="22" name="market 2 label"/>
          <p:cNvSpPr txBox="1"/>
          <p:nvPr/>
        </p:nvSpPr>
        <p:spPr>
          <a:xfrm>
            <a:off x="6537960" y="1188720"/>
            <a:ext cx="1965960" cy="274320"/>
          </a:xfrm>
          <a:prstGeom prst="rect">
            <a:avLst/>
          </a:prstGeom>
          <a:noFill/>
          <a:ln/>
        </p:spPr>
        <p:txBody>
          <a:bodyPr wrap="square" lIns="0" tIns="0" rIns="0" bIns="0" rtlCol="0" anchor="t"/>
          <a:lstStyle/>
          <a:p>
            <a:pPr algn="ctr" indent="0" marL="0">
              <a:buNone/>
            </a:pPr>
            <a:r>
              <a:rPr lang="en-US" sz="1300" b="1" dirty="0">
                <a:solidFill>
                  <a:srgbClr val="1F2430"/>
                </a:solidFill>
              </a:rPr>
              <a:t>One wins most of it</a:t>
            </a:r>
            <a:endParaRPr lang="en-US" sz="1300" dirty="0"/>
          </a:p>
        </p:txBody>
      </p:sp>
      <p:sp>
        <p:nvSpPr>
          <p:cNvPr id="23" name="market 2 vendor 1"/>
          <p:cNvSpPr/>
          <p:nvPr/>
        </p:nvSpPr>
        <p:spPr>
          <a:xfrm>
            <a:off x="6611112" y="1737360"/>
            <a:ext cx="1325880" cy="1325880"/>
          </a:xfrm>
          <a:prstGeom prst="ellipse">
            <a:avLst/>
          </a:prstGeom>
          <a:solidFill>
            <a:srgbClr val="C2410C"/>
          </a:solidFill>
          <a:ln w="12700">
            <a:solidFill>
              <a:srgbClr val="EEF0F3"/>
            </a:solidFill>
            <a:prstDash val="solid"/>
          </a:ln>
        </p:spPr>
      </p:sp>
      <p:sp>
        <p:nvSpPr>
          <p:cNvPr id="24" name="market 2 share 1"/>
          <p:cNvSpPr txBox="1"/>
          <p:nvPr/>
        </p:nvSpPr>
        <p:spPr>
          <a:xfrm>
            <a:off x="6611112" y="1737360"/>
            <a:ext cx="1325880" cy="1325880"/>
          </a:xfrm>
          <a:prstGeom prst="rect">
            <a:avLst/>
          </a:prstGeom>
          <a:noFill/>
          <a:ln/>
        </p:spPr>
        <p:txBody>
          <a:bodyPr wrap="square" lIns="0" tIns="0" rIns="0" bIns="0" rtlCol="0" anchor="ctr"/>
          <a:lstStyle/>
          <a:p>
            <a:pPr algn="ctr" indent="0" marL="0">
              <a:buNone/>
            </a:pPr>
            <a:r>
              <a:rPr lang="en-US" sz="1200" b="1" dirty="0">
                <a:solidFill>
                  <a:srgbClr val="FFFFFF"/>
                </a:solidFill>
              </a:rPr>
              <a:t>80%</a:t>
            </a:r>
            <a:endParaRPr lang="en-US" sz="1200" dirty="0"/>
          </a:p>
        </p:txBody>
      </p:sp>
      <p:sp>
        <p:nvSpPr>
          <p:cNvPr id="25" name="market 2 vendor 2"/>
          <p:cNvSpPr/>
          <p:nvPr/>
        </p:nvSpPr>
        <p:spPr>
          <a:xfrm>
            <a:off x="8092440" y="1709928"/>
            <a:ext cx="292608" cy="292608"/>
          </a:xfrm>
          <a:prstGeom prst="ellipse">
            <a:avLst/>
          </a:prstGeom>
          <a:solidFill>
            <a:srgbClr val="8A94A6"/>
          </a:solidFill>
          <a:ln w="12700">
            <a:solidFill>
              <a:srgbClr val="EEF0F3"/>
            </a:solidFill>
            <a:prstDash val="solid"/>
          </a:ln>
        </p:spPr>
      </p:sp>
      <p:sp>
        <p:nvSpPr>
          <p:cNvPr id="26" name="market 2 vendor 3"/>
          <p:cNvSpPr/>
          <p:nvPr/>
        </p:nvSpPr>
        <p:spPr>
          <a:xfrm>
            <a:off x="8092440" y="2121408"/>
            <a:ext cx="292608" cy="292608"/>
          </a:xfrm>
          <a:prstGeom prst="ellipse">
            <a:avLst/>
          </a:prstGeom>
          <a:solidFill>
            <a:srgbClr val="8A94A6"/>
          </a:solidFill>
          <a:ln w="12700">
            <a:solidFill>
              <a:srgbClr val="EEF0F3"/>
            </a:solidFill>
            <a:prstDash val="solid"/>
          </a:ln>
        </p:spPr>
      </p:sp>
      <p:sp>
        <p:nvSpPr>
          <p:cNvPr id="27" name="market 2 vendor 4"/>
          <p:cNvSpPr/>
          <p:nvPr/>
        </p:nvSpPr>
        <p:spPr>
          <a:xfrm>
            <a:off x="8092440" y="2532888"/>
            <a:ext cx="292608" cy="292608"/>
          </a:xfrm>
          <a:prstGeom prst="ellipse">
            <a:avLst/>
          </a:prstGeom>
          <a:solidFill>
            <a:srgbClr val="8A94A6"/>
          </a:solidFill>
          <a:ln w="12700">
            <a:solidFill>
              <a:srgbClr val="EEF0F3"/>
            </a:solidFill>
            <a:prstDash val="solid"/>
          </a:ln>
        </p:spPr>
      </p:sp>
      <p:sp>
        <p:nvSpPr>
          <p:cNvPr id="28" name="market 2 vendor 5"/>
          <p:cNvSpPr/>
          <p:nvPr/>
        </p:nvSpPr>
        <p:spPr>
          <a:xfrm>
            <a:off x="8092440" y="2944368"/>
            <a:ext cx="292608" cy="292608"/>
          </a:xfrm>
          <a:prstGeom prst="ellipse">
            <a:avLst/>
          </a:prstGeom>
          <a:solidFill>
            <a:srgbClr val="8A94A6"/>
          </a:solidFill>
          <a:ln w="12700">
            <a:solidFill>
              <a:srgbClr val="EEF0F3"/>
            </a:solidFill>
            <a:prstDash val="solid"/>
          </a:ln>
        </p:spPr>
      </p:sp>
      <p:sp>
        <p:nvSpPr>
          <p:cNvPr id="29" name="market 2 score"/>
          <p:cNvSpPr txBox="1"/>
          <p:nvPr/>
        </p:nvSpPr>
        <p:spPr>
          <a:xfrm>
            <a:off x="6446520" y="3538728"/>
            <a:ext cx="2148840" cy="292608"/>
          </a:xfrm>
          <a:prstGeom prst="rect">
            <a:avLst/>
          </a:prstGeom>
          <a:noFill/>
          <a:ln/>
        </p:spPr>
        <p:txBody>
          <a:bodyPr wrap="square" lIns="0" tIns="0" rIns="0" bIns="0" rtlCol="0" anchor="t"/>
          <a:lstStyle/>
          <a:p>
            <a:pPr algn="ctr" indent="0" marL="0">
              <a:buNone/>
            </a:pPr>
            <a:r>
              <a:rPr lang="en-US" sz="1400" b="1" dirty="0">
                <a:solidFill>
                  <a:srgbClr val="C2410C"/>
                </a:solidFill>
              </a:rPr>
              <a:t>HHI 6,500</a:t>
            </a:r>
            <a:endParaRPr lang="en-US" sz="1400" dirty="0"/>
          </a:p>
        </p:txBody>
      </p:sp>
      <p:sp>
        <p:nvSpPr>
          <p:cNvPr id="30" name="takeaway box"/>
          <p:cNvSpPr/>
          <p:nvPr/>
        </p:nvSpPr>
        <p:spPr>
          <a:xfrm>
            <a:off x="457200" y="4160520"/>
            <a:ext cx="8229600" cy="566928"/>
          </a:xfrm>
          <a:prstGeom prst="roundRect">
            <a:avLst>
              <a:gd name="adj" fmla="val 12903"/>
            </a:avLst>
          </a:prstGeom>
          <a:solidFill>
            <a:srgbClr val="EEF0F3"/>
          </a:solidFill>
          <a:ln/>
        </p:spPr>
      </p:sp>
      <p:sp>
        <p:nvSpPr>
          <p:cNvPr id="31" name="takeaway"/>
          <p:cNvSpPr txBox="1"/>
          <p:nvPr/>
        </p:nvSpPr>
        <p:spPr>
          <a:xfrm>
            <a:off x="640080" y="4160520"/>
            <a:ext cx="7863840" cy="566928"/>
          </a:xfrm>
          <a:prstGeom prst="rect">
            <a:avLst/>
          </a:prstGeom>
          <a:noFill/>
          <a:ln/>
        </p:spPr>
        <p:txBody>
          <a:bodyPr wrap="square" lIns="0" tIns="0" rIns="0" bIns="0" rtlCol="0" anchor="ctr"/>
          <a:lstStyle/>
          <a:p>
            <a:pPr indent="0" marL="0">
              <a:buNone/>
            </a:pPr>
            <a:r>
              <a:rPr lang="en-US" sz="1400" b="1" dirty="0">
                <a:solidFill>
                  <a:srgbClr val="C2410C"/>
                </a:solidFill>
              </a:rPr>
              <a:t>What this means   </a:t>
            </a:r>
            <a:pPr indent="0" marL="0">
              <a:buNone/>
            </a:pPr>
            <a:r>
              <a:rPr lang="en-US" sz="1400" dirty="0">
                <a:solidFill>
                  <a:srgbClr val="1F2430"/>
                </a:solidFill>
              </a:rPr>
              <a:t>When a few companies win most of an agency's money, the government has less choice and less price pressure. A high score is not wrongdoing: some work only one firm can do.</a:t>
            </a:r>
            <a:endParaRPr lang="en-US" sz="1400" dirty="0"/>
          </a:p>
        </p:txBody>
      </p:sp>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rtlCol="0" anchor="ctr"/>
          <a:lstStyle/>
          <a:p>
            <a:pPr algn="l" indent="0" marL="0">
              <a:buNone/>
            </a:pPr>
            <a:r>
              <a:rPr lang="en-US" sz="2600" b="1" dirty="0">
                <a:solidFill>
                  <a:srgbClr val="1F2430"/>
                </a:solidFill>
                <a:latin typeface="Cambria" pitchFamily="34" charset="0"/>
                <a:ea typeface="Cambria" pitchFamily="34" charset="-122"/>
                <a:cs typeface="Cambria" pitchFamily="34" charset="-120"/>
              </a:rPr>
              <a:t>The data: every federal contract action since FY2008</a:t>
            </a:r>
            <a:endParaRPr lang="en-US" sz="2600" dirty="0"/>
          </a:p>
        </p:txBody>
      </p:sp>
      <p:sp>
        <p:nvSpPr>
          <p:cNvPr id="4" name="data stat 1 value"/>
          <p:cNvSpPr txBox="1"/>
          <p:nvPr/>
        </p:nvSpPr>
        <p:spPr>
          <a:xfrm>
            <a:off x="457200" y="960120"/>
            <a:ext cx="1828800" cy="566928"/>
          </a:xfrm>
          <a:prstGeom prst="rect">
            <a:avLst/>
          </a:prstGeom>
          <a:noFill/>
          <a:ln/>
        </p:spPr>
        <p:txBody>
          <a:bodyPr wrap="square" lIns="0" tIns="0" rIns="0" bIns="0" rtlCol="0" anchor="b"/>
          <a:lstStyle/>
          <a:p>
            <a:pPr indent="0" marL="0">
              <a:buNone/>
            </a:pPr>
            <a:r>
              <a:rPr lang="en-US" sz="3000" b="1" dirty="0">
                <a:solidFill>
                  <a:srgbClr val="2E3A4D"/>
                </a:solidFill>
                <a:latin typeface="Cambria" pitchFamily="34" charset="0"/>
                <a:ea typeface="Cambria" pitchFamily="34" charset="-122"/>
                <a:cs typeface="Cambria" pitchFamily="34" charset="-120"/>
              </a:rPr>
              <a:t>18</a:t>
            </a:r>
            <a:endParaRPr lang="en-US" sz="3000" dirty="0"/>
          </a:p>
        </p:txBody>
      </p:sp>
      <p:sp>
        <p:nvSpPr>
          <p:cNvPr id="5" name="data stat 1 label"/>
          <p:cNvSpPr txBox="1"/>
          <p:nvPr/>
        </p:nvSpPr>
        <p:spPr>
          <a:xfrm>
            <a:off x="457200" y="1563624"/>
            <a:ext cx="1828800" cy="457200"/>
          </a:xfrm>
          <a:prstGeom prst="rect">
            <a:avLst/>
          </a:prstGeom>
          <a:noFill/>
          <a:ln/>
        </p:spPr>
        <p:txBody>
          <a:bodyPr wrap="square" lIns="0" tIns="0" rIns="0" bIns="0" rtlCol="0" anchor="t"/>
          <a:lstStyle/>
          <a:p>
            <a:pPr indent="0" marL="0">
              <a:buNone/>
            </a:pPr>
            <a:r>
              <a:rPr lang="en-US" sz="1200" dirty="0">
                <a:solidFill>
                  <a:srgbClr val="4A5568"/>
                </a:solidFill>
              </a:rPr>
              <a:t>yearly files, FY2008 to FY2025</a:t>
            </a:r>
            <a:endParaRPr lang="en-US" sz="1200" dirty="0"/>
          </a:p>
        </p:txBody>
      </p:sp>
      <p:sp>
        <p:nvSpPr>
          <p:cNvPr id="6" name="data stat 2 value"/>
          <p:cNvSpPr txBox="1"/>
          <p:nvPr/>
        </p:nvSpPr>
        <p:spPr>
          <a:xfrm>
            <a:off x="2423160" y="960120"/>
            <a:ext cx="1828800" cy="566928"/>
          </a:xfrm>
          <a:prstGeom prst="rect">
            <a:avLst/>
          </a:prstGeom>
          <a:noFill/>
          <a:ln/>
        </p:spPr>
        <p:txBody>
          <a:bodyPr wrap="square" lIns="0" tIns="0" rIns="0" bIns="0" rtlCol="0" anchor="b"/>
          <a:lstStyle/>
          <a:p>
            <a:pPr indent="0" marL="0">
              <a:buNone/>
            </a:pPr>
            <a:r>
              <a:rPr lang="en-US" sz="3000" b="1" dirty="0">
                <a:solidFill>
                  <a:srgbClr val="C2410C"/>
                </a:solidFill>
                <a:latin typeface="Cambria" pitchFamily="34" charset="0"/>
                <a:ea typeface="Cambria" pitchFamily="34" charset="-122"/>
                <a:cs typeface="Cambria" pitchFamily="34" charset="-120"/>
              </a:rPr>
              <a:t>88.8M</a:t>
            </a:r>
            <a:endParaRPr lang="en-US" sz="3000" dirty="0"/>
          </a:p>
        </p:txBody>
      </p:sp>
      <p:sp>
        <p:nvSpPr>
          <p:cNvPr id="7" name="data stat 2 label"/>
          <p:cNvSpPr txBox="1"/>
          <p:nvPr/>
        </p:nvSpPr>
        <p:spPr>
          <a:xfrm>
            <a:off x="2423160" y="1563624"/>
            <a:ext cx="1828800" cy="457200"/>
          </a:xfrm>
          <a:prstGeom prst="rect">
            <a:avLst/>
          </a:prstGeom>
          <a:noFill/>
          <a:ln/>
        </p:spPr>
        <p:txBody>
          <a:bodyPr wrap="square" lIns="0" tIns="0" rIns="0" bIns="0" rtlCol="0" anchor="t"/>
          <a:lstStyle/>
          <a:p>
            <a:pPr indent="0" marL="0">
              <a:buNone/>
            </a:pPr>
            <a:r>
              <a:rPr lang="en-US" sz="1200" dirty="0">
                <a:solidFill>
                  <a:srgbClr val="4A5568"/>
                </a:solidFill>
              </a:rPr>
              <a:t>contract actions (rows)</a:t>
            </a:r>
            <a:endParaRPr lang="en-US" sz="1200" dirty="0"/>
          </a:p>
        </p:txBody>
      </p:sp>
      <p:sp>
        <p:nvSpPr>
          <p:cNvPr id="8" name="data stat 3 value"/>
          <p:cNvSpPr txBox="1"/>
          <p:nvPr/>
        </p:nvSpPr>
        <p:spPr>
          <a:xfrm>
            <a:off x="457200" y="2240280"/>
            <a:ext cx="1828800" cy="566928"/>
          </a:xfrm>
          <a:prstGeom prst="rect">
            <a:avLst/>
          </a:prstGeom>
          <a:noFill/>
          <a:ln/>
        </p:spPr>
        <p:txBody>
          <a:bodyPr wrap="square" lIns="0" tIns="0" rIns="0" bIns="0" rtlCol="0" anchor="b"/>
          <a:lstStyle/>
          <a:p>
            <a:pPr indent="0" marL="0">
              <a:buNone/>
            </a:pPr>
            <a:r>
              <a:rPr lang="en-US" sz="3000" b="1" dirty="0">
                <a:solidFill>
                  <a:srgbClr val="2E3A4D"/>
                </a:solidFill>
                <a:latin typeface="Cambria" pitchFamily="34" charset="0"/>
                <a:ea typeface="Cambria" pitchFamily="34" charset="-122"/>
                <a:cs typeface="Cambria" pitchFamily="34" charset="-120"/>
              </a:rPr>
              <a:t>27 GB</a:t>
            </a:r>
            <a:endParaRPr lang="en-US" sz="3000" dirty="0"/>
          </a:p>
        </p:txBody>
      </p:sp>
      <p:sp>
        <p:nvSpPr>
          <p:cNvPr id="9" name="data stat 3 label"/>
          <p:cNvSpPr txBox="1"/>
          <p:nvPr/>
        </p:nvSpPr>
        <p:spPr>
          <a:xfrm>
            <a:off x="457200" y="2843784"/>
            <a:ext cx="1828800" cy="457200"/>
          </a:xfrm>
          <a:prstGeom prst="rect">
            <a:avLst/>
          </a:prstGeom>
          <a:noFill/>
          <a:ln/>
        </p:spPr>
        <p:txBody>
          <a:bodyPr wrap="square" lIns="0" tIns="0" rIns="0" bIns="0" rtlCol="0" anchor="t"/>
          <a:lstStyle/>
          <a:p>
            <a:pPr indent="0" marL="0">
              <a:buNone/>
            </a:pPr>
            <a:r>
              <a:rPr lang="en-US" sz="1200" dirty="0">
                <a:solidFill>
                  <a:srgbClr val="4A5568"/>
                </a:solidFill>
              </a:rPr>
              <a:t>zipped, 184 GB once unzipped</a:t>
            </a:r>
            <a:endParaRPr lang="en-US" sz="1200" dirty="0"/>
          </a:p>
        </p:txBody>
      </p:sp>
      <p:sp>
        <p:nvSpPr>
          <p:cNvPr id="10" name="data stat 4 value"/>
          <p:cNvSpPr txBox="1"/>
          <p:nvPr/>
        </p:nvSpPr>
        <p:spPr>
          <a:xfrm>
            <a:off x="2423160" y="2240280"/>
            <a:ext cx="1828800" cy="566928"/>
          </a:xfrm>
          <a:prstGeom prst="rect">
            <a:avLst/>
          </a:prstGeom>
          <a:noFill/>
          <a:ln/>
        </p:spPr>
        <p:txBody>
          <a:bodyPr wrap="square" lIns="0" tIns="0" rIns="0" bIns="0" rtlCol="0" anchor="b"/>
          <a:lstStyle/>
          <a:p>
            <a:pPr indent="0" marL="0">
              <a:buNone/>
            </a:pPr>
            <a:r>
              <a:rPr lang="en-US" sz="3000" b="1" dirty="0">
                <a:solidFill>
                  <a:srgbClr val="2E3A4D"/>
                </a:solidFill>
                <a:latin typeface="Cambria" pitchFamily="34" charset="0"/>
                <a:ea typeface="Cambria" pitchFamily="34" charset="-122"/>
                <a:cs typeface="Cambria" pitchFamily="34" charset="-120"/>
              </a:rPr>
              <a:t>$10.5T</a:t>
            </a:r>
            <a:endParaRPr lang="en-US" sz="3000" dirty="0"/>
          </a:p>
        </p:txBody>
      </p:sp>
      <p:sp>
        <p:nvSpPr>
          <p:cNvPr id="11" name="data stat 4 label"/>
          <p:cNvSpPr txBox="1"/>
          <p:nvPr/>
        </p:nvSpPr>
        <p:spPr>
          <a:xfrm>
            <a:off x="2423160" y="2843784"/>
            <a:ext cx="1828800" cy="457200"/>
          </a:xfrm>
          <a:prstGeom prst="rect">
            <a:avLst/>
          </a:prstGeom>
          <a:noFill/>
          <a:ln/>
        </p:spPr>
        <p:txBody>
          <a:bodyPr wrap="square" lIns="0" tIns="0" rIns="0" bIns="0" rtlCol="0" anchor="t"/>
          <a:lstStyle/>
          <a:p>
            <a:pPr indent="0" marL="0">
              <a:buNone/>
            </a:pPr>
            <a:r>
              <a:rPr lang="en-US" sz="1200" dirty="0">
                <a:solidFill>
                  <a:srgbClr val="4A5568"/>
                </a:solidFill>
              </a:rPr>
              <a:t>obligated over the 18 years</a:t>
            </a:r>
            <a:endParaRPr lang="en-US" sz="1200" dirty="0"/>
          </a:p>
        </p:txBody>
      </p:sp>
      <p:sp>
        <p:nvSpPr>
          <p:cNvPr id="12" name="source"/>
          <p:cNvSpPr txBox="1"/>
          <p:nvPr/>
        </p:nvSpPr>
        <p:spPr>
          <a:xfrm>
            <a:off x="457200" y="3611880"/>
            <a:ext cx="3749040" cy="457200"/>
          </a:xfrm>
          <a:prstGeom prst="rect">
            <a:avLst/>
          </a:prstGeom>
          <a:noFill/>
          <a:ln/>
        </p:spPr>
        <p:txBody>
          <a:bodyPr wrap="square" lIns="0" tIns="0" rIns="0" bIns="0" rtlCol="0" anchor="t"/>
          <a:lstStyle/>
          <a:p>
            <a:pPr indent="0" marL="0">
              <a:buNone/>
            </a:pPr>
            <a:r>
              <a:rPr lang="en-US" sz="1100" i="1" dirty="0">
                <a:solidFill>
                  <a:srgbClr val="4A5568"/>
                </a:solidFill>
              </a:rPr>
              <a:t>Source: USAspending.gov Award Data Archive, contracts, all agencies, release of 2026-09-06.</a:t>
            </a:r>
            <a:endParaRPr lang="en-US" sz="1100" dirty="0"/>
          </a:p>
        </p:txBody>
      </p:sp>
      <p:sp>
        <p:nvSpPr>
          <p:cNvPr id="13" name="row card"/>
          <p:cNvSpPr/>
          <p:nvPr/>
        </p:nvSpPr>
        <p:spPr>
          <a:xfrm>
            <a:off x="4434840" y="1005840"/>
            <a:ext cx="4251960" cy="3017520"/>
          </a:xfrm>
          <a:prstGeom prst="roundRect">
            <a:avLst>
              <a:gd name="adj" fmla="val 2424"/>
            </a:avLst>
          </a:prstGeom>
          <a:solidFill>
            <a:srgbClr val="EEF0F3"/>
          </a:solidFill>
          <a:ln/>
        </p:spPr>
      </p:sp>
      <p:sp>
        <p:nvSpPr>
          <p:cNvPr id="14" name="row card heading"/>
          <p:cNvSpPr txBox="1"/>
          <p:nvPr/>
        </p:nvSpPr>
        <p:spPr>
          <a:xfrm>
            <a:off x="4617720" y="1124712"/>
            <a:ext cx="3886200" cy="292608"/>
          </a:xfrm>
          <a:prstGeom prst="rect">
            <a:avLst/>
          </a:prstGeom>
          <a:noFill/>
          <a:ln/>
        </p:spPr>
        <p:txBody>
          <a:bodyPr wrap="square" lIns="0" tIns="0" rIns="0" bIns="0" rtlCol="0" anchor="t"/>
          <a:lstStyle/>
          <a:p>
            <a:pPr indent="0" marL="0">
              <a:buNone/>
            </a:pPr>
            <a:r>
              <a:rPr lang="en-US" sz="1300" b="1" dirty="0">
                <a:solidFill>
                  <a:srgbClr val="1F2430"/>
                </a:solidFill>
              </a:rPr>
              <a:t>One row = one contract action. A real one:</a:t>
            </a:r>
            <a:endParaRPr lang="en-US" sz="1300" dirty="0"/>
          </a:p>
        </p:txBody>
      </p:sp>
      <p:sp>
        <p:nvSpPr>
          <p:cNvPr id="15" name="field 1 name"/>
          <p:cNvSpPr txBox="1"/>
          <p:nvPr/>
        </p:nvSpPr>
        <p:spPr>
          <a:xfrm>
            <a:off x="4617720" y="1508760"/>
            <a:ext cx="1097280" cy="365760"/>
          </a:xfrm>
          <a:prstGeom prst="rect">
            <a:avLst/>
          </a:prstGeom>
          <a:noFill/>
          <a:ln/>
        </p:spPr>
        <p:txBody>
          <a:bodyPr wrap="square" lIns="0" tIns="0" rIns="0" bIns="0" rtlCol="0" anchor="ctr"/>
          <a:lstStyle/>
          <a:p>
            <a:pPr indent="0" marL="0">
              <a:buNone/>
            </a:pPr>
            <a:r>
              <a:rPr lang="en-US" sz="1200" dirty="0">
                <a:solidFill>
                  <a:srgbClr val="4A5568"/>
                </a:solidFill>
              </a:rPr>
              <a:t>When</a:t>
            </a:r>
            <a:endParaRPr lang="en-US" sz="1200" dirty="0"/>
          </a:p>
        </p:txBody>
      </p:sp>
      <p:sp>
        <p:nvSpPr>
          <p:cNvPr id="16" name="field 1 value"/>
          <p:cNvSpPr txBox="1"/>
          <p:nvPr/>
        </p:nvSpPr>
        <p:spPr>
          <a:xfrm>
            <a:off x="5715000" y="1508760"/>
            <a:ext cx="2788920" cy="365760"/>
          </a:xfrm>
          <a:prstGeom prst="rect">
            <a:avLst/>
          </a:prstGeom>
          <a:noFill/>
          <a:ln/>
        </p:spPr>
        <p:txBody>
          <a:bodyPr wrap="square" lIns="0" tIns="0" rIns="0" bIns="0" rtlCol="0" anchor="ctr"/>
          <a:lstStyle/>
          <a:p>
            <a:pPr indent="0" marL="0">
              <a:buNone/>
            </a:pPr>
            <a:r>
              <a:rPr lang="en-US" sz="1300" dirty="0">
                <a:solidFill>
                  <a:srgbClr val="1F2430"/>
                </a:solidFill>
              </a:rPr>
              <a:t>2025-07-31</a:t>
            </a:r>
            <a:endParaRPr lang="en-US" sz="1300" dirty="0"/>
          </a:p>
        </p:txBody>
      </p:sp>
      <p:sp>
        <p:nvSpPr>
          <p:cNvPr id="17" name="field 2 name"/>
          <p:cNvSpPr txBox="1"/>
          <p:nvPr/>
        </p:nvSpPr>
        <p:spPr>
          <a:xfrm>
            <a:off x="4617720" y="1911096"/>
            <a:ext cx="1097280" cy="365760"/>
          </a:xfrm>
          <a:prstGeom prst="rect">
            <a:avLst/>
          </a:prstGeom>
          <a:noFill/>
          <a:ln/>
        </p:spPr>
        <p:txBody>
          <a:bodyPr wrap="square" lIns="0" tIns="0" rIns="0" bIns="0" rtlCol="0" anchor="ctr"/>
          <a:lstStyle/>
          <a:p>
            <a:pPr indent="0" marL="0">
              <a:buNone/>
            </a:pPr>
            <a:r>
              <a:rPr lang="en-US" sz="1200" dirty="0">
                <a:solidFill>
                  <a:srgbClr val="4A5568"/>
                </a:solidFill>
              </a:rPr>
              <a:t>Who bought</a:t>
            </a:r>
            <a:endParaRPr lang="en-US" sz="1200" dirty="0"/>
          </a:p>
        </p:txBody>
      </p:sp>
      <p:sp>
        <p:nvSpPr>
          <p:cNvPr id="18" name="field 2 value"/>
          <p:cNvSpPr txBox="1"/>
          <p:nvPr/>
        </p:nvSpPr>
        <p:spPr>
          <a:xfrm>
            <a:off x="5715000" y="1911096"/>
            <a:ext cx="2788920" cy="365760"/>
          </a:xfrm>
          <a:prstGeom prst="rect">
            <a:avLst/>
          </a:prstGeom>
          <a:noFill/>
          <a:ln/>
        </p:spPr>
        <p:txBody>
          <a:bodyPr wrap="square" lIns="0" tIns="0" rIns="0" bIns="0" rtlCol="0" anchor="ctr"/>
          <a:lstStyle/>
          <a:p>
            <a:pPr indent="0" marL="0">
              <a:buNone/>
            </a:pPr>
            <a:r>
              <a:rPr lang="en-US" sz="1300" dirty="0">
                <a:solidFill>
                  <a:srgbClr val="1F2430"/>
                </a:solidFill>
              </a:rPr>
              <a:t>Department of Veterans Affairs</a:t>
            </a:r>
            <a:endParaRPr lang="en-US" sz="1300" dirty="0"/>
          </a:p>
        </p:txBody>
      </p:sp>
      <p:sp>
        <p:nvSpPr>
          <p:cNvPr id="19" name="field 3 name"/>
          <p:cNvSpPr txBox="1"/>
          <p:nvPr/>
        </p:nvSpPr>
        <p:spPr>
          <a:xfrm>
            <a:off x="4617720" y="2313432"/>
            <a:ext cx="1097280" cy="365760"/>
          </a:xfrm>
          <a:prstGeom prst="rect">
            <a:avLst/>
          </a:prstGeom>
          <a:noFill/>
          <a:ln/>
        </p:spPr>
        <p:txBody>
          <a:bodyPr wrap="square" lIns="0" tIns="0" rIns="0" bIns="0" rtlCol="0" anchor="ctr"/>
          <a:lstStyle/>
          <a:p>
            <a:pPr indent="0" marL="0">
              <a:buNone/>
            </a:pPr>
            <a:r>
              <a:rPr lang="en-US" sz="1200" dirty="0">
                <a:solidFill>
                  <a:srgbClr val="4A5568"/>
                </a:solidFill>
              </a:rPr>
              <a:t>What</a:t>
            </a:r>
            <a:endParaRPr lang="en-US" sz="1200" dirty="0"/>
          </a:p>
        </p:txBody>
      </p:sp>
      <p:sp>
        <p:nvSpPr>
          <p:cNvPr id="20" name="field 3 value"/>
          <p:cNvSpPr txBox="1"/>
          <p:nvPr/>
        </p:nvSpPr>
        <p:spPr>
          <a:xfrm>
            <a:off x="5715000" y="2313432"/>
            <a:ext cx="2788920" cy="365760"/>
          </a:xfrm>
          <a:prstGeom prst="rect">
            <a:avLst/>
          </a:prstGeom>
          <a:noFill/>
          <a:ln/>
        </p:spPr>
        <p:txBody>
          <a:bodyPr wrap="square" lIns="0" tIns="0" rIns="0" bIns="0" rtlCol="0" anchor="ctr"/>
          <a:lstStyle/>
          <a:p>
            <a:pPr indent="0" marL="0">
              <a:buNone/>
            </a:pPr>
            <a:r>
              <a:rPr lang="en-US" sz="1300" dirty="0">
                <a:solidFill>
                  <a:srgbClr val="1F2430"/>
                </a:solidFill>
              </a:rPr>
              <a:t>Q201  Managed healthcare</a:t>
            </a:r>
            <a:endParaRPr lang="en-US" sz="1300" dirty="0"/>
          </a:p>
        </p:txBody>
      </p:sp>
      <p:sp>
        <p:nvSpPr>
          <p:cNvPr id="21" name="field 4 name"/>
          <p:cNvSpPr txBox="1"/>
          <p:nvPr/>
        </p:nvSpPr>
        <p:spPr>
          <a:xfrm>
            <a:off x="4617720" y="2715768"/>
            <a:ext cx="1097280" cy="365760"/>
          </a:xfrm>
          <a:prstGeom prst="rect">
            <a:avLst/>
          </a:prstGeom>
          <a:noFill/>
          <a:ln/>
        </p:spPr>
        <p:txBody>
          <a:bodyPr wrap="square" lIns="0" tIns="0" rIns="0" bIns="0" rtlCol="0" anchor="ctr"/>
          <a:lstStyle/>
          <a:p>
            <a:pPr indent="0" marL="0">
              <a:buNone/>
            </a:pPr>
            <a:r>
              <a:rPr lang="en-US" sz="1200" dirty="0">
                <a:solidFill>
                  <a:srgbClr val="4A5568"/>
                </a:solidFill>
              </a:rPr>
              <a:t>From whom</a:t>
            </a:r>
            <a:endParaRPr lang="en-US" sz="1200" dirty="0"/>
          </a:p>
        </p:txBody>
      </p:sp>
      <p:sp>
        <p:nvSpPr>
          <p:cNvPr id="22" name="field 4 value"/>
          <p:cNvSpPr txBox="1"/>
          <p:nvPr/>
        </p:nvSpPr>
        <p:spPr>
          <a:xfrm>
            <a:off x="5715000" y="2715768"/>
            <a:ext cx="2788920" cy="365760"/>
          </a:xfrm>
          <a:prstGeom prst="rect">
            <a:avLst/>
          </a:prstGeom>
          <a:noFill/>
          <a:ln/>
        </p:spPr>
        <p:txBody>
          <a:bodyPr wrap="square" lIns="0" tIns="0" rIns="0" bIns="0" rtlCol="0" anchor="ctr"/>
          <a:lstStyle/>
          <a:p>
            <a:pPr indent="0" marL="0">
              <a:buNone/>
            </a:pPr>
            <a:r>
              <a:rPr lang="en-US" sz="1300" dirty="0">
                <a:solidFill>
                  <a:srgbClr val="1F2430"/>
                </a:solidFill>
              </a:rPr>
              <a:t>UnitedHealth Group (Optum)</a:t>
            </a:r>
            <a:endParaRPr lang="en-US" sz="1300" dirty="0"/>
          </a:p>
        </p:txBody>
      </p:sp>
      <p:sp>
        <p:nvSpPr>
          <p:cNvPr id="23" name="field 5 name"/>
          <p:cNvSpPr txBox="1"/>
          <p:nvPr/>
        </p:nvSpPr>
        <p:spPr>
          <a:xfrm>
            <a:off x="4617720" y="3118104"/>
            <a:ext cx="1097280" cy="365760"/>
          </a:xfrm>
          <a:prstGeom prst="rect">
            <a:avLst/>
          </a:prstGeom>
          <a:noFill/>
          <a:ln/>
        </p:spPr>
        <p:txBody>
          <a:bodyPr wrap="square" lIns="0" tIns="0" rIns="0" bIns="0" rtlCol="0" anchor="ctr"/>
          <a:lstStyle/>
          <a:p>
            <a:pPr indent="0" marL="0">
              <a:buNone/>
            </a:pPr>
            <a:r>
              <a:rPr lang="en-US" sz="1200" dirty="0">
                <a:solidFill>
                  <a:srgbClr val="4A5568"/>
                </a:solidFill>
              </a:rPr>
              <a:t>How much</a:t>
            </a:r>
            <a:endParaRPr lang="en-US" sz="1200" dirty="0"/>
          </a:p>
        </p:txBody>
      </p:sp>
      <p:sp>
        <p:nvSpPr>
          <p:cNvPr id="24" name="field 5 value"/>
          <p:cNvSpPr txBox="1"/>
          <p:nvPr/>
        </p:nvSpPr>
        <p:spPr>
          <a:xfrm>
            <a:off x="5715000" y="3118104"/>
            <a:ext cx="2788920" cy="365760"/>
          </a:xfrm>
          <a:prstGeom prst="rect">
            <a:avLst/>
          </a:prstGeom>
          <a:noFill/>
          <a:ln/>
        </p:spPr>
        <p:txBody>
          <a:bodyPr wrap="square" lIns="0" tIns="0" rIns="0" bIns="0" rtlCol="0" anchor="ctr"/>
          <a:lstStyle/>
          <a:p>
            <a:pPr indent="0" marL="0">
              <a:buNone/>
            </a:pPr>
            <a:r>
              <a:rPr lang="en-US" sz="1300" b="1" dirty="0">
                <a:solidFill>
                  <a:srgbClr val="C2410C"/>
                </a:solidFill>
              </a:rPr>
              <a:t>$857 million</a:t>
            </a:r>
            <a:endParaRPr lang="en-US" sz="1300" dirty="0"/>
          </a:p>
        </p:txBody>
      </p:sp>
      <p:sp>
        <p:nvSpPr>
          <p:cNvPr id="25" name="field 6 name"/>
          <p:cNvSpPr txBox="1"/>
          <p:nvPr/>
        </p:nvSpPr>
        <p:spPr>
          <a:xfrm>
            <a:off x="4617720" y="3520440"/>
            <a:ext cx="1097280" cy="365760"/>
          </a:xfrm>
          <a:prstGeom prst="rect">
            <a:avLst/>
          </a:prstGeom>
          <a:noFill/>
          <a:ln/>
        </p:spPr>
        <p:txBody>
          <a:bodyPr wrap="square" lIns="0" tIns="0" rIns="0" bIns="0" rtlCol="0" anchor="ctr"/>
          <a:lstStyle/>
          <a:p>
            <a:pPr indent="0" marL="0">
              <a:buNone/>
            </a:pPr>
            <a:r>
              <a:rPr lang="en-US" sz="1200" dirty="0">
                <a:solidFill>
                  <a:srgbClr val="4A5568"/>
                </a:solidFill>
              </a:rPr>
              <a:t>Competed?</a:t>
            </a:r>
            <a:endParaRPr lang="en-US" sz="1200" dirty="0"/>
          </a:p>
        </p:txBody>
      </p:sp>
      <p:sp>
        <p:nvSpPr>
          <p:cNvPr id="26" name="field 6 value"/>
          <p:cNvSpPr txBox="1"/>
          <p:nvPr/>
        </p:nvSpPr>
        <p:spPr>
          <a:xfrm>
            <a:off x="5715000" y="3520440"/>
            <a:ext cx="2788920" cy="365760"/>
          </a:xfrm>
          <a:prstGeom prst="rect">
            <a:avLst/>
          </a:prstGeom>
          <a:noFill/>
          <a:ln/>
        </p:spPr>
        <p:txBody>
          <a:bodyPr wrap="square" lIns="0" tIns="0" rIns="0" bIns="0" rtlCol="0" anchor="ctr"/>
          <a:lstStyle/>
          <a:p>
            <a:pPr indent="0" marL="0">
              <a:buNone/>
            </a:pPr>
            <a:r>
              <a:rPr lang="en-US" sz="1300" dirty="0">
                <a:solidFill>
                  <a:srgbClr val="1F2430"/>
                </a:solidFill>
              </a:rPr>
              <a:t>Full and open competition</a:t>
            </a:r>
            <a:endParaRPr lang="en-US" sz="1300" dirty="0"/>
          </a:p>
        </p:txBody>
      </p:sp>
      <p:sp>
        <p:nvSpPr>
          <p:cNvPr id="27" name="takeaway box"/>
          <p:cNvSpPr/>
          <p:nvPr/>
        </p:nvSpPr>
        <p:spPr>
          <a:xfrm>
            <a:off x="457200" y="4160520"/>
            <a:ext cx="8229600" cy="566928"/>
          </a:xfrm>
          <a:prstGeom prst="roundRect">
            <a:avLst>
              <a:gd name="adj" fmla="val 12903"/>
            </a:avLst>
          </a:prstGeom>
          <a:solidFill>
            <a:srgbClr val="EEF0F3"/>
          </a:solidFill>
          <a:ln/>
        </p:spPr>
      </p:sp>
      <p:sp>
        <p:nvSpPr>
          <p:cNvPr id="28" name="takeaway"/>
          <p:cNvSpPr txBox="1"/>
          <p:nvPr/>
        </p:nvSpPr>
        <p:spPr>
          <a:xfrm>
            <a:off x="640080" y="4160520"/>
            <a:ext cx="7863840" cy="566928"/>
          </a:xfrm>
          <a:prstGeom prst="rect">
            <a:avLst/>
          </a:prstGeom>
          <a:noFill/>
          <a:ln/>
        </p:spPr>
        <p:txBody>
          <a:bodyPr wrap="square" lIns="0" tIns="0" rIns="0" bIns="0" rtlCol="0" anchor="ctr"/>
          <a:lstStyle/>
          <a:p>
            <a:pPr indent="0" marL="0">
              <a:buNone/>
            </a:pPr>
            <a:r>
              <a:rPr lang="en-US" sz="1400" b="1" dirty="0">
                <a:solidFill>
                  <a:srgbClr val="C2410C"/>
                </a:solidFill>
              </a:rPr>
              <a:t>What this means   </a:t>
            </a:r>
            <a:pPr indent="0" marL="0">
              <a:buNone/>
            </a:pPr>
            <a:r>
              <a:rPr lang="en-US" sz="1400" dirty="0">
                <a:solidFill>
                  <a:srgbClr val="1F2430"/>
                </a:solidFill>
              </a:rPr>
              <a:t>Each row says who bought what, from whom, for how much, and whether others could bid. Adding up rows by buyer, product and company shows who wins the money.</a:t>
            </a:r>
            <a:endParaRPr lang="en-US" sz="1400" dirty="0"/>
          </a:p>
        </p:txBody>
      </p:sp>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rtlCol="0" anchor="ctr"/>
          <a:lstStyle/>
          <a:p>
            <a:pPr algn="l" indent="0" marL="0">
              <a:buNone/>
            </a:pPr>
            <a:r>
              <a:rPr lang="en-US" sz="2600" b="1" dirty="0">
                <a:solidFill>
                  <a:srgbClr val="1F2430"/>
                </a:solidFill>
                <a:latin typeface="Cambria" pitchFamily="34" charset="0"/>
                <a:ea typeface="Cambria" pitchFamily="34" charset="-122"/>
                <a:cs typeface="Cambria" pitchFamily="34" charset="-120"/>
              </a:rPr>
              <a:t>How we turned 18 zip files into a trusted dataset</a:t>
            </a:r>
            <a:endParaRPr lang="en-US" sz="2600" dirty="0"/>
          </a:p>
        </p:txBody>
      </p:sp>
      <p:sp>
        <p:nvSpPr>
          <p:cNvPr id="4" name="step 1 card"/>
          <p:cNvSpPr/>
          <p:nvPr/>
        </p:nvSpPr>
        <p:spPr>
          <a:xfrm>
            <a:off x="457200" y="1005840"/>
            <a:ext cx="1865376" cy="2331720"/>
          </a:xfrm>
          <a:prstGeom prst="roundRect">
            <a:avLst>
              <a:gd name="adj" fmla="val 3922"/>
            </a:avLst>
          </a:prstGeom>
          <a:solidFill>
            <a:srgbClr val="EEF0F3"/>
          </a:solidFill>
          <a:ln/>
        </p:spPr>
      </p:sp>
      <p:sp>
        <p:nvSpPr>
          <p:cNvPr id="5" name="step 1 badge"/>
          <p:cNvSpPr/>
          <p:nvPr/>
        </p:nvSpPr>
        <p:spPr>
          <a:xfrm>
            <a:off x="621792" y="1161288"/>
            <a:ext cx="420624" cy="420624"/>
          </a:xfrm>
          <a:prstGeom prst="ellipse">
            <a:avLst/>
          </a:prstGeom>
          <a:solidFill>
            <a:srgbClr val="C2410C"/>
          </a:solidFill>
          <a:ln/>
        </p:spPr>
      </p:sp>
      <p:sp>
        <p:nvSpPr>
          <p:cNvPr id="6" name="step 1 number"/>
          <p:cNvSpPr txBox="1"/>
          <p:nvPr/>
        </p:nvSpPr>
        <p:spPr>
          <a:xfrm>
            <a:off x="621792" y="116128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step 1 head"/>
          <p:cNvSpPr txBox="1"/>
          <p:nvPr/>
        </p:nvSpPr>
        <p:spPr>
          <a:xfrm>
            <a:off x="621792" y="1691640"/>
            <a:ext cx="1536192" cy="365760"/>
          </a:xfrm>
          <a:prstGeom prst="rect">
            <a:avLst/>
          </a:prstGeom>
          <a:noFill/>
          <a:ln/>
        </p:spPr>
        <p:txBody>
          <a:bodyPr wrap="square" lIns="0" tIns="0" rIns="0" bIns="0" rtlCol="0" anchor="t"/>
          <a:lstStyle/>
          <a:p>
            <a:pPr indent="0" marL="0">
              <a:buNone/>
            </a:pPr>
            <a:r>
              <a:rPr lang="en-US" sz="1500" b="1" dirty="0">
                <a:solidFill>
                  <a:srgbClr val="1F2430"/>
                </a:solidFill>
              </a:rPr>
              <a:t>Download and lock</a:t>
            </a:r>
            <a:endParaRPr lang="en-US" sz="1500" dirty="0"/>
          </a:p>
        </p:txBody>
      </p:sp>
      <p:sp>
        <p:nvSpPr>
          <p:cNvPr id="8" name="step 1 body"/>
          <p:cNvSpPr txBox="1"/>
          <p:nvPr/>
        </p:nvSpPr>
        <p:spPr>
          <a:xfrm>
            <a:off x="621792" y="2103120"/>
            <a:ext cx="1536192" cy="1143000"/>
          </a:xfrm>
          <a:prstGeom prst="rect">
            <a:avLst/>
          </a:prstGeom>
          <a:noFill/>
          <a:ln/>
        </p:spPr>
        <p:txBody>
          <a:bodyPr wrap="square" lIns="0" tIns="0" rIns="0" bIns="0" rtlCol="0" anchor="t"/>
          <a:lstStyle/>
          <a:p>
            <a:pPr indent="0" marL="0">
              <a:buNone/>
            </a:pPr>
            <a:r>
              <a:rPr lang="en-US" sz="1200" dirty="0">
                <a:solidFill>
                  <a:srgbClr val="4A5568"/>
                </a:solidFill>
              </a:rPr>
              <a:t>18 zip files checked against their checksums, then made read-only</a:t>
            </a:r>
            <a:endParaRPr lang="en-US" sz="1200" dirty="0"/>
          </a:p>
        </p:txBody>
      </p:sp>
      <p:sp>
        <p:nvSpPr>
          <p:cNvPr id="9" name="arrow 1"/>
          <p:cNvSpPr/>
          <p:nvPr/>
        </p:nvSpPr>
        <p:spPr>
          <a:xfrm rot="5400000">
            <a:off x="2377440" y="2057400"/>
            <a:ext cx="146304" cy="219456"/>
          </a:xfrm>
          <a:prstGeom prst="triangle">
            <a:avLst/>
          </a:prstGeom>
          <a:solidFill>
            <a:srgbClr val="8A94A6"/>
          </a:solidFill>
          <a:ln/>
        </p:spPr>
      </p:sp>
      <p:sp>
        <p:nvSpPr>
          <p:cNvPr id="10" name="step 2 card"/>
          <p:cNvSpPr/>
          <p:nvPr/>
        </p:nvSpPr>
        <p:spPr>
          <a:xfrm>
            <a:off x="2578608" y="1005840"/>
            <a:ext cx="1865376" cy="2331720"/>
          </a:xfrm>
          <a:prstGeom prst="roundRect">
            <a:avLst>
              <a:gd name="adj" fmla="val 3922"/>
            </a:avLst>
          </a:prstGeom>
          <a:solidFill>
            <a:srgbClr val="EEF0F3"/>
          </a:solidFill>
          <a:ln/>
        </p:spPr>
      </p:sp>
      <p:sp>
        <p:nvSpPr>
          <p:cNvPr id="11" name="step 2 badge"/>
          <p:cNvSpPr/>
          <p:nvPr/>
        </p:nvSpPr>
        <p:spPr>
          <a:xfrm>
            <a:off x="2743200" y="1161288"/>
            <a:ext cx="420624" cy="420624"/>
          </a:xfrm>
          <a:prstGeom prst="ellipse">
            <a:avLst/>
          </a:prstGeom>
          <a:solidFill>
            <a:srgbClr val="C2410C"/>
          </a:solidFill>
          <a:ln/>
        </p:spPr>
      </p:sp>
      <p:sp>
        <p:nvSpPr>
          <p:cNvPr id="12" name="step 2 number"/>
          <p:cNvSpPr txBox="1"/>
          <p:nvPr/>
        </p:nvSpPr>
        <p:spPr>
          <a:xfrm>
            <a:off x="2743200" y="116128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3" name="step 2 head"/>
          <p:cNvSpPr txBox="1"/>
          <p:nvPr/>
        </p:nvSpPr>
        <p:spPr>
          <a:xfrm>
            <a:off x="2743200" y="1691640"/>
            <a:ext cx="1536192" cy="365760"/>
          </a:xfrm>
          <a:prstGeom prst="rect">
            <a:avLst/>
          </a:prstGeom>
          <a:noFill/>
          <a:ln/>
        </p:spPr>
        <p:txBody>
          <a:bodyPr wrap="square" lIns="0" tIns="0" rIns="0" bIns="0" rtlCol="0" anchor="t"/>
          <a:lstStyle/>
          <a:p>
            <a:pPr indent="0" marL="0">
              <a:buNone/>
            </a:pPr>
            <a:r>
              <a:rPr lang="en-US" sz="1500" b="1" dirty="0">
                <a:solidFill>
                  <a:srgbClr val="1F2430"/>
                </a:solidFill>
              </a:rPr>
              <a:t>Convert and prove</a:t>
            </a:r>
            <a:endParaRPr lang="en-US" sz="1500" dirty="0"/>
          </a:p>
        </p:txBody>
      </p:sp>
      <p:sp>
        <p:nvSpPr>
          <p:cNvPr id="14" name="step 2 body"/>
          <p:cNvSpPr txBox="1"/>
          <p:nvPr/>
        </p:nvSpPr>
        <p:spPr>
          <a:xfrm>
            <a:off x="2743200" y="2103120"/>
            <a:ext cx="1536192" cy="1143000"/>
          </a:xfrm>
          <a:prstGeom prst="rect">
            <a:avLst/>
          </a:prstGeom>
          <a:noFill/>
          <a:ln/>
        </p:spPr>
        <p:txBody>
          <a:bodyPr wrap="square" lIns="0" tIns="0" rIns="0" bIns="0" rtlCol="0" anchor="t"/>
          <a:lstStyle/>
          <a:p>
            <a:pPr indent="0" marL="0">
              <a:buNone/>
            </a:pPr>
            <a:r>
              <a:rPr lang="en-US" sz="1200" dirty="0">
                <a:solidFill>
                  <a:srgbClr val="4A5568"/>
                </a:solidFill>
              </a:rPr>
              <a:t>A fast copy of all 88.8M rows, proven exact: counts, dollars to the cent, every field</a:t>
            </a:r>
            <a:endParaRPr lang="en-US" sz="1200" dirty="0"/>
          </a:p>
        </p:txBody>
      </p:sp>
      <p:sp>
        <p:nvSpPr>
          <p:cNvPr id="15" name="arrow 2"/>
          <p:cNvSpPr/>
          <p:nvPr/>
        </p:nvSpPr>
        <p:spPr>
          <a:xfrm rot="5400000">
            <a:off x="4498848" y="2057400"/>
            <a:ext cx="146304" cy="219456"/>
          </a:xfrm>
          <a:prstGeom prst="triangle">
            <a:avLst/>
          </a:prstGeom>
          <a:solidFill>
            <a:srgbClr val="8A94A6"/>
          </a:solidFill>
          <a:ln/>
        </p:spPr>
      </p:sp>
      <p:sp>
        <p:nvSpPr>
          <p:cNvPr id="16" name="step 3 card"/>
          <p:cNvSpPr/>
          <p:nvPr/>
        </p:nvSpPr>
        <p:spPr>
          <a:xfrm>
            <a:off x="4700016" y="1005840"/>
            <a:ext cx="1865376" cy="2331720"/>
          </a:xfrm>
          <a:prstGeom prst="roundRect">
            <a:avLst>
              <a:gd name="adj" fmla="val 3922"/>
            </a:avLst>
          </a:prstGeom>
          <a:solidFill>
            <a:srgbClr val="EEF0F3"/>
          </a:solidFill>
          <a:ln/>
        </p:spPr>
      </p:sp>
      <p:sp>
        <p:nvSpPr>
          <p:cNvPr id="17" name="step 3 badge"/>
          <p:cNvSpPr/>
          <p:nvPr/>
        </p:nvSpPr>
        <p:spPr>
          <a:xfrm>
            <a:off x="4864608" y="1161288"/>
            <a:ext cx="420624" cy="420624"/>
          </a:xfrm>
          <a:prstGeom prst="ellipse">
            <a:avLst/>
          </a:prstGeom>
          <a:solidFill>
            <a:srgbClr val="C2410C"/>
          </a:solidFill>
          <a:ln/>
        </p:spPr>
      </p:sp>
      <p:sp>
        <p:nvSpPr>
          <p:cNvPr id="18" name="step 3 number"/>
          <p:cNvSpPr txBox="1"/>
          <p:nvPr/>
        </p:nvSpPr>
        <p:spPr>
          <a:xfrm>
            <a:off x="4864608" y="116128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9" name="step 3 head"/>
          <p:cNvSpPr txBox="1"/>
          <p:nvPr/>
        </p:nvSpPr>
        <p:spPr>
          <a:xfrm>
            <a:off x="4864608" y="1691640"/>
            <a:ext cx="1536192" cy="365760"/>
          </a:xfrm>
          <a:prstGeom prst="rect">
            <a:avLst/>
          </a:prstGeom>
          <a:noFill/>
          <a:ln/>
        </p:spPr>
        <p:txBody>
          <a:bodyPr wrap="square" lIns="0" tIns="0" rIns="0" bIns="0" rtlCol="0" anchor="t"/>
          <a:lstStyle/>
          <a:p>
            <a:pPr indent="0" marL="0">
              <a:buNone/>
            </a:pPr>
            <a:r>
              <a:rPr lang="en-US" sz="1500" b="1" dirty="0">
                <a:solidFill>
                  <a:srgbClr val="1F2430"/>
                </a:solidFill>
              </a:rPr>
              <a:t>Check quality</a:t>
            </a:r>
            <a:endParaRPr lang="en-US" sz="1500" dirty="0"/>
          </a:p>
        </p:txBody>
      </p:sp>
      <p:sp>
        <p:nvSpPr>
          <p:cNvPr id="20" name="step 3 body"/>
          <p:cNvSpPr txBox="1"/>
          <p:nvPr/>
        </p:nvSpPr>
        <p:spPr>
          <a:xfrm>
            <a:off x="4864608" y="2103120"/>
            <a:ext cx="1536192" cy="1143000"/>
          </a:xfrm>
          <a:prstGeom prst="rect">
            <a:avLst/>
          </a:prstGeom>
          <a:noFill/>
          <a:ln/>
        </p:spPr>
        <p:txBody>
          <a:bodyPr wrap="square" lIns="0" tIns="0" rIns="0" bIns="0" rtlCol="0" anchor="t"/>
          <a:lstStyle/>
          <a:p>
            <a:pPr indent="0" marL="0">
              <a:buNone/>
            </a:pPr>
            <a:r>
              <a:rPr lang="en-US" sz="1200" dirty="0">
                <a:solidFill>
                  <a:srgbClr val="4A5568"/>
                </a:solidFill>
              </a:rPr>
              <a:t>62 rule checks on every row, which found the records that would distort the score</a:t>
            </a:r>
            <a:endParaRPr lang="en-US" sz="1200" dirty="0"/>
          </a:p>
        </p:txBody>
      </p:sp>
      <p:sp>
        <p:nvSpPr>
          <p:cNvPr id="21" name="arrow 3"/>
          <p:cNvSpPr/>
          <p:nvPr/>
        </p:nvSpPr>
        <p:spPr>
          <a:xfrm rot="5400000">
            <a:off x="6620256" y="2057400"/>
            <a:ext cx="146304" cy="219456"/>
          </a:xfrm>
          <a:prstGeom prst="triangle">
            <a:avLst/>
          </a:prstGeom>
          <a:solidFill>
            <a:srgbClr val="8A94A6"/>
          </a:solidFill>
          <a:ln/>
        </p:spPr>
      </p:sp>
      <p:sp>
        <p:nvSpPr>
          <p:cNvPr id="22" name="step 4 card"/>
          <p:cNvSpPr/>
          <p:nvPr/>
        </p:nvSpPr>
        <p:spPr>
          <a:xfrm>
            <a:off x="6821424" y="1005840"/>
            <a:ext cx="1865376" cy="2331720"/>
          </a:xfrm>
          <a:prstGeom prst="roundRect">
            <a:avLst>
              <a:gd name="adj" fmla="val 3922"/>
            </a:avLst>
          </a:prstGeom>
          <a:solidFill>
            <a:srgbClr val="2E3A4D"/>
          </a:solidFill>
          <a:ln/>
        </p:spPr>
      </p:sp>
      <p:sp>
        <p:nvSpPr>
          <p:cNvPr id="23" name="step 4 badge"/>
          <p:cNvSpPr/>
          <p:nvPr/>
        </p:nvSpPr>
        <p:spPr>
          <a:xfrm>
            <a:off x="6986016" y="1161288"/>
            <a:ext cx="420624" cy="420624"/>
          </a:xfrm>
          <a:prstGeom prst="ellipse">
            <a:avLst/>
          </a:prstGeom>
          <a:solidFill>
            <a:srgbClr val="C2410C"/>
          </a:solidFill>
          <a:ln/>
        </p:spPr>
      </p:sp>
      <p:sp>
        <p:nvSpPr>
          <p:cNvPr id="24" name="step 4 number"/>
          <p:cNvSpPr txBox="1"/>
          <p:nvPr/>
        </p:nvSpPr>
        <p:spPr>
          <a:xfrm>
            <a:off x="6986016" y="116128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5" name="step 4 head"/>
          <p:cNvSpPr txBox="1"/>
          <p:nvPr/>
        </p:nvSpPr>
        <p:spPr>
          <a:xfrm>
            <a:off x="6986016" y="1691640"/>
            <a:ext cx="1536192" cy="365760"/>
          </a:xfrm>
          <a:prstGeom prst="rect">
            <a:avLst/>
          </a:prstGeom>
          <a:noFill/>
          <a:ln/>
        </p:spPr>
        <p:txBody>
          <a:bodyPr wrap="square" lIns="0" tIns="0" rIns="0" bIns="0" rtlCol="0" anchor="t"/>
          <a:lstStyle/>
          <a:p>
            <a:pPr indent="0" marL="0">
              <a:buNone/>
            </a:pPr>
            <a:r>
              <a:rPr lang="en-US" sz="1500" b="1" dirty="0">
                <a:solidFill>
                  <a:srgbClr val="FFFFFF"/>
                </a:solidFill>
              </a:rPr>
              <a:t>Analysis tables</a:t>
            </a:r>
            <a:endParaRPr lang="en-US" sz="1500" dirty="0"/>
          </a:p>
        </p:txBody>
      </p:sp>
      <p:sp>
        <p:nvSpPr>
          <p:cNvPr id="26" name="step 4 body"/>
          <p:cNvSpPr txBox="1"/>
          <p:nvPr/>
        </p:nvSpPr>
        <p:spPr>
          <a:xfrm>
            <a:off x="6986016" y="2103120"/>
            <a:ext cx="1536192" cy="1143000"/>
          </a:xfrm>
          <a:prstGeom prst="rect">
            <a:avLst/>
          </a:prstGeom>
          <a:noFill/>
          <a:ln/>
        </p:spPr>
        <p:txBody>
          <a:bodyPr wrap="square" lIns="0" tIns="0" rIns="0" bIns="0" rtlCol="0" anchor="t"/>
          <a:lstStyle/>
          <a:p>
            <a:pPr indent="0" marL="0">
              <a:buNone/>
            </a:pPr>
            <a:r>
              <a:rPr lang="en-US" sz="1200" dirty="0">
                <a:solidFill>
                  <a:srgbClr val="E2E5EA"/>
                </a:solidFill>
              </a:rPr>
              <a:t>7.85M vendor-by-segment totals, all 116 checks passed</a:t>
            </a:r>
            <a:endParaRPr lang="en-US" sz="1200" dirty="0"/>
          </a:p>
        </p:txBody>
      </p:sp>
      <p:sp>
        <p:nvSpPr>
          <p:cNvPr id="27" name="gao badge"/>
          <p:cNvSpPr/>
          <p:nvPr/>
        </p:nvSpPr>
        <p:spPr>
          <a:xfrm>
            <a:off x="457200" y="3547872"/>
            <a:ext cx="384048" cy="384048"/>
          </a:xfrm>
          <a:prstGeom prst="ellipse">
            <a:avLst/>
          </a:prstGeom>
          <a:solidFill>
            <a:srgbClr val="4D7C6F"/>
          </a:solidFill>
          <a:ln/>
        </p:spPr>
      </p:sp>
      <p:sp>
        <p:nvSpPr>
          <p:cNvPr id="28" name="gao tick"/>
          <p:cNvSpPr txBox="1"/>
          <p:nvPr/>
        </p:nvSpPr>
        <p:spPr>
          <a:xfrm>
            <a:off x="457200" y="354787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29" name="gao check"/>
          <p:cNvSpPr txBox="1"/>
          <p:nvPr/>
        </p:nvSpPr>
        <p:spPr>
          <a:xfrm>
            <a:off x="960120" y="3547872"/>
            <a:ext cx="7726680" cy="384048"/>
          </a:xfrm>
          <a:prstGeom prst="rect">
            <a:avLst/>
          </a:prstGeom>
          <a:noFill/>
          <a:ln/>
        </p:spPr>
        <p:txBody>
          <a:bodyPr wrap="square" lIns="0" tIns="0" rIns="0" bIns="0" rtlCol="0" anchor="ctr"/>
          <a:lstStyle/>
          <a:p>
            <a:pPr indent="0" marL="0">
              <a:buNone/>
            </a:pPr>
            <a:r>
              <a:rPr lang="en-US" sz="1400" b="1" dirty="0">
                <a:solidFill>
                  <a:srgbClr val="1F2430"/>
                </a:solidFill>
              </a:rPr>
              <a:t>Our yearly totals match GAO's within 0.2%</a:t>
            </a:r>
            <a:pPr indent="0" marL="0">
              <a:buNone/>
            </a:pPr>
            <a:r>
              <a:rPr lang="en-US" sz="1400" dirty="0">
                <a:solidFill>
                  <a:srgbClr val="4A5568"/>
                </a:solidFill>
              </a:rPr>
              <a:t>  for FY2022 to FY2025, the years GAO publishes exact figures.</a:t>
            </a:r>
            <a:endParaRPr lang="en-US" sz="1400" dirty="0"/>
          </a:p>
        </p:txBody>
      </p:sp>
      <p:sp>
        <p:nvSpPr>
          <p:cNvPr id="30" name="takeaway box"/>
          <p:cNvSpPr/>
          <p:nvPr/>
        </p:nvSpPr>
        <p:spPr>
          <a:xfrm>
            <a:off x="457200" y="4160520"/>
            <a:ext cx="8229600" cy="566928"/>
          </a:xfrm>
          <a:prstGeom prst="roundRect">
            <a:avLst>
              <a:gd name="adj" fmla="val 12903"/>
            </a:avLst>
          </a:prstGeom>
          <a:solidFill>
            <a:srgbClr val="EEF0F3"/>
          </a:solidFill>
          <a:ln/>
        </p:spPr>
      </p:sp>
      <p:sp>
        <p:nvSpPr>
          <p:cNvPr id="31" name="takeaway"/>
          <p:cNvSpPr txBox="1"/>
          <p:nvPr/>
        </p:nvSpPr>
        <p:spPr>
          <a:xfrm>
            <a:off x="640080" y="4160520"/>
            <a:ext cx="7863840" cy="566928"/>
          </a:xfrm>
          <a:prstGeom prst="rect">
            <a:avLst/>
          </a:prstGeom>
          <a:noFill/>
          <a:ln/>
        </p:spPr>
        <p:txBody>
          <a:bodyPr wrap="square" lIns="0" tIns="0" rIns="0" bIns="0" rtlCol="0" anchor="ctr"/>
          <a:lstStyle/>
          <a:p>
            <a:pPr indent="0" marL="0">
              <a:buNone/>
            </a:pPr>
            <a:r>
              <a:rPr lang="en-US" sz="1400" b="1" dirty="0">
                <a:solidFill>
                  <a:srgbClr val="C2410C"/>
                </a:solidFill>
              </a:rPr>
              <a:t>What this means   </a:t>
            </a:r>
            <a:pPr indent="0" marL="0">
              <a:buNone/>
            </a:pPr>
            <a:r>
              <a:rPr lang="en-US" sz="1400" dirty="0">
                <a:solidFill>
                  <a:srgbClr val="1F2430"/>
                </a:solidFill>
              </a:rPr>
              <a:t>Every number we show traces back to the published files, and our totals agree with the government's own official figures.</a:t>
            </a:r>
            <a:endParaRPr lang="en-US" sz="1400" dirty="0"/>
          </a:p>
        </p:txBody>
      </p:sp>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rtlCol="0" anchor="ctr"/>
          <a:lstStyle/>
          <a:p>
            <a:pPr algn="l" indent="0" marL="0">
              <a:buNone/>
            </a:pPr>
            <a:r>
              <a:rPr lang="en-US" sz="2600" b="1" dirty="0">
                <a:solidFill>
                  <a:srgbClr val="1F2430"/>
                </a:solidFill>
                <a:latin typeface="Cambria" pitchFamily="34" charset="0"/>
                <a:ea typeface="Cambria" pitchFamily="34" charset="-122"/>
                <a:cs typeface="Cambria" pitchFamily="34" charset="-120"/>
              </a:rPr>
              <a:t>How we measure: segments, and a score for each</a:t>
            </a:r>
            <a:endParaRPr lang="en-US" sz="2600" dirty="0"/>
          </a:p>
        </p:txBody>
      </p:sp>
      <p:sp>
        <p:nvSpPr>
          <p:cNvPr id="4" name="segment part 1"/>
          <p:cNvSpPr/>
          <p:nvPr/>
        </p:nvSpPr>
        <p:spPr>
          <a:xfrm>
            <a:off x="457200" y="1005840"/>
            <a:ext cx="1261872" cy="868680"/>
          </a:xfrm>
          <a:prstGeom prst="roundRect">
            <a:avLst>
              <a:gd name="adj" fmla="val 8421"/>
            </a:avLst>
          </a:prstGeom>
          <a:solidFill>
            <a:srgbClr val="EEF0F3"/>
          </a:solidFill>
          <a:ln/>
        </p:spPr>
      </p:sp>
      <p:sp>
        <p:nvSpPr>
          <p:cNvPr id="5" name="segment part 1 text"/>
          <p:cNvSpPr txBox="1"/>
          <p:nvPr/>
        </p:nvSpPr>
        <p:spPr>
          <a:xfrm>
            <a:off x="548640" y="1051560"/>
            <a:ext cx="1078992" cy="777240"/>
          </a:xfrm>
          <a:prstGeom prst="rect">
            <a:avLst/>
          </a:prstGeom>
          <a:noFill/>
          <a:ln/>
        </p:spPr>
        <p:txBody>
          <a:bodyPr wrap="square" lIns="0" tIns="0" rIns="0" bIns="0" rtlCol="0" anchor="ctr"/>
          <a:lstStyle/>
          <a:p>
            <a:pPr algn="ctr" indent="0" marL="0">
              <a:buNone/>
            </a:pPr>
            <a:r>
              <a:rPr lang="en-US" sz="1100" dirty="0">
                <a:solidFill>
                  <a:srgbClr val="4A5568"/>
                </a:solidFill>
              </a:rPr>
              <a:t>Agency</a:t>
            </a:r>
            <a:endParaRPr lang="en-US" sz="1400" dirty="0"/>
          </a:p>
          <a:p>
            <a:pPr algn="ctr" indent="0" marL="0">
              <a:buNone/>
            </a:pPr>
            <a:r>
              <a:rPr lang="en-US" sz="1300" b="1" dirty="0">
                <a:solidFill>
                  <a:srgbClr val="1F2430"/>
                </a:solidFill>
              </a:rPr>
              <a:t>Veterans Affairs</a:t>
            </a:r>
            <a:endParaRPr lang="en-US" sz="1400" dirty="0"/>
          </a:p>
        </p:txBody>
      </p:sp>
      <p:sp>
        <p:nvSpPr>
          <p:cNvPr id="6" name="plus 1"/>
          <p:cNvSpPr txBox="1"/>
          <p:nvPr/>
        </p:nvSpPr>
        <p:spPr>
          <a:xfrm>
            <a:off x="1719072" y="1005840"/>
            <a:ext cx="109728" cy="868680"/>
          </a:xfrm>
          <a:prstGeom prst="rect">
            <a:avLst/>
          </a:prstGeom>
          <a:noFill/>
          <a:ln/>
        </p:spPr>
        <p:txBody>
          <a:bodyPr wrap="square" lIns="0" tIns="0" rIns="0" bIns="0" rtlCol="0" anchor="ctr"/>
          <a:lstStyle/>
          <a:p>
            <a:pPr algn="ctr" indent="0" marL="0">
              <a:buNone/>
            </a:pPr>
            <a:r>
              <a:rPr lang="en-US" sz="1600" b="1" dirty="0">
                <a:solidFill>
                  <a:srgbClr val="8A94A6"/>
                </a:solidFill>
              </a:rPr>
              <a:t>+</a:t>
            </a:r>
            <a:endParaRPr lang="en-US" sz="1600" dirty="0"/>
          </a:p>
        </p:txBody>
      </p:sp>
      <p:sp>
        <p:nvSpPr>
          <p:cNvPr id="7" name="segment part 2"/>
          <p:cNvSpPr/>
          <p:nvPr/>
        </p:nvSpPr>
        <p:spPr>
          <a:xfrm>
            <a:off x="1828800" y="1005840"/>
            <a:ext cx="1261872" cy="868680"/>
          </a:xfrm>
          <a:prstGeom prst="roundRect">
            <a:avLst>
              <a:gd name="adj" fmla="val 8421"/>
            </a:avLst>
          </a:prstGeom>
          <a:solidFill>
            <a:srgbClr val="EEF0F3"/>
          </a:solidFill>
          <a:ln/>
        </p:spPr>
      </p:sp>
      <p:sp>
        <p:nvSpPr>
          <p:cNvPr id="8" name="segment part 2 text"/>
          <p:cNvSpPr txBox="1"/>
          <p:nvPr/>
        </p:nvSpPr>
        <p:spPr>
          <a:xfrm>
            <a:off x="1920240" y="1051560"/>
            <a:ext cx="1078992" cy="777240"/>
          </a:xfrm>
          <a:prstGeom prst="rect">
            <a:avLst/>
          </a:prstGeom>
          <a:noFill/>
          <a:ln/>
        </p:spPr>
        <p:txBody>
          <a:bodyPr wrap="square" lIns="0" tIns="0" rIns="0" bIns="0" rtlCol="0" anchor="ctr"/>
          <a:lstStyle/>
          <a:p>
            <a:pPr algn="ctr" indent="0" marL="0">
              <a:buNone/>
            </a:pPr>
            <a:r>
              <a:rPr lang="en-US" sz="1100" dirty="0">
                <a:solidFill>
                  <a:srgbClr val="4A5568"/>
                </a:solidFill>
              </a:rPr>
              <a:t>Product</a:t>
            </a:r>
            <a:endParaRPr lang="en-US" sz="1400" dirty="0"/>
          </a:p>
          <a:p>
            <a:pPr algn="ctr" indent="0" marL="0">
              <a:buNone/>
            </a:pPr>
            <a:r>
              <a:rPr lang="en-US" sz="1300" b="1" dirty="0">
                <a:solidFill>
                  <a:srgbClr val="1F2430"/>
                </a:solidFill>
              </a:rPr>
              <a:t>Managed healthcare</a:t>
            </a:r>
            <a:endParaRPr lang="en-US" sz="1400" dirty="0"/>
          </a:p>
        </p:txBody>
      </p:sp>
      <p:sp>
        <p:nvSpPr>
          <p:cNvPr id="9" name="plus 2"/>
          <p:cNvSpPr txBox="1"/>
          <p:nvPr/>
        </p:nvSpPr>
        <p:spPr>
          <a:xfrm>
            <a:off x="3090672" y="1005840"/>
            <a:ext cx="109728" cy="868680"/>
          </a:xfrm>
          <a:prstGeom prst="rect">
            <a:avLst/>
          </a:prstGeom>
          <a:noFill/>
          <a:ln/>
        </p:spPr>
        <p:txBody>
          <a:bodyPr wrap="square" lIns="0" tIns="0" rIns="0" bIns="0" rtlCol="0" anchor="ctr"/>
          <a:lstStyle/>
          <a:p>
            <a:pPr algn="ctr" indent="0" marL="0">
              <a:buNone/>
            </a:pPr>
            <a:r>
              <a:rPr lang="en-US" sz="1600" b="1" dirty="0">
                <a:solidFill>
                  <a:srgbClr val="8A94A6"/>
                </a:solidFill>
              </a:rPr>
              <a:t>+</a:t>
            </a:r>
            <a:endParaRPr lang="en-US" sz="1600" dirty="0"/>
          </a:p>
        </p:txBody>
      </p:sp>
      <p:sp>
        <p:nvSpPr>
          <p:cNvPr id="10" name="segment part 3"/>
          <p:cNvSpPr/>
          <p:nvPr/>
        </p:nvSpPr>
        <p:spPr>
          <a:xfrm>
            <a:off x="3200400" y="1005840"/>
            <a:ext cx="1261872" cy="868680"/>
          </a:xfrm>
          <a:prstGeom prst="roundRect">
            <a:avLst>
              <a:gd name="adj" fmla="val 8421"/>
            </a:avLst>
          </a:prstGeom>
          <a:solidFill>
            <a:srgbClr val="EEF0F3"/>
          </a:solidFill>
          <a:ln/>
        </p:spPr>
      </p:sp>
      <p:sp>
        <p:nvSpPr>
          <p:cNvPr id="11" name="segment part 3 text"/>
          <p:cNvSpPr txBox="1"/>
          <p:nvPr/>
        </p:nvSpPr>
        <p:spPr>
          <a:xfrm>
            <a:off x="3291840" y="1051560"/>
            <a:ext cx="1078992" cy="777240"/>
          </a:xfrm>
          <a:prstGeom prst="rect">
            <a:avLst/>
          </a:prstGeom>
          <a:noFill/>
          <a:ln/>
        </p:spPr>
        <p:txBody>
          <a:bodyPr wrap="square" lIns="0" tIns="0" rIns="0" bIns="0" rtlCol="0" anchor="ctr"/>
          <a:lstStyle/>
          <a:p>
            <a:pPr algn="ctr" indent="0" marL="0">
              <a:buNone/>
            </a:pPr>
            <a:r>
              <a:rPr lang="en-US" sz="1100" dirty="0">
                <a:solidFill>
                  <a:srgbClr val="4A5568"/>
                </a:solidFill>
              </a:rPr>
              <a:t>Year</a:t>
            </a:r>
            <a:endParaRPr lang="en-US" sz="1400" dirty="0"/>
          </a:p>
          <a:p>
            <a:pPr algn="ctr" indent="0" marL="0">
              <a:buNone/>
            </a:pPr>
            <a:r>
              <a:rPr lang="en-US" sz="1300" b="1" dirty="0">
                <a:solidFill>
                  <a:srgbClr val="1F2430"/>
                </a:solidFill>
              </a:rPr>
              <a:t>FY2025</a:t>
            </a:r>
            <a:endParaRPr lang="en-US" sz="1400" dirty="0"/>
          </a:p>
        </p:txBody>
      </p:sp>
      <p:sp>
        <p:nvSpPr>
          <p:cNvPr id="12" name="segment result"/>
          <p:cNvSpPr txBox="1"/>
          <p:nvPr/>
        </p:nvSpPr>
        <p:spPr>
          <a:xfrm>
            <a:off x="457200" y="1965960"/>
            <a:ext cx="4023360" cy="594360"/>
          </a:xfrm>
          <a:prstGeom prst="rect">
            <a:avLst/>
          </a:prstGeom>
          <a:noFill/>
          <a:ln/>
        </p:spPr>
        <p:txBody>
          <a:bodyPr wrap="square" lIns="0" tIns="0" rIns="0" bIns="0" rtlCol="0" anchor="t"/>
          <a:lstStyle/>
          <a:p>
            <a:pPr indent="0" marL="0">
              <a:buNone/>
            </a:pPr>
            <a:r>
              <a:rPr lang="en-US" sz="1300" b="1" dirty="0">
                <a:solidFill>
                  <a:srgbClr val="1F2430"/>
                </a:solidFill>
              </a:rPr>
              <a:t>= one segment. </a:t>
            </a:r>
            <a:pPr indent="0" marL="0">
              <a:buNone/>
            </a:pPr>
            <a:r>
              <a:rPr lang="en-US" sz="1300" dirty="0">
                <a:solidFill>
                  <a:srgbClr val="4A5568"/>
                </a:solidFill>
              </a:rPr>
              <a:t>In it, 75 companies shared $22.8B, and the largest got 98%.</a:t>
            </a:r>
            <a:endParaRPr lang="en-US" sz="1300" dirty="0"/>
          </a:p>
        </p:txBody>
      </p:sp>
      <p:sp>
        <p:nvSpPr>
          <p:cNvPr id="13" name="segment count"/>
          <p:cNvSpPr txBox="1"/>
          <p:nvPr/>
        </p:nvSpPr>
        <p:spPr>
          <a:xfrm>
            <a:off x="457200" y="2606040"/>
            <a:ext cx="4023360" cy="457200"/>
          </a:xfrm>
          <a:prstGeom prst="rect">
            <a:avLst/>
          </a:prstGeom>
          <a:noFill/>
          <a:ln/>
        </p:spPr>
        <p:txBody>
          <a:bodyPr wrap="square" lIns="0" tIns="0" rIns="0" bIns="0" rtlCol="0" anchor="t"/>
          <a:lstStyle/>
          <a:p>
            <a:pPr indent="0" marL="0">
              <a:buNone/>
            </a:pPr>
            <a:r>
              <a:rPr lang="en-US" sz="1200" dirty="0">
                <a:solidFill>
                  <a:srgbClr val="4A5568"/>
                </a:solidFill>
              </a:rPr>
              <a:t>We cut 18 years of contracts into 365K segments like this. A company counts once, under its parent.</a:t>
            </a:r>
            <a:endParaRPr lang="en-US" sz="1200" dirty="0"/>
          </a:p>
        </p:txBody>
      </p:sp>
      <p:sp>
        <p:nvSpPr>
          <p:cNvPr id="14" name="hhi heading"/>
          <p:cNvSpPr txBox="1"/>
          <p:nvPr/>
        </p:nvSpPr>
        <p:spPr>
          <a:xfrm>
            <a:off x="4754880" y="1005840"/>
            <a:ext cx="3931920" cy="274320"/>
          </a:xfrm>
          <a:prstGeom prst="rect">
            <a:avLst/>
          </a:prstGeom>
          <a:noFill/>
          <a:ln/>
        </p:spPr>
        <p:txBody>
          <a:bodyPr wrap="square" lIns="0" tIns="0" rIns="0" bIns="0" rtlCol="0" anchor="t"/>
          <a:lstStyle/>
          <a:p>
            <a:pPr indent="0" marL="0">
              <a:buNone/>
            </a:pPr>
            <a:r>
              <a:rPr lang="en-US" sz="1400" b="1" dirty="0">
                <a:solidFill>
                  <a:srgbClr val="1F2430"/>
                </a:solidFill>
              </a:rPr>
              <a:t>Each segment gets a score, the HHI</a:t>
            </a:r>
            <a:endParaRPr lang="en-US" sz="1400" dirty="0"/>
          </a:p>
        </p:txBody>
      </p:sp>
      <p:sp>
        <p:nvSpPr>
          <p:cNvPr id="15" name="hhi how"/>
          <p:cNvSpPr txBox="1"/>
          <p:nvPr/>
        </p:nvSpPr>
        <p:spPr>
          <a:xfrm>
            <a:off x="4754880" y="1298448"/>
            <a:ext cx="3931920" cy="256032"/>
          </a:xfrm>
          <a:prstGeom prst="rect">
            <a:avLst/>
          </a:prstGeom>
          <a:noFill/>
          <a:ln/>
        </p:spPr>
        <p:txBody>
          <a:bodyPr wrap="square" lIns="0" tIns="0" rIns="0" bIns="0" rtlCol="0" anchor="t"/>
          <a:lstStyle/>
          <a:p>
            <a:pPr indent="0" marL="0">
              <a:buNone/>
            </a:pPr>
            <a:r>
              <a:rPr lang="en-US" sz="1200" dirty="0">
                <a:solidFill>
                  <a:srgbClr val="4A5568"/>
                </a:solidFill>
              </a:rPr>
              <a:t>Square each company's % share, then add them up.</a:t>
            </a:r>
            <a:endParaRPr lang="en-US" sz="1200" dirty="0"/>
          </a:p>
        </p:txBody>
      </p:sp>
      <p:sp>
        <p:nvSpPr>
          <p:cNvPr id="16" name="hhi row 1 label"/>
          <p:cNvSpPr txBox="1"/>
          <p:nvPr/>
        </p:nvSpPr>
        <p:spPr>
          <a:xfrm>
            <a:off x="4754880" y="1673352"/>
            <a:ext cx="2926080" cy="228600"/>
          </a:xfrm>
          <a:prstGeom prst="rect">
            <a:avLst/>
          </a:prstGeom>
          <a:noFill/>
          <a:ln/>
        </p:spPr>
        <p:txBody>
          <a:bodyPr wrap="square" lIns="0" tIns="0" rIns="0" bIns="0" rtlCol="0" anchor="t"/>
          <a:lstStyle/>
          <a:p>
            <a:pPr indent="0" marL="0">
              <a:buNone/>
            </a:pPr>
            <a:r>
              <a:rPr lang="en-US" sz="1100" dirty="0">
                <a:solidFill>
                  <a:srgbClr val="4A5568"/>
                </a:solidFill>
              </a:rPr>
              <a:t>Five equal companies</a:t>
            </a:r>
            <a:endParaRPr lang="en-US" sz="1100" dirty="0"/>
          </a:p>
        </p:txBody>
      </p:sp>
      <p:sp>
        <p:nvSpPr>
          <p:cNvPr id="17" name="hhi row 1 vendor 1"/>
          <p:cNvSpPr/>
          <p:nvPr/>
        </p:nvSpPr>
        <p:spPr>
          <a:xfrm>
            <a:off x="4764024" y="1920240"/>
            <a:ext cx="566928" cy="292608"/>
          </a:xfrm>
          <a:prstGeom prst="rect">
            <a:avLst/>
          </a:prstGeom>
          <a:solidFill>
            <a:srgbClr val="2E3A4D"/>
          </a:solidFill>
          <a:ln/>
        </p:spPr>
      </p:sp>
      <p:sp>
        <p:nvSpPr>
          <p:cNvPr id="18" name="hhi row 1 share 1"/>
          <p:cNvSpPr txBox="1"/>
          <p:nvPr/>
        </p:nvSpPr>
        <p:spPr>
          <a:xfrm>
            <a:off x="4754880" y="1920240"/>
            <a:ext cx="585216" cy="292608"/>
          </a:xfrm>
          <a:prstGeom prst="rect">
            <a:avLst/>
          </a:prstGeom>
          <a:noFill/>
          <a:ln/>
        </p:spPr>
        <p:txBody>
          <a:bodyPr wrap="square" lIns="0" tIns="0" rIns="0" bIns="0" rtlCol="0" anchor="ctr"/>
          <a:lstStyle/>
          <a:p>
            <a:pPr algn="ctr" indent="0" marL="0">
              <a:buNone/>
            </a:pPr>
            <a:r>
              <a:rPr lang="en-US" sz="1000" b="1" dirty="0">
                <a:solidFill>
                  <a:srgbClr val="FFFFFF"/>
                </a:solidFill>
              </a:rPr>
              <a:t>20%</a:t>
            </a:r>
            <a:endParaRPr lang="en-US" sz="1000" dirty="0"/>
          </a:p>
        </p:txBody>
      </p:sp>
      <p:sp>
        <p:nvSpPr>
          <p:cNvPr id="19" name="hhi row 1 vendor 2"/>
          <p:cNvSpPr/>
          <p:nvPr/>
        </p:nvSpPr>
        <p:spPr>
          <a:xfrm>
            <a:off x="5349240" y="1920240"/>
            <a:ext cx="566928" cy="292608"/>
          </a:xfrm>
          <a:prstGeom prst="rect">
            <a:avLst/>
          </a:prstGeom>
          <a:solidFill>
            <a:srgbClr val="C9CED8"/>
          </a:solidFill>
          <a:ln/>
        </p:spPr>
      </p:sp>
      <p:sp>
        <p:nvSpPr>
          <p:cNvPr id="20" name="hhi row 1 share 2"/>
          <p:cNvSpPr txBox="1"/>
          <p:nvPr/>
        </p:nvSpPr>
        <p:spPr>
          <a:xfrm>
            <a:off x="5340096" y="1920240"/>
            <a:ext cx="585216" cy="292608"/>
          </a:xfrm>
          <a:prstGeom prst="rect">
            <a:avLst/>
          </a:prstGeom>
          <a:noFill/>
          <a:ln/>
        </p:spPr>
        <p:txBody>
          <a:bodyPr wrap="square" lIns="0" tIns="0" rIns="0" bIns="0" rtlCol="0" anchor="ctr"/>
          <a:lstStyle/>
          <a:p>
            <a:pPr algn="ctr" indent="0" marL="0">
              <a:buNone/>
            </a:pPr>
            <a:r>
              <a:rPr lang="en-US" sz="1000" b="1" dirty="0">
                <a:solidFill>
                  <a:srgbClr val="FFFFFF"/>
                </a:solidFill>
              </a:rPr>
              <a:t>20%</a:t>
            </a:r>
            <a:endParaRPr lang="en-US" sz="1000" dirty="0"/>
          </a:p>
        </p:txBody>
      </p:sp>
      <p:sp>
        <p:nvSpPr>
          <p:cNvPr id="21" name="hhi row 1 vendor 3"/>
          <p:cNvSpPr/>
          <p:nvPr/>
        </p:nvSpPr>
        <p:spPr>
          <a:xfrm>
            <a:off x="5934456" y="1920240"/>
            <a:ext cx="566928" cy="292608"/>
          </a:xfrm>
          <a:prstGeom prst="rect">
            <a:avLst/>
          </a:prstGeom>
          <a:solidFill>
            <a:srgbClr val="8A94A6"/>
          </a:solidFill>
          <a:ln/>
        </p:spPr>
      </p:sp>
      <p:sp>
        <p:nvSpPr>
          <p:cNvPr id="22" name="hhi row 1 share 3"/>
          <p:cNvSpPr txBox="1"/>
          <p:nvPr/>
        </p:nvSpPr>
        <p:spPr>
          <a:xfrm>
            <a:off x="5925312" y="1920240"/>
            <a:ext cx="585216" cy="292608"/>
          </a:xfrm>
          <a:prstGeom prst="rect">
            <a:avLst/>
          </a:prstGeom>
          <a:noFill/>
          <a:ln/>
        </p:spPr>
        <p:txBody>
          <a:bodyPr wrap="square" lIns="0" tIns="0" rIns="0" bIns="0" rtlCol="0" anchor="ctr"/>
          <a:lstStyle/>
          <a:p>
            <a:pPr algn="ctr" indent="0" marL="0">
              <a:buNone/>
            </a:pPr>
            <a:r>
              <a:rPr lang="en-US" sz="1000" b="1" dirty="0">
                <a:solidFill>
                  <a:srgbClr val="FFFFFF"/>
                </a:solidFill>
              </a:rPr>
              <a:t>20%</a:t>
            </a:r>
            <a:endParaRPr lang="en-US" sz="1000" dirty="0"/>
          </a:p>
        </p:txBody>
      </p:sp>
      <p:sp>
        <p:nvSpPr>
          <p:cNvPr id="23" name="hhi row 1 vendor 4"/>
          <p:cNvSpPr/>
          <p:nvPr/>
        </p:nvSpPr>
        <p:spPr>
          <a:xfrm>
            <a:off x="6519672" y="1920240"/>
            <a:ext cx="566928" cy="292608"/>
          </a:xfrm>
          <a:prstGeom prst="rect">
            <a:avLst/>
          </a:prstGeom>
          <a:solidFill>
            <a:srgbClr val="C9CED8"/>
          </a:solidFill>
          <a:ln/>
        </p:spPr>
      </p:sp>
      <p:sp>
        <p:nvSpPr>
          <p:cNvPr id="24" name="hhi row 1 share 4"/>
          <p:cNvSpPr txBox="1"/>
          <p:nvPr/>
        </p:nvSpPr>
        <p:spPr>
          <a:xfrm>
            <a:off x="6510528" y="1920240"/>
            <a:ext cx="585216" cy="292608"/>
          </a:xfrm>
          <a:prstGeom prst="rect">
            <a:avLst/>
          </a:prstGeom>
          <a:noFill/>
          <a:ln/>
        </p:spPr>
        <p:txBody>
          <a:bodyPr wrap="square" lIns="0" tIns="0" rIns="0" bIns="0" rtlCol="0" anchor="ctr"/>
          <a:lstStyle/>
          <a:p>
            <a:pPr algn="ctr" indent="0" marL="0">
              <a:buNone/>
            </a:pPr>
            <a:r>
              <a:rPr lang="en-US" sz="1000" b="1" dirty="0">
                <a:solidFill>
                  <a:srgbClr val="FFFFFF"/>
                </a:solidFill>
              </a:rPr>
              <a:t>20%</a:t>
            </a:r>
            <a:endParaRPr lang="en-US" sz="1000" dirty="0"/>
          </a:p>
        </p:txBody>
      </p:sp>
      <p:sp>
        <p:nvSpPr>
          <p:cNvPr id="25" name="hhi row 1 vendor 5"/>
          <p:cNvSpPr/>
          <p:nvPr/>
        </p:nvSpPr>
        <p:spPr>
          <a:xfrm>
            <a:off x="7104888" y="1920240"/>
            <a:ext cx="566928" cy="292608"/>
          </a:xfrm>
          <a:prstGeom prst="rect">
            <a:avLst/>
          </a:prstGeom>
          <a:solidFill>
            <a:srgbClr val="8A94A6"/>
          </a:solidFill>
          <a:ln/>
        </p:spPr>
      </p:sp>
      <p:sp>
        <p:nvSpPr>
          <p:cNvPr id="26" name="hhi row 1 share 5"/>
          <p:cNvSpPr txBox="1"/>
          <p:nvPr/>
        </p:nvSpPr>
        <p:spPr>
          <a:xfrm>
            <a:off x="7095744" y="1920240"/>
            <a:ext cx="585216" cy="292608"/>
          </a:xfrm>
          <a:prstGeom prst="rect">
            <a:avLst/>
          </a:prstGeom>
          <a:noFill/>
          <a:ln/>
        </p:spPr>
        <p:txBody>
          <a:bodyPr wrap="square" lIns="0" tIns="0" rIns="0" bIns="0" rtlCol="0" anchor="ctr"/>
          <a:lstStyle/>
          <a:p>
            <a:pPr algn="ctr" indent="0" marL="0">
              <a:buNone/>
            </a:pPr>
            <a:r>
              <a:rPr lang="en-US" sz="1000" b="1" dirty="0">
                <a:solidFill>
                  <a:srgbClr val="FFFFFF"/>
                </a:solidFill>
              </a:rPr>
              <a:t>20%</a:t>
            </a:r>
            <a:endParaRPr lang="en-US" sz="1000" dirty="0"/>
          </a:p>
        </p:txBody>
      </p:sp>
      <p:sp>
        <p:nvSpPr>
          <p:cNvPr id="27" name="hhi row 1 score"/>
          <p:cNvSpPr txBox="1"/>
          <p:nvPr/>
        </p:nvSpPr>
        <p:spPr>
          <a:xfrm>
            <a:off x="7772400" y="1920240"/>
            <a:ext cx="914400" cy="292608"/>
          </a:xfrm>
          <a:prstGeom prst="rect">
            <a:avLst/>
          </a:prstGeom>
          <a:noFill/>
          <a:ln/>
        </p:spPr>
        <p:txBody>
          <a:bodyPr wrap="square" lIns="0" tIns="0" rIns="0" bIns="0" rtlCol="0" anchor="ctr"/>
          <a:lstStyle/>
          <a:p>
            <a:pPr indent="0" marL="0">
              <a:buNone/>
            </a:pPr>
            <a:r>
              <a:rPr lang="en-US" sz="1600" b="1" dirty="0">
                <a:solidFill>
                  <a:srgbClr val="2E3A4D"/>
                </a:solidFill>
              </a:rPr>
              <a:t>2,000</a:t>
            </a:r>
            <a:endParaRPr lang="en-US" sz="1600" dirty="0"/>
          </a:p>
        </p:txBody>
      </p:sp>
      <p:sp>
        <p:nvSpPr>
          <p:cNvPr id="28" name="hhi row 2 label"/>
          <p:cNvSpPr txBox="1"/>
          <p:nvPr/>
        </p:nvSpPr>
        <p:spPr>
          <a:xfrm>
            <a:off x="4754880" y="2295144"/>
            <a:ext cx="2926080" cy="228600"/>
          </a:xfrm>
          <a:prstGeom prst="rect">
            <a:avLst/>
          </a:prstGeom>
          <a:noFill/>
          <a:ln/>
        </p:spPr>
        <p:txBody>
          <a:bodyPr wrap="square" lIns="0" tIns="0" rIns="0" bIns="0" rtlCol="0" anchor="t"/>
          <a:lstStyle/>
          <a:p>
            <a:pPr indent="0" marL="0">
              <a:buNone/>
            </a:pPr>
            <a:r>
              <a:rPr lang="en-US" sz="1100" dirty="0">
                <a:solidFill>
                  <a:srgbClr val="4A5568"/>
                </a:solidFill>
              </a:rPr>
              <a:t>One company with 80%</a:t>
            </a:r>
            <a:endParaRPr lang="en-US" sz="1100" dirty="0"/>
          </a:p>
        </p:txBody>
      </p:sp>
      <p:sp>
        <p:nvSpPr>
          <p:cNvPr id="29" name="hhi row 2 vendor 1"/>
          <p:cNvSpPr/>
          <p:nvPr/>
        </p:nvSpPr>
        <p:spPr>
          <a:xfrm>
            <a:off x="4764024" y="2542032"/>
            <a:ext cx="2322576" cy="292608"/>
          </a:xfrm>
          <a:prstGeom prst="rect">
            <a:avLst/>
          </a:prstGeom>
          <a:solidFill>
            <a:srgbClr val="C2410C"/>
          </a:solidFill>
          <a:ln/>
        </p:spPr>
      </p:sp>
      <p:sp>
        <p:nvSpPr>
          <p:cNvPr id="30" name="hhi row 2 share 1"/>
          <p:cNvSpPr txBox="1"/>
          <p:nvPr/>
        </p:nvSpPr>
        <p:spPr>
          <a:xfrm>
            <a:off x="4754880" y="2542032"/>
            <a:ext cx="2340864" cy="292608"/>
          </a:xfrm>
          <a:prstGeom prst="rect">
            <a:avLst/>
          </a:prstGeom>
          <a:noFill/>
          <a:ln/>
        </p:spPr>
        <p:txBody>
          <a:bodyPr wrap="square" lIns="0" tIns="0" rIns="0" bIns="0" rtlCol="0" anchor="ctr"/>
          <a:lstStyle/>
          <a:p>
            <a:pPr algn="ctr" indent="0" marL="0">
              <a:buNone/>
            </a:pPr>
            <a:r>
              <a:rPr lang="en-US" sz="1000" b="1" dirty="0">
                <a:solidFill>
                  <a:srgbClr val="FFFFFF"/>
                </a:solidFill>
              </a:rPr>
              <a:t>80%</a:t>
            </a:r>
            <a:endParaRPr lang="en-US" sz="1000" dirty="0"/>
          </a:p>
        </p:txBody>
      </p:sp>
      <p:sp>
        <p:nvSpPr>
          <p:cNvPr id="31" name="hhi row 2 vendor 2"/>
          <p:cNvSpPr/>
          <p:nvPr/>
        </p:nvSpPr>
        <p:spPr>
          <a:xfrm>
            <a:off x="7104888" y="2542032"/>
            <a:ext cx="128016" cy="292608"/>
          </a:xfrm>
          <a:prstGeom prst="rect">
            <a:avLst/>
          </a:prstGeom>
          <a:solidFill>
            <a:srgbClr val="C9CED8"/>
          </a:solidFill>
          <a:ln/>
        </p:spPr>
      </p:sp>
      <p:sp>
        <p:nvSpPr>
          <p:cNvPr id="32" name="hhi row 2 vendor 3"/>
          <p:cNvSpPr/>
          <p:nvPr/>
        </p:nvSpPr>
        <p:spPr>
          <a:xfrm>
            <a:off x="7251192" y="2542032"/>
            <a:ext cx="128016" cy="292608"/>
          </a:xfrm>
          <a:prstGeom prst="rect">
            <a:avLst/>
          </a:prstGeom>
          <a:solidFill>
            <a:srgbClr val="8A94A6"/>
          </a:solidFill>
          <a:ln/>
        </p:spPr>
      </p:sp>
      <p:sp>
        <p:nvSpPr>
          <p:cNvPr id="33" name="hhi row 2 vendor 4"/>
          <p:cNvSpPr/>
          <p:nvPr/>
        </p:nvSpPr>
        <p:spPr>
          <a:xfrm>
            <a:off x="7397496" y="2542032"/>
            <a:ext cx="128016" cy="292608"/>
          </a:xfrm>
          <a:prstGeom prst="rect">
            <a:avLst/>
          </a:prstGeom>
          <a:solidFill>
            <a:srgbClr val="C9CED8"/>
          </a:solidFill>
          <a:ln/>
        </p:spPr>
      </p:sp>
      <p:sp>
        <p:nvSpPr>
          <p:cNvPr id="34" name="hhi row 2 vendor 5"/>
          <p:cNvSpPr/>
          <p:nvPr/>
        </p:nvSpPr>
        <p:spPr>
          <a:xfrm>
            <a:off x="7543800" y="2542032"/>
            <a:ext cx="128016" cy="292608"/>
          </a:xfrm>
          <a:prstGeom prst="rect">
            <a:avLst/>
          </a:prstGeom>
          <a:solidFill>
            <a:srgbClr val="8A94A6"/>
          </a:solidFill>
          <a:ln/>
        </p:spPr>
      </p:sp>
      <p:sp>
        <p:nvSpPr>
          <p:cNvPr id="35" name="hhi row 2 score"/>
          <p:cNvSpPr txBox="1"/>
          <p:nvPr/>
        </p:nvSpPr>
        <p:spPr>
          <a:xfrm>
            <a:off x="7772400" y="2542032"/>
            <a:ext cx="914400" cy="292608"/>
          </a:xfrm>
          <a:prstGeom prst="rect">
            <a:avLst/>
          </a:prstGeom>
          <a:noFill/>
          <a:ln/>
        </p:spPr>
        <p:txBody>
          <a:bodyPr wrap="square" lIns="0" tIns="0" rIns="0" bIns="0" rtlCol="0" anchor="ctr"/>
          <a:lstStyle/>
          <a:p>
            <a:pPr indent="0" marL="0">
              <a:buNone/>
            </a:pPr>
            <a:r>
              <a:rPr lang="en-US" sz="1600" b="1" dirty="0">
                <a:solidFill>
                  <a:srgbClr val="C2410C"/>
                </a:solidFill>
              </a:rPr>
              <a:t>6,500</a:t>
            </a:r>
            <a:endParaRPr lang="en-US" sz="1600" dirty="0"/>
          </a:p>
        </p:txBody>
      </p:sp>
      <p:sp>
        <p:nvSpPr>
          <p:cNvPr id="36" name="band 1"/>
          <p:cNvSpPr/>
          <p:nvPr/>
        </p:nvSpPr>
        <p:spPr>
          <a:xfrm>
            <a:off x="457200" y="3401568"/>
            <a:ext cx="1234440" cy="292608"/>
          </a:xfrm>
          <a:prstGeom prst="rect">
            <a:avLst/>
          </a:prstGeom>
          <a:solidFill>
            <a:srgbClr val="4D7C6F"/>
          </a:solidFill>
          <a:ln/>
        </p:spPr>
      </p:sp>
      <p:sp>
        <p:nvSpPr>
          <p:cNvPr id="37" name="band 1 label"/>
          <p:cNvSpPr txBox="1"/>
          <p:nvPr/>
        </p:nvSpPr>
        <p:spPr>
          <a:xfrm>
            <a:off x="530352" y="3401568"/>
            <a:ext cx="1124712" cy="292608"/>
          </a:xfrm>
          <a:prstGeom prst="rect">
            <a:avLst/>
          </a:prstGeom>
          <a:noFill/>
          <a:ln/>
        </p:spPr>
        <p:txBody>
          <a:bodyPr wrap="square" lIns="0" tIns="0" rIns="0" bIns="0" rtlCol="0" anchor="ctr"/>
          <a:lstStyle/>
          <a:p>
            <a:pPr algn="ctr" indent="0" marL="0">
              <a:buNone/>
            </a:pPr>
            <a:r>
              <a:rPr lang="en-US" sz="1000" b="1" dirty="0">
                <a:solidFill>
                  <a:srgbClr val="FFFFFF"/>
                </a:solidFill>
              </a:rPr>
              <a:t>Competitive</a:t>
            </a:r>
            <a:endParaRPr lang="en-US" sz="1000" dirty="0"/>
          </a:p>
        </p:txBody>
      </p:sp>
      <p:sp>
        <p:nvSpPr>
          <p:cNvPr id="38" name="band 2"/>
          <p:cNvSpPr/>
          <p:nvPr/>
        </p:nvSpPr>
        <p:spPr>
          <a:xfrm>
            <a:off x="1691640" y="3401568"/>
            <a:ext cx="822960" cy="292608"/>
          </a:xfrm>
          <a:prstGeom prst="rect">
            <a:avLst/>
          </a:prstGeom>
          <a:solidFill>
            <a:srgbClr val="D9911F"/>
          </a:solidFill>
          <a:ln/>
        </p:spPr>
      </p:sp>
      <p:sp>
        <p:nvSpPr>
          <p:cNvPr id="39" name="band 2 label"/>
          <p:cNvSpPr txBox="1"/>
          <p:nvPr/>
        </p:nvSpPr>
        <p:spPr>
          <a:xfrm>
            <a:off x="1764792" y="3401568"/>
            <a:ext cx="713232" cy="292608"/>
          </a:xfrm>
          <a:prstGeom prst="rect">
            <a:avLst/>
          </a:prstGeom>
          <a:noFill/>
          <a:ln/>
        </p:spPr>
        <p:txBody>
          <a:bodyPr wrap="square" lIns="0" tIns="0" rIns="0" bIns="0" rtlCol="0" anchor="ctr"/>
          <a:lstStyle/>
          <a:p>
            <a:pPr algn="ctr" indent="0" marL="0">
              <a:buNone/>
            </a:pPr>
            <a:r>
              <a:rPr lang="en-US" sz="1000" b="1" dirty="0">
                <a:solidFill>
                  <a:srgbClr val="FFFFFF"/>
                </a:solidFill>
              </a:rPr>
              <a:t>Moderate</a:t>
            </a:r>
            <a:endParaRPr lang="en-US" sz="1000" dirty="0"/>
          </a:p>
        </p:txBody>
      </p:sp>
      <p:sp>
        <p:nvSpPr>
          <p:cNvPr id="40" name="band 3"/>
          <p:cNvSpPr/>
          <p:nvPr/>
        </p:nvSpPr>
        <p:spPr>
          <a:xfrm>
            <a:off x="2514600" y="3401568"/>
            <a:ext cx="6172200" cy="292608"/>
          </a:xfrm>
          <a:prstGeom prst="rect">
            <a:avLst/>
          </a:prstGeom>
          <a:solidFill>
            <a:srgbClr val="C2410C"/>
          </a:solidFill>
          <a:ln/>
        </p:spPr>
      </p:sp>
      <p:sp>
        <p:nvSpPr>
          <p:cNvPr id="41" name="band 3 label"/>
          <p:cNvSpPr txBox="1"/>
          <p:nvPr/>
        </p:nvSpPr>
        <p:spPr>
          <a:xfrm>
            <a:off x="2587752" y="3401568"/>
            <a:ext cx="6062472" cy="292608"/>
          </a:xfrm>
          <a:prstGeom prst="rect">
            <a:avLst/>
          </a:prstGeom>
          <a:noFill/>
          <a:ln/>
        </p:spPr>
        <p:txBody>
          <a:bodyPr wrap="square" lIns="0" tIns="0" rIns="0" bIns="0" rtlCol="0" anchor="ctr"/>
          <a:lstStyle/>
          <a:p>
            <a:pPr algn="l" indent="0" marL="0">
              <a:buNone/>
            </a:pPr>
            <a:r>
              <a:rPr lang="en-US" sz="1000" b="1" dirty="0">
                <a:solidFill>
                  <a:srgbClr val="FFFFFF"/>
                </a:solidFill>
              </a:rPr>
              <a:t>Highly concentrated: above 2,500</a:t>
            </a:r>
            <a:endParaRPr lang="en-US" sz="1000" dirty="0"/>
          </a:p>
        </p:txBody>
      </p:sp>
      <p:sp>
        <p:nvSpPr>
          <p:cNvPr id="42" name="example marker"/>
          <p:cNvSpPr/>
          <p:nvPr/>
        </p:nvSpPr>
        <p:spPr>
          <a:xfrm rot="10800000">
            <a:off x="8341321" y="3218688"/>
            <a:ext cx="164592" cy="146304"/>
          </a:xfrm>
          <a:prstGeom prst="triangle">
            <a:avLst/>
          </a:prstGeom>
          <a:solidFill>
            <a:srgbClr val="1F2430"/>
          </a:solidFill>
          <a:ln/>
        </p:spPr>
      </p:sp>
      <p:sp>
        <p:nvSpPr>
          <p:cNvPr id="43" name="example marker label"/>
          <p:cNvSpPr txBox="1"/>
          <p:nvPr/>
        </p:nvSpPr>
        <p:spPr>
          <a:xfrm>
            <a:off x="6046177" y="2990088"/>
            <a:ext cx="2286000" cy="219456"/>
          </a:xfrm>
          <a:prstGeom prst="rect">
            <a:avLst/>
          </a:prstGeom>
          <a:noFill/>
          <a:ln/>
        </p:spPr>
        <p:txBody>
          <a:bodyPr wrap="square" lIns="0" tIns="0" rIns="0" bIns="0" rtlCol="0" anchor="t"/>
          <a:lstStyle/>
          <a:p>
            <a:pPr algn="r" indent="0" marL="0">
              <a:buNone/>
            </a:pPr>
            <a:r>
              <a:rPr lang="en-US" sz="1000" b="1" dirty="0">
                <a:solidFill>
                  <a:srgbClr val="1F2430"/>
                </a:solidFill>
              </a:rPr>
              <a:t>VA managed healthcare: 9,680</a:t>
            </a:r>
            <a:endParaRPr lang="en-US" sz="1000" dirty="0"/>
          </a:p>
        </p:txBody>
      </p:sp>
      <p:sp>
        <p:nvSpPr>
          <p:cNvPr id="44" name="scale tick 1"/>
          <p:cNvSpPr txBox="1"/>
          <p:nvPr/>
        </p:nvSpPr>
        <p:spPr>
          <a:xfrm>
            <a:off x="457200" y="3730752"/>
            <a:ext cx="1828800" cy="201168"/>
          </a:xfrm>
          <a:prstGeom prst="rect">
            <a:avLst/>
          </a:prstGeom>
          <a:noFill/>
          <a:ln/>
        </p:spPr>
        <p:txBody>
          <a:bodyPr wrap="square" lIns="0" tIns="0" rIns="0" bIns="0" rtlCol="0" anchor="t"/>
          <a:lstStyle/>
          <a:p>
            <a:pPr algn="l" indent="0" marL="0">
              <a:buNone/>
            </a:pPr>
            <a:r>
              <a:rPr lang="en-US" sz="1000" dirty="0">
                <a:solidFill>
                  <a:srgbClr val="4A5568"/>
                </a:solidFill>
              </a:rPr>
              <a:t>0</a:t>
            </a:r>
            <a:endParaRPr lang="en-US" sz="1000" dirty="0"/>
          </a:p>
        </p:txBody>
      </p:sp>
      <p:sp>
        <p:nvSpPr>
          <p:cNvPr id="45" name="scale tick 2"/>
          <p:cNvSpPr txBox="1"/>
          <p:nvPr/>
        </p:nvSpPr>
        <p:spPr>
          <a:xfrm>
            <a:off x="1508760" y="3730752"/>
            <a:ext cx="1828800" cy="201168"/>
          </a:xfrm>
          <a:prstGeom prst="rect">
            <a:avLst/>
          </a:prstGeom>
          <a:noFill/>
          <a:ln/>
        </p:spPr>
        <p:txBody>
          <a:bodyPr wrap="square" lIns="0" tIns="0" rIns="0" bIns="0" rtlCol="0" anchor="t"/>
          <a:lstStyle/>
          <a:p>
            <a:pPr algn="l" indent="0" marL="0">
              <a:buNone/>
            </a:pPr>
            <a:r>
              <a:rPr lang="en-US" sz="1000" dirty="0">
                <a:solidFill>
                  <a:srgbClr val="4A5568"/>
                </a:solidFill>
              </a:rPr>
              <a:t>1,500</a:t>
            </a:r>
            <a:endParaRPr lang="en-US" sz="1000" dirty="0"/>
          </a:p>
        </p:txBody>
      </p:sp>
      <p:sp>
        <p:nvSpPr>
          <p:cNvPr id="46" name="scale tick 3"/>
          <p:cNvSpPr txBox="1"/>
          <p:nvPr/>
        </p:nvSpPr>
        <p:spPr>
          <a:xfrm>
            <a:off x="2331720" y="3730752"/>
            <a:ext cx="1828800" cy="201168"/>
          </a:xfrm>
          <a:prstGeom prst="rect">
            <a:avLst/>
          </a:prstGeom>
          <a:noFill/>
          <a:ln/>
        </p:spPr>
        <p:txBody>
          <a:bodyPr wrap="square" lIns="0" tIns="0" rIns="0" bIns="0" rtlCol="0" anchor="t"/>
          <a:lstStyle/>
          <a:p>
            <a:pPr algn="l" indent="0" marL="0">
              <a:buNone/>
            </a:pPr>
            <a:r>
              <a:rPr lang="en-US" sz="1000" dirty="0">
                <a:solidFill>
                  <a:srgbClr val="4A5568"/>
                </a:solidFill>
              </a:rPr>
              <a:t>2,500</a:t>
            </a:r>
            <a:endParaRPr lang="en-US" sz="1000" dirty="0"/>
          </a:p>
        </p:txBody>
      </p:sp>
      <p:sp>
        <p:nvSpPr>
          <p:cNvPr id="47" name="scale tick 4"/>
          <p:cNvSpPr txBox="1"/>
          <p:nvPr/>
        </p:nvSpPr>
        <p:spPr>
          <a:xfrm>
            <a:off x="6858000" y="3730752"/>
            <a:ext cx="1828800" cy="201168"/>
          </a:xfrm>
          <a:prstGeom prst="rect">
            <a:avLst/>
          </a:prstGeom>
          <a:noFill/>
          <a:ln/>
        </p:spPr>
        <p:txBody>
          <a:bodyPr wrap="square" lIns="0" tIns="0" rIns="0" bIns="0" rtlCol="0" anchor="t"/>
          <a:lstStyle/>
          <a:p>
            <a:pPr algn="r" indent="0" marL="0">
              <a:buNone/>
            </a:pPr>
            <a:r>
              <a:rPr lang="en-US" sz="1000" dirty="0">
                <a:solidFill>
                  <a:srgbClr val="4A5568"/>
                </a:solidFill>
              </a:rPr>
              <a:t>10,000 = one company</a:t>
            </a:r>
            <a:endParaRPr lang="en-US" sz="1000" dirty="0"/>
          </a:p>
        </p:txBody>
      </p:sp>
      <p:sp>
        <p:nvSpPr>
          <p:cNvPr id="48" name="takeaway box"/>
          <p:cNvSpPr/>
          <p:nvPr/>
        </p:nvSpPr>
        <p:spPr>
          <a:xfrm>
            <a:off x="457200" y="4160520"/>
            <a:ext cx="8229600" cy="566928"/>
          </a:xfrm>
          <a:prstGeom prst="roundRect">
            <a:avLst>
              <a:gd name="adj" fmla="val 12903"/>
            </a:avLst>
          </a:prstGeom>
          <a:solidFill>
            <a:srgbClr val="EEF0F3"/>
          </a:solidFill>
          <a:ln/>
        </p:spPr>
      </p:sp>
      <p:sp>
        <p:nvSpPr>
          <p:cNvPr id="49" name="takeaway"/>
          <p:cNvSpPr txBox="1"/>
          <p:nvPr/>
        </p:nvSpPr>
        <p:spPr>
          <a:xfrm>
            <a:off x="640080" y="4160520"/>
            <a:ext cx="7863840" cy="566928"/>
          </a:xfrm>
          <a:prstGeom prst="rect">
            <a:avLst/>
          </a:prstGeom>
          <a:noFill/>
          <a:ln/>
        </p:spPr>
        <p:txBody>
          <a:bodyPr wrap="square" lIns="0" tIns="0" rIns="0" bIns="0" rtlCol="0" anchor="ctr"/>
          <a:lstStyle/>
          <a:p>
            <a:pPr indent="0" marL="0">
              <a:buNone/>
            </a:pPr>
            <a:r>
              <a:rPr lang="en-US" sz="1400" b="1" dirty="0">
                <a:solidFill>
                  <a:srgbClr val="C2410C"/>
                </a:solidFill>
              </a:rPr>
              <a:t>What this means   </a:t>
            </a:r>
            <a:pPr indent="0" marL="0">
              <a:buNone/>
            </a:pPr>
            <a:r>
              <a:rPr lang="en-US" sz="1400" dirty="0">
                <a:solidFill>
                  <a:srgbClr val="1F2430"/>
                </a:solidFill>
              </a:rPr>
              <a:t>A segment is one market: one buyer, one kind of product, one year. Its score says how much of that market's money went to the top companies.</a:t>
            </a:r>
            <a:endParaRPr lang="en-US" sz="1400" dirty="0"/>
          </a:p>
        </p:txBody>
      </p:sp>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rtlCol="0" anchor="ctr"/>
          <a:lstStyle/>
          <a:p>
            <a:pPr algn="l" indent="0" marL="0">
              <a:buNone/>
            </a:pPr>
            <a:r>
              <a:rPr lang="en-US" sz="2600" b="1" dirty="0">
                <a:solidFill>
                  <a:srgbClr val="1F2430"/>
                </a:solidFill>
                <a:latin typeface="Cambria" pitchFamily="34" charset="0"/>
                <a:ea typeface="Cambria" pitchFamily="34" charset="-122"/>
                <a:cs typeface="Cambria" pitchFamily="34" charset="-120"/>
              </a:rPr>
              <a:t>Finding 1: half of civilian money is concentrated</a:t>
            </a:r>
            <a:endParaRPr lang="en-US" sz="2600" dirty="0"/>
          </a:p>
        </p:txBody>
      </p:sp>
      <p:sp>
        <p:nvSpPr>
          <p:cNvPr id="4" name="measure 1"/>
          <p:cNvSpPr txBox="1"/>
          <p:nvPr/>
        </p:nvSpPr>
        <p:spPr>
          <a:xfrm>
            <a:off x="457200" y="914400"/>
            <a:ext cx="1874520" cy="457200"/>
          </a:xfrm>
          <a:prstGeom prst="rect">
            <a:avLst/>
          </a:prstGeom>
          <a:noFill/>
          <a:ln/>
        </p:spPr>
        <p:txBody>
          <a:bodyPr wrap="square" lIns="0" tIns="0" rIns="0" bIns="0" rtlCol="0" anchor="b"/>
          <a:lstStyle/>
          <a:p>
            <a:pPr algn="ctr" indent="0" marL="0">
              <a:buNone/>
            </a:pPr>
            <a:r>
              <a:rPr lang="en-US" sz="2400" b="1" dirty="0">
                <a:solidFill>
                  <a:srgbClr val="C2410C"/>
                </a:solidFill>
                <a:latin typeface="Cambria" pitchFamily="34" charset="0"/>
                <a:ea typeface="Cambria" pitchFamily="34" charset="-122"/>
                <a:cs typeface="Cambria" pitchFamily="34" charset="-120"/>
              </a:rPr>
              <a:t>$152B</a:t>
            </a:r>
            <a:endParaRPr lang="en-US" sz="2400" dirty="0"/>
          </a:p>
        </p:txBody>
      </p:sp>
      <p:sp>
        <p:nvSpPr>
          <p:cNvPr id="5" name="measure 1 label"/>
          <p:cNvSpPr txBox="1"/>
          <p:nvPr/>
        </p:nvSpPr>
        <p:spPr>
          <a:xfrm>
            <a:off x="457200" y="1371600"/>
            <a:ext cx="1874520" cy="292608"/>
          </a:xfrm>
          <a:prstGeom prst="rect">
            <a:avLst/>
          </a:prstGeom>
          <a:noFill/>
          <a:ln/>
        </p:spPr>
        <p:txBody>
          <a:bodyPr wrap="square" lIns="0" tIns="0" rIns="0" bIns="0" rtlCol="0" anchor="t"/>
          <a:lstStyle/>
          <a:p>
            <a:pPr algn="ctr" indent="0" marL="0">
              <a:buNone/>
            </a:pPr>
            <a:r>
              <a:rPr lang="en-US" sz="1100" dirty="0">
                <a:solidFill>
                  <a:srgbClr val="4A5568"/>
                </a:solidFill>
              </a:rPr>
              <a:t>in segments above 2,500</a:t>
            </a:r>
            <a:endParaRPr lang="en-US" sz="1100" dirty="0"/>
          </a:p>
        </p:txBody>
      </p:sp>
      <p:sp>
        <p:nvSpPr>
          <p:cNvPr id="6" name="measure 2"/>
          <p:cNvSpPr txBox="1"/>
          <p:nvPr/>
        </p:nvSpPr>
        <p:spPr>
          <a:xfrm>
            <a:off x="2423160" y="914400"/>
            <a:ext cx="320040" cy="457200"/>
          </a:xfrm>
          <a:prstGeom prst="rect">
            <a:avLst/>
          </a:prstGeom>
          <a:noFill/>
          <a:ln/>
        </p:spPr>
        <p:txBody>
          <a:bodyPr wrap="square" lIns="0" tIns="0" rIns="0" bIns="0" rtlCol="0" anchor="b"/>
          <a:lstStyle/>
          <a:p>
            <a:pPr algn="ctr" indent="0" marL="0">
              <a:buNone/>
            </a:pPr>
            <a:r>
              <a:rPr lang="en-US" sz="2200" b="1" dirty="0">
                <a:solidFill>
                  <a:srgbClr val="8A94A6"/>
                </a:solidFill>
                <a:latin typeface="Cambria" pitchFamily="34" charset="0"/>
                <a:ea typeface="Cambria" pitchFamily="34" charset="-122"/>
                <a:cs typeface="Cambria" pitchFamily="34" charset="-120"/>
              </a:rPr>
              <a:t>÷</a:t>
            </a:r>
            <a:endParaRPr lang="en-US" sz="2200" dirty="0"/>
          </a:p>
        </p:txBody>
      </p:sp>
      <p:sp>
        <p:nvSpPr>
          <p:cNvPr id="7" name="measure 3"/>
          <p:cNvSpPr txBox="1"/>
          <p:nvPr/>
        </p:nvSpPr>
        <p:spPr>
          <a:xfrm>
            <a:off x="2834640" y="914400"/>
            <a:ext cx="1874520" cy="457200"/>
          </a:xfrm>
          <a:prstGeom prst="rect">
            <a:avLst/>
          </a:prstGeom>
          <a:noFill/>
          <a:ln/>
        </p:spPr>
        <p:txBody>
          <a:bodyPr wrap="square" lIns="0" tIns="0" rIns="0" bIns="0" rtlCol="0" anchor="b"/>
          <a:lstStyle/>
          <a:p>
            <a:pPr algn="ctr" indent="0" marL="0">
              <a:buNone/>
            </a:pPr>
            <a:r>
              <a:rPr lang="en-US" sz="2400" b="1" dirty="0">
                <a:solidFill>
                  <a:srgbClr val="2E3A4D"/>
                </a:solidFill>
                <a:latin typeface="Cambria" pitchFamily="34" charset="0"/>
                <a:ea typeface="Cambria" pitchFamily="34" charset="-122"/>
                <a:cs typeface="Cambria" pitchFamily="34" charset="-120"/>
              </a:rPr>
              <a:t>$301B</a:t>
            </a:r>
            <a:endParaRPr lang="en-US" sz="2400" dirty="0"/>
          </a:p>
        </p:txBody>
      </p:sp>
      <p:sp>
        <p:nvSpPr>
          <p:cNvPr id="8" name="measure 3 label"/>
          <p:cNvSpPr txBox="1"/>
          <p:nvPr/>
        </p:nvSpPr>
        <p:spPr>
          <a:xfrm>
            <a:off x="2834640" y="1371600"/>
            <a:ext cx="1874520" cy="292608"/>
          </a:xfrm>
          <a:prstGeom prst="rect">
            <a:avLst/>
          </a:prstGeom>
          <a:noFill/>
          <a:ln/>
        </p:spPr>
        <p:txBody>
          <a:bodyPr wrap="square" lIns="0" tIns="0" rIns="0" bIns="0" rtlCol="0" anchor="t"/>
          <a:lstStyle/>
          <a:p>
            <a:pPr algn="ctr" indent="0" marL="0">
              <a:buNone/>
            </a:pPr>
            <a:r>
              <a:rPr lang="en-US" sz="1100" dirty="0">
                <a:solidFill>
                  <a:srgbClr val="4A5568"/>
                </a:solidFill>
              </a:rPr>
              <a:t>all civilian contract dollars, FY2025</a:t>
            </a:r>
            <a:endParaRPr lang="en-US" sz="1100" dirty="0"/>
          </a:p>
        </p:txBody>
      </p:sp>
      <p:sp>
        <p:nvSpPr>
          <p:cNvPr id="9" name="measure 4"/>
          <p:cNvSpPr txBox="1"/>
          <p:nvPr/>
        </p:nvSpPr>
        <p:spPr>
          <a:xfrm>
            <a:off x="4800600" y="914400"/>
            <a:ext cx="320040" cy="457200"/>
          </a:xfrm>
          <a:prstGeom prst="rect">
            <a:avLst/>
          </a:prstGeom>
          <a:noFill/>
          <a:ln/>
        </p:spPr>
        <p:txBody>
          <a:bodyPr wrap="square" lIns="0" tIns="0" rIns="0" bIns="0" rtlCol="0" anchor="b"/>
          <a:lstStyle/>
          <a:p>
            <a:pPr algn="ctr" indent="0" marL="0">
              <a:buNone/>
            </a:pPr>
            <a:r>
              <a:rPr lang="en-US" sz="2200" b="1" dirty="0">
                <a:solidFill>
                  <a:srgbClr val="8A94A6"/>
                </a:solidFill>
                <a:latin typeface="Cambria" pitchFamily="34" charset="0"/>
                <a:ea typeface="Cambria" pitchFamily="34" charset="-122"/>
                <a:cs typeface="Cambria" pitchFamily="34" charset="-120"/>
              </a:rPr>
              <a:t>=</a:t>
            </a:r>
            <a:endParaRPr lang="en-US" sz="2200" dirty="0"/>
          </a:p>
        </p:txBody>
      </p:sp>
      <p:sp>
        <p:nvSpPr>
          <p:cNvPr id="10" name="measure 5"/>
          <p:cNvSpPr txBox="1"/>
          <p:nvPr/>
        </p:nvSpPr>
        <p:spPr>
          <a:xfrm>
            <a:off x="5212080" y="914400"/>
            <a:ext cx="1874520" cy="457200"/>
          </a:xfrm>
          <a:prstGeom prst="rect">
            <a:avLst/>
          </a:prstGeom>
          <a:noFill/>
          <a:ln/>
        </p:spPr>
        <p:txBody>
          <a:bodyPr wrap="square" lIns="0" tIns="0" rIns="0" bIns="0" rtlCol="0" anchor="b"/>
          <a:lstStyle/>
          <a:p>
            <a:pPr algn="ctr" indent="0" marL="0">
              <a:buNone/>
            </a:pPr>
            <a:r>
              <a:rPr lang="en-US" sz="2400" b="1" dirty="0">
                <a:solidFill>
                  <a:srgbClr val="C2410C"/>
                </a:solidFill>
                <a:latin typeface="Cambria" pitchFamily="34" charset="0"/>
                <a:ea typeface="Cambria" pitchFamily="34" charset="-122"/>
                <a:cs typeface="Cambria" pitchFamily="34" charset="-120"/>
              </a:rPr>
              <a:t>50%</a:t>
            </a:r>
            <a:endParaRPr lang="en-US" sz="2400" dirty="0"/>
          </a:p>
        </p:txBody>
      </p:sp>
      <p:sp>
        <p:nvSpPr>
          <p:cNvPr id="11" name="measure 5 label"/>
          <p:cNvSpPr txBox="1"/>
          <p:nvPr/>
        </p:nvSpPr>
        <p:spPr>
          <a:xfrm>
            <a:off x="5212080" y="1371600"/>
            <a:ext cx="1874520" cy="292608"/>
          </a:xfrm>
          <a:prstGeom prst="rect">
            <a:avLst/>
          </a:prstGeom>
          <a:noFill/>
          <a:ln/>
        </p:spPr>
        <p:txBody>
          <a:bodyPr wrap="square" lIns="0" tIns="0" rIns="0" bIns="0" rtlCol="0" anchor="t"/>
          <a:lstStyle/>
          <a:p>
            <a:pPr algn="ctr" indent="0" marL="0">
              <a:buNone/>
            </a:pPr>
            <a:r>
              <a:rPr lang="en-US" sz="1100" dirty="0">
                <a:solidFill>
                  <a:srgbClr val="4A5568"/>
                </a:solidFill>
              </a:rPr>
              <a:t>highly concentrated</a:t>
            </a:r>
            <a:endParaRPr lang="en-US" sz="1100" dirty="0"/>
          </a:p>
        </p:txBody>
      </p:sp>
      <p:graphicFrame>
        <p:nvGraphicFramePr>
          <p:cNvPr id="12" name="trend chart" descr=""/>
          <p:cNvGraphicFramePr/>
          <p:nvPr/>
        </p:nvGraphicFramePr>
        <p:xfrm>
          <a:off x="365760" y="1737360"/>
          <a:ext cx="5486400" cy="2377440"/>
        </p:xfrm>
        <a:graphic xmlns:a="http://schemas.openxmlformats.org/drawingml/2006/main">
          <a:graphicData uri="http://schemas.openxmlformats.org/drawingml/2006/chart">
            <c:chart xmlns:c="http://schemas.openxmlformats.org/drawingml/2006/chart" r:id="rId1"/>
          </a:graphicData>
        </a:graphic>
      </p:graphicFrame>
      <p:sp>
        <p:nvSpPr>
          <p:cNvPr id="13" name="dip card"/>
          <p:cNvSpPr/>
          <p:nvPr/>
        </p:nvSpPr>
        <p:spPr>
          <a:xfrm>
            <a:off x="6080760" y="1783080"/>
            <a:ext cx="2606040" cy="1828800"/>
          </a:xfrm>
          <a:prstGeom prst="roundRect">
            <a:avLst>
              <a:gd name="adj" fmla="val 4000"/>
            </a:avLst>
          </a:prstGeom>
          <a:solidFill>
            <a:srgbClr val="EEF0F3"/>
          </a:solidFill>
          <a:ln/>
        </p:spPr>
      </p:sp>
      <p:sp>
        <p:nvSpPr>
          <p:cNvPr id="14" name="dip text"/>
          <p:cNvSpPr txBox="1"/>
          <p:nvPr/>
        </p:nvSpPr>
        <p:spPr>
          <a:xfrm>
            <a:off x="6263640" y="1901952"/>
            <a:ext cx="2286000" cy="1645920"/>
          </a:xfrm>
          <a:prstGeom prst="rect">
            <a:avLst/>
          </a:prstGeom>
          <a:noFill/>
          <a:ln/>
        </p:spPr>
        <p:txBody>
          <a:bodyPr wrap="square" lIns="0" tIns="0" rIns="0" bIns="0" rtlCol="0" anchor="t"/>
          <a:lstStyle/>
          <a:p>
            <a:pPr indent="0" marL="0">
              <a:spcAft>
                <a:spcPts val="600"/>
              </a:spcAft>
              <a:buNone/>
            </a:pPr>
            <a:r>
              <a:rPr lang="en-US" sz="1300" b="1" dirty="0">
                <a:solidFill>
                  <a:srgbClr val="1F2430"/>
                </a:solidFill>
              </a:rPr>
              <a:t>Why the dip in FY2024?</a:t>
            </a:r>
            <a:endParaRPr lang="en-US" sz="1300" dirty="0"/>
          </a:p>
          <a:p>
            <a:pPr indent="0" marL="0">
              <a:spcAft>
                <a:spcPts val="600"/>
              </a:spcAft>
              <a:buNone/>
            </a:pPr>
            <a:r>
              <a:rPr lang="en-US" sz="1200" dirty="0">
                <a:solidFill>
                  <a:srgbClr val="4A5568"/>
                </a:solidFill>
              </a:rPr>
              <a:t>One Department of Energy segment, contractors operating its buildings and sites ($16.8B), fell below 2,500 that year. It explains $15.2B of the $19.4B drop.</a:t>
            </a:r>
            <a:endParaRPr lang="en-US" sz="1300" dirty="0"/>
          </a:p>
        </p:txBody>
      </p:sp>
      <p:sp>
        <p:nvSpPr>
          <p:cNvPr id="15" name="takeaway box"/>
          <p:cNvSpPr/>
          <p:nvPr/>
        </p:nvSpPr>
        <p:spPr>
          <a:xfrm>
            <a:off x="457200" y="4160520"/>
            <a:ext cx="8229600" cy="566928"/>
          </a:xfrm>
          <a:prstGeom prst="roundRect">
            <a:avLst>
              <a:gd name="adj" fmla="val 12903"/>
            </a:avLst>
          </a:prstGeom>
          <a:solidFill>
            <a:srgbClr val="EEF0F3"/>
          </a:solidFill>
          <a:ln/>
        </p:spPr>
      </p:sp>
      <p:sp>
        <p:nvSpPr>
          <p:cNvPr id="16" name="takeaway"/>
          <p:cNvSpPr txBox="1"/>
          <p:nvPr/>
        </p:nvSpPr>
        <p:spPr>
          <a:xfrm>
            <a:off x="640080" y="4160520"/>
            <a:ext cx="7863840" cy="566928"/>
          </a:xfrm>
          <a:prstGeom prst="rect">
            <a:avLst/>
          </a:prstGeom>
          <a:noFill/>
          <a:ln/>
        </p:spPr>
        <p:txBody>
          <a:bodyPr wrap="square" lIns="0" tIns="0" rIns="0" bIns="0" rtlCol="0" anchor="ctr"/>
          <a:lstStyle/>
          <a:p>
            <a:pPr indent="0" marL="0">
              <a:buNone/>
            </a:pPr>
            <a:r>
              <a:rPr lang="en-US" sz="1400" b="1" dirty="0">
                <a:solidFill>
                  <a:srgbClr val="C2410C"/>
                </a:solidFill>
              </a:rPr>
              <a:t>What this means   </a:t>
            </a:r>
            <a:pPr indent="0" marL="0">
              <a:buNone/>
            </a:pPr>
            <a:r>
              <a:rPr lang="en-US" sz="1400" dirty="0">
                <a:solidFill>
                  <a:srgbClr val="1F2430"/>
                </a:solidFill>
              </a:rPr>
              <a:t>Since FY2014, a growing share of civilian contract money goes to markets where a few companies win most of it, while civilian contract spending doubled.</a:t>
            </a:r>
            <a:endParaRPr lang="en-US" sz="1400" dirty="0"/>
          </a:p>
        </p:txBody>
      </p:sp>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rtlCol="0" anchor="ctr"/>
          <a:lstStyle/>
          <a:p>
            <a:pPr algn="l" indent="0" marL="0">
              <a:buNone/>
            </a:pPr>
            <a:r>
              <a:rPr lang="en-US" sz="2600" b="1" dirty="0">
                <a:solidFill>
                  <a:srgbClr val="1F2430"/>
                </a:solidFill>
                <a:latin typeface="Cambria" pitchFamily="34" charset="0"/>
                <a:ea typeface="Cambria" pitchFamily="34" charset="-122"/>
                <a:cs typeface="Cambria" pitchFamily="34" charset="-120"/>
              </a:rPr>
              <a:t>Finding 2: Veterans Affairs leads, in health care</a:t>
            </a:r>
            <a:endParaRPr lang="en-US" sz="2600" dirty="0"/>
          </a:p>
        </p:txBody>
      </p:sp>
      <p:graphicFrame>
        <p:nvGraphicFramePr>
          <p:cNvPr id="4" name="agency chart" descr=""/>
          <p:cNvGraphicFramePr/>
          <p:nvPr/>
        </p:nvGraphicFramePr>
        <p:xfrm>
          <a:off x="365760" y="914400"/>
          <a:ext cx="4297680" cy="3200400"/>
        </p:xfrm>
        <a:graphic xmlns:a="http://schemas.openxmlformats.org/drawingml/2006/main">
          <a:graphicData uri="http://schemas.openxmlformats.org/drawingml/2006/chart">
            <c:chart xmlns:c="http://schemas.openxmlformats.org/drawingml/2006/chart" r:id="rId1"/>
          </a:graphicData>
        </a:graphic>
      </p:graphicFrame>
      <p:sp>
        <p:nvSpPr>
          <p:cNvPr id="5" name="segments card"/>
          <p:cNvSpPr/>
          <p:nvPr/>
        </p:nvSpPr>
        <p:spPr>
          <a:xfrm>
            <a:off x="4892040" y="960120"/>
            <a:ext cx="3794760" cy="3108960"/>
          </a:xfrm>
          <a:prstGeom prst="roundRect">
            <a:avLst>
              <a:gd name="adj" fmla="val 2353"/>
            </a:avLst>
          </a:prstGeom>
          <a:solidFill>
            <a:srgbClr val="EEF0F3"/>
          </a:solidFill>
          <a:ln/>
        </p:spPr>
      </p:sp>
      <p:sp>
        <p:nvSpPr>
          <p:cNvPr id="6" name="segments heading"/>
          <p:cNvSpPr txBox="1"/>
          <p:nvPr/>
        </p:nvSpPr>
        <p:spPr>
          <a:xfrm>
            <a:off x="5074920" y="1069848"/>
            <a:ext cx="3429000" cy="457200"/>
          </a:xfrm>
          <a:prstGeom prst="rect">
            <a:avLst/>
          </a:prstGeom>
          <a:noFill/>
          <a:ln/>
        </p:spPr>
        <p:txBody>
          <a:bodyPr wrap="square" lIns="0" tIns="0" rIns="0" bIns="0" rtlCol="0" anchor="t"/>
          <a:lstStyle/>
          <a:p>
            <a:pPr indent="0" marL="0">
              <a:buNone/>
            </a:pPr>
            <a:r>
              <a:rPr lang="en-US" sz="1300" b="1" dirty="0">
                <a:solidFill>
                  <a:srgbClr val="1F2430"/>
                </a:solidFill>
              </a:rPr>
              <a:t>The three biggest concentrated civilian segments, FY2025</a:t>
            </a:r>
            <a:endParaRPr lang="en-US" sz="1300" dirty="0"/>
          </a:p>
        </p:txBody>
      </p:sp>
      <p:sp>
        <p:nvSpPr>
          <p:cNvPr id="7" name="segment 1 text"/>
          <p:cNvSpPr txBox="1"/>
          <p:nvPr/>
        </p:nvSpPr>
        <p:spPr>
          <a:xfrm>
            <a:off x="5074920" y="1618488"/>
            <a:ext cx="2514600" cy="685800"/>
          </a:xfrm>
          <a:prstGeom prst="rect">
            <a:avLst/>
          </a:prstGeom>
          <a:noFill/>
          <a:ln/>
        </p:spPr>
        <p:txBody>
          <a:bodyPr wrap="square" lIns="0" tIns="0" rIns="0" bIns="0" rtlCol="0" anchor="t"/>
          <a:lstStyle/>
          <a:p>
            <a:pPr indent="0" marL="0">
              <a:buNone/>
            </a:pPr>
            <a:r>
              <a:rPr lang="en-US" sz="1300" b="1" dirty="0">
                <a:solidFill>
                  <a:srgbClr val="1F2430"/>
                </a:solidFill>
              </a:rPr>
              <a:t>VA: managed healthcare</a:t>
            </a:r>
            <a:endParaRPr lang="en-US" sz="1300" dirty="0"/>
          </a:p>
          <a:p>
            <a:pPr indent="0" marL="0">
              <a:buNone/>
            </a:pPr>
            <a:r>
              <a:rPr lang="en-US" sz="1200" dirty="0">
                <a:solidFill>
                  <a:srgbClr val="4A5568"/>
                </a:solidFill>
              </a:rPr>
              <a:t>UnitedHealth Group has 98%</a:t>
            </a:r>
            <a:endParaRPr lang="en-US" sz="1300" dirty="0"/>
          </a:p>
        </p:txBody>
      </p:sp>
      <p:sp>
        <p:nvSpPr>
          <p:cNvPr id="8" name="segment 1 net"/>
          <p:cNvSpPr txBox="1"/>
          <p:nvPr/>
        </p:nvSpPr>
        <p:spPr>
          <a:xfrm>
            <a:off x="7589520" y="1618488"/>
            <a:ext cx="914400" cy="411480"/>
          </a:xfrm>
          <a:prstGeom prst="rect">
            <a:avLst/>
          </a:prstGeom>
          <a:noFill/>
          <a:ln/>
        </p:spPr>
        <p:txBody>
          <a:bodyPr wrap="square" lIns="0" tIns="0" rIns="0" bIns="0" rtlCol="0" anchor="t"/>
          <a:lstStyle/>
          <a:p>
            <a:pPr algn="r" indent="0" marL="0">
              <a:buNone/>
            </a:pPr>
            <a:r>
              <a:rPr lang="en-US" sz="1800" b="1" dirty="0">
                <a:solidFill>
                  <a:srgbClr val="C2410C"/>
                </a:solidFill>
              </a:rPr>
              <a:t>$22.8B</a:t>
            </a:r>
            <a:endParaRPr lang="en-US" sz="1800" dirty="0"/>
          </a:p>
        </p:txBody>
      </p:sp>
      <p:sp>
        <p:nvSpPr>
          <p:cNvPr id="9" name="segment 2 text"/>
          <p:cNvSpPr txBox="1"/>
          <p:nvPr/>
        </p:nvSpPr>
        <p:spPr>
          <a:xfrm>
            <a:off x="5074920" y="2395728"/>
            <a:ext cx="2514600" cy="685800"/>
          </a:xfrm>
          <a:prstGeom prst="rect">
            <a:avLst/>
          </a:prstGeom>
          <a:noFill/>
          <a:ln/>
        </p:spPr>
        <p:txBody>
          <a:bodyPr wrap="square" lIns="0" tIns="0" rIns="0" bIns="0" rtlCol="0" anchor="t"/>
          <a:lstStyle/>
          <a:p>
            <a:pPr indent="0" marL="0">
              <a:buNone/>
            </a:pPr>
            <a:r>
              <a:rPr lang="en-US" sz="1300" b="1" dirty="0">
                <a:solidFill>
                  <a:srgbClr val="1F2430"/>
                </a:solidFill>
              </a:rPr>
              <a:t>VA: drugs and biologicals</a:t>
            </a:r>
            <a:endParaRPr lang="en-US" sz="1300" dirty="0"/>
          </a:p>
          <a:p>
            <a:pPr indent="0" marL="0">
              <a:buNone/>
            </a:pPr>
            <a:r>
              <a:rPr lang="en-US" sz="1200" dirty="0">
                <a:solidFill>
                  <a:srgbClr val="4A5568"/>
                </a:solidFill>
              </a:rPr>
              <a:t>McKesson has 98%</a:t>
            </a:r>
            <a:endParaRPr lang="en-US" sz="1300" dirty="0"/>
          </a:p>
        </p:txBody>
      </p:sp>
      <p:sp>
        <p:nvSpPr>
          <p:cNvPr id="10" name="segment 2 net"/>
          <p:cNvSpPr txBox="1"/>
          <p:nvPr/>
        </p:nvSpPr>
        <p:spPr>
          <a:xfrm>
            <a:off x="7589520" y="2395728"/>
            <a:ext cx="914400" cy="411480"/>
          </a:xfrm>
          <a:prstGeom prst="rect">
            <a:avLst/>
          </a:prstGeom>
          <a:noFill/>
          <a:ln/>
        </p:spPr>
        <p:txBody>
          <a:bodyPr wrap="square" lIns="0" tIns="0" rIns="0" bIns="0" rtlCol="0" anchor="t"/>
          <a:lstStyle/>
          <a:p>
            <a:pPr algn="r" indent="0" marL="0">
              <a:buNone/>
            </a:pPr>
            <a:r>
              <a:rPr lang="en-US" sz="1800" b="1" dirty="0">
                <a:solidFill>
                  <a:srgbClr val="C2410C"/>
                </a:solidFill>
              </a:rPr>
              <a:t>$11.7B</a:t>
            </a:r>
            <a:endParaRPr lang="en-US" sz="1800" dirty="0"/>
          </a:p>
        </p:txBody>
      </p:sp>
      <p:sp>
        <p:nvSpPr>
          <p:cNvPr id="11" name="segment 3 text"/>
          <p:cNvSpPr txBox="1"/>
          <p:nvPr/>
        </p:nvSpPr>
        <p:spPr>
          <a:xfrm>
            <a:off x="5074920" y="3172968"/>
            <a:ext cx="2514600" cy="685800"/>
          </a:xfrm>
          <a:prstGeom prst="rect">
            <a:avLst/>
          </a:prstGeom>
          <a:noFill/>
          <a:ln/>
        </p:spPr>
        <p:txBody>
          <a:bodyPr wrap="square" lIns="0" tIns="0" rIns="0" bIns="0" rtlCol="0" anchor="t"/>
          <a:lstStyle/>
          <a:p>
            <a:pPr indent="0" marL="0">
              <a:buNone/>
            </a:pPr>
            <a:r>
              <a:rPr lang="en-US" sz="1300" b="1" dirty="0">
                <a:solidFill>
                  <a:srgbClr val="1F2430"/>
                </a:solidFill>
              </a:rPr>
              <a:t>VA: government health insurance</a:t>
            </a:r>
            <a:endParaRPr lang="en-US" sz="1300" dirty="0"/>
          </a:p>
          <a:p>
            <a:pPr indent="0" marL="0">
              <a:buNone/>
            </a:pPr>
            <a:r>
              <a:rPr lang="en-US" sz="1200" dirty="0">
                <a:solidFill>
                  <a:srgbClr val="4A5568"/>
                </a:solidFill>
              </a:rPr>
              <a:t>TriWest Healthcare Alliance has 100%</a:t>
            </a:r>
            <a:endParaRPr lang="en-US" sz="1300" dirty="0"/>
          </a:p>
        </p:txBody>
      </p:sp>
      <p:sp>
        <p:nvSpPr>
          <p:cNvPr id="12" name="segment 3 net"/>
          <p:cNvSpPr txBox="1"/>
          <p:nvPr/>
        </p:nvSpPr>
        <p:spPr>
          <a:xfrm>
            <a:off x="7589520" y="3172968"/>
            <a:ext cx="914400" cy="411480"/>
          </a:xfrm>
          <a:prstGeom prst="rect">
            <a:avLst/>
          </a:prstGeom>
          <a:noFill/>
          <a:ln/>
        </p:spPr>
        <p:txBody>
          <a:bodyPr wrap="square" lIns="0" tIns="0" rIns="0" bIns="0" rtlCol="0" anchor="t"/>
          <a:lstStyle/>
          <a:p>
            <a:pPr algn="r" indent="0" marL="0">
              <a:buNone/>
            </a:pPr>
            <a:r>
              <a:rPr lang="en-US" sz="1800" b="1" dirty="0">
                <a:solidFill>
                  <a:srgbClr val="C2410C"/>
                </a:solidFill>
              </a:rPr>
              <a:t>$9.5B</a:t>
            </a:r>
            <a:endParaRPr lang="en-US" sz="1800" dirty="0"/>
          </a:p>
        </p:txBody>
      </p:sp>
      <p:sp>
        <p:nvSpPr>
          <p:cNvPr id="13" name="takeaway box"/>
          <p:cNvSpPr/>
          <p:nvPr/>
        </p:nvSpPr>
        <p:spPr>
          <a:xfrm>
            <a:off x="457200" y="4160520"/>
            <a:ext cx="8229600" cy="566928"/>
          </a:xfrm>
          <a:prstGeom prst="roundRect">
            <a:avLst>
              <a:gd name="adj" fmla="val 12903"/>
            </a:avLst>
          </a:prstGeom>
          <a:solidFill>
            <a:srgbClr val="EEF0F3"/>
          </a:solidFill>
          <a:ln/>
        </p:spPr>
      </p:sp>
      <p:sp>
        <p:nvSpPr>
          <p:cNvPr id="14" name="takeaway"/>
          <p:cNvSpPr txBox="1"/>
          <p:nvPr/>
        </p:nvSpPr>
        <p:spPr>
          <a:xfrm>
            <a:off x="640080" y="4160520"/>
            <a:ext cx="7863840" cy="566928"/>
          </a:xfrm>
          <a:prstGeom prst="rect">
            <a:avLst/>
          </a:prstGeom>
          <a:noFill/>
          <a:ln/>
        </p:spPr>
        <p:txBody>
          <a:bodyPr wrap="square" lIns="0" tIns="0" rIns="0" bIns="0" rtlCol="0" anchor="ctr"/>
          <a:lstStyle/>
          <a:p>
            <a:pPr indent="0" marL="0">
              <a:buNone/>
            </a:pPr>
            <a:r>
              <a:rPr lang="en-US" sz="1400" b="1" dirty="0">
                <a:solidFill>
                  <a:srgbClr val="C2410C"/>
                </a:solidFill>
              </a:rPr>
              <a:t>What this means   </a:t>
            </a:r>
            <a:pPr indent="0" marL="0">
              <a:buNone/>
            </a:pPr>
            <a:r>
              <a:rPr lang="en-US" sz="1400" dirty="0">
                <a:solidFill>
                  <a:srgbClr val="1F2430"/>
                </a:solidFill>
              </a:rPr>
              <a:t>Veterans Affairs is the largest civilian buyer, and 76% of its money now sits in highly concentrated segments. Three of its health segments put $44B with one company each.</a:t>
            </a:r>
            <a:endParaRPr lang="en-US" sz="1400" dirty="0"/>
          </a:p>
        </p:txBody>
      </p:sp>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rtlCol="0" anchor="ctr"/>
          <a:lstStyle/>
          <a:p>
            <a:pPr algn="l" indent="0" marL="0">
              <a:buNone/>
            </a:pPr>
            <a:r>
              <a:rPr lang="en-US" sz="2600" b="1" dirty="0">
                <a:solidFill>
                  <a:srgbClr val="1F2430"/>
                </a:solidFill>
                <a:latin typeface="Cambria" pitchFamily="34" charset="0"/>
                <a:ea typeface="Cambria" pitchFamily="34" charset="-122"/>
                <a:cs typeface="Cambria" pitchFamily="34" charset="-120"/>
              </a:rPr>
              <a:t>Example: how one VA market became concentrated</a:t>
            </a:r>
            <a:endParaRPr lang="en-US" sz="2600" dirty="0"/>
          </a:p>
        </p:txBody>
      </p:sp>
      <p:graphicFrame>
        <p:nvGraphicFramePr>
          <p:cNvPr id="4" name="example chart" descr=""/>
          <p:cNvGraphicFramePr/>
          <p:nvPr/>
        </p:nvGraphicFramePr>
        <p:xfrm>
          <a:off x="365760" y="914400"/>
          <a:ext cx="5120640" cy="3200400"/>
        </p:xfrm>
        <a:graphic xmlns:a="http://schemas.openxmlformats.org/drawingml/2006/main">
          <a:graphicData uri="http://schemas.openxmlformats.org/drawingml/2006/chart">
            <c:chart xmlns:c="http://schemas.openxmlformats.org/drawingml/2006/chart" r:id="rId1"/>
          </a:graphicData>
        </a:graphic>
      </p:graphicFrame>
      <p:sp>
        <p:nvSpPr>
          <p:cNvPr id="5" name="example 1 year"/>
          <p:cNvSpPr txBox="1"/>
          <p:nvPr/>
        </p:nvSpPr>
        <p:spPr>
          <a:xfrm>
            <a:off x="5715000" y="960120"/>
            <a:ext cx="1371600" cy="274320"/>
          </a:xfrm>
          <a:prstGeom prst="rect">
            <a:avLst/>
          </a:prstGeom>
          <a:noFill/>
          <a:ln/>
        </p:spPr>
        <p:txBody>
          <a:bodyPr wrap="square" lIns="0" tIns="0" rIns="0" bIns="0" rtlCol="0" anchor="t"/>
          <a:lstStyle/>
          <a:p>
            <a:pPr indent="0" marL="0">
              <a:buNone/>
            </a:pPr>
            <a:r>
              <a:rPr lang="en-US" sz="1300" b="1" dirty="0">
                <a:solidFill>
                  <a:srgbClr val="4A5568"/>
                </a:solidFill>
              </a:rPr>
              <a:t>FY2019</a:t>
            </a:r>
            <a:endParaRPr lang="en-US" sz="1300" dirty="0"/>
          </a:p>
        </p:txBody>
      </p:sp>
      <p:sp>
        <p:nvSpPr>
          <p:cNvPr id="6" name="example 1 stat 1"/>
          <p:cNvSpPr txBox="1"/>
          <p:nvPr/>
        </p:nvSpPr>
        <p:spPr>
          <a:xfrm>
            <a:off x="5715000" y="1280160"/>
            <a:ext cx="1371600" cy="640080"/>
          </a:xfrm>
          <a:prstGeom prst="rect">
            <a:avLst/>
          </a:prstGeom>
          <a:noFill/>
          <a:ln/>
        </p:spPr>
        <p:txBody>
          <a:bodyPr wrap="square" lIns="0" tIns="0" rIns="0" bIns="0" rtlCol="0" anchor="t"/>
          <a:lstStyle/>
          <a:p>
            <a:pPr indent="0" marL="0">
              <a:buNone/>
            </a:pPr>
            <a:r>
              <a:rPr lang="en-US" sz="2000" b="1" dirty="0">
                <a:solidFill>
                  <a:srgbClr val="2E3A4D"/>
                </a:solidFill>
                <a:latin typeface="Cambria" pitchFamily="34" charset="0"/>
                <a:ea typeface="Cambria" pitchFamily="34" charset="-122"/>
                <a:cs typeface="Cambria" pitchFamily="34" charset="-120"/>
              </a:rPr>
              <a:t>$389M</a:t>
            </a:r>
            <a:endParaRPr lang="en-US" sz="1400" dirty="0"/>
          </a:p>
          <a:p>
            <a:pPr indent="0" marL="0">
              <a:buNone/>
            </a:pPr>
            <a:r>
              <a:rPr lang="en-US" sz="1100" dirty="0">
                <a:solidFill>
                  <a:srgbClr val="4A5568"/>
                </a:solidFill>
                <a:latin typeface="Cambria" pitchFamily="34" charset="0"/>
                <a:ea typeface="Cambria" pitchFamily="34" charset="-122"/>
                <a:cs typeface="Cambria" pitchFamily="34" charset="-120"/>
              </a:rPr>
              <a:t>spent</a:t>
            </a:r>
            <a:endParaRPr lang="en-US" sz="1400" dirty="0"/>
          </a:p>
        </p:txBody>
      </p:sp>
      <p:sp>
        <p:nvSpPr>
          <p:cNvPr id="7" name="example 1 stat 2"/>
          <p:cNvSpPr txBox="1"/>
          <p:nvPr/>
        </p:nvSpPr>
        <p:spPr>
          <a:xfrm>
            <a:off x="5715000" y="1965960"/>
            <a:ext cx="1371600" cy="640080"/>
          </a:xfrm>
          <a:prstGeom prst="rect">
            <a:avLst/>
          </a:prstGeom>
          <a:noFill/>
          <a:ln/>
        </p:spPr>
        <p:txBody>
          <a:bodyPr wrap="square" lIns="0" tIns="0" rIns="0" bIns="0" rtlCol="0" anchor="t"/>
          <a:lstStyle/>
          <a:p>
            <a:pPr indent="0" marL="0">
              <a:buNone/>
            </a:pPr>
            <a:r>
              <a:rPr lang="en-US" sz="2000" b="1" dirty="0">
                <a:solidFill>
                  <a:srgbClr val="2E3A4D"/>
                </a:solidFill>
                <a:latin typeface="Cambria" pitchFamily="34" charset="0"/>
                <a:ea typeface="Cambria" pitchFamily="34" charset="-122"/>
                <a:cs typeface="Cambria" pitchFamily="34" charset="-120"/>
              </a:rPr>
              <a:t>167</a:t>
            </a:r>
            <a:endParaRPr lang="en-US" sz="1400" dirty="0"/>
          </a:p>
          <a:p>
            <a:pPr indent="0" marL="0">
              <a:buNone/>
            </a:pPr>
            <a:r>
              <a:rPr lang="en-US" sz="1100" dirty="0">
                <a:solidFill>
                  <a:srgbClr val="4A5568"/>
                </a:solidFill>
                <a:latin typeface="Cambria" pitchFamily="34" charset="0"/>
                <a:ea typeface="Cambria" pitchFamily="34" charset="-122"/>
                <a:cs typeface="Cambria" pitchFamily="34" charset="-120"/>
              </a:rPr>
              <a:t>companies</a:t>
            </a:r>
            <a:endParaRPr lang="en-US" sz="1400" dirty="0"/>
          </a:p>
        </p:txBody>
      </p:sp>
      <p:sp>
        <p:nvSpPr>
          <p:cNvPr id="8" name="example 1 stat 3"/>
          <p:cNvSpPr txBox="1"/>
          <p:nvPr/>
        </p:nvSpPr>
        <p:spPr>
          <a:xfrm>
            <a:off x="5715000" y="2651760"/>
            <a:ext cx="1371600" cy="640080"/>
          </a:xfrm>
          <a:prstGeom prst="rect">
            <a:avLst/>
          </a:prstGeom>
          <a:noFill/>
          <a:ln/>
        </p:spPr>
        <p:txBody>
          <a:bodyPr wrap="square" lIns="0" tIns="0" rIns="0" bIns="0" rtlCol="0" anchor="t"/>
          <a:lstStyle/>
          <a:p>
            <a:pPr indent="0" marL="0">
              <a:buNone/>
            </a:pPr>
            <a:r>
              <a:rPr lang="en-US" sz="2000" b="1" dirty="0">
                <a:solidFill>
                  <a:srgbClr val="2E3A4D"/>
                </a:solidFill>
                <a:latin typeface="Cambria" pitchFamily="34" charset="0"/>
                <a:ea typeface="Cambria" pitchFamily="34" charset="-122"/>
                <a:cs typeface="Cambria" pitchFamily="34" charset="-120"/>
              </a:rPr>
              <a:t>19%</a:t>
            </a:r>
            <a:endParaRPr lang="en-US" sz="1400" dirty="0"/>
          </a:p>
          <a:p>
            <a:pPr indent="0" marL="0">
              <a:buNone/>
            </a:pPr>
            <a:r>
              <a:rPr lang="en-US" sz="1100" dirty="0">
                <a:solidFill>
                  <a:srgbClr val="4A5568"/>
                </a:solidFill>
                <a:latin typeface="Cambria" pitchFamily="34" charset="0"/>
                <a:ea typeface="Cambria" pitchFamily="34" charset="-122"/>
                <a:cs typeface="Cambria" pitchFamily="34" charset="-120"/>
              </a:rPr>
              <a:t>to the largest</a:t>
            </a:r>
            <a:endParaRPr lang="en-US" sz="1400" dirty="0"/>
          </a:p>
        </p:txBody>
      </p:sp>
      <p:sp>
        <p:nvSpPr>
          <p:cNvPr id="9" name="example 1 stat 4"/>
          <p:cNvSpPr txBox="1"/>
          <p:nvPr/>
        </p:nvSpPr>
        <p:spPr>
          <a:xfrm>
            <a:off x="5715000" y="3337560"/>
            <a:ext cx="1371600" cy="640080"/>
          </a:xfrm>
          <a:prstGeom prst="rect">
            <a:avLst/>
          </a:prstGeom>
          <a:noFill/>
          <a:ln/>
        </p:spPr>
        <p:txBody>
          <a:bodyPr wrap="square" lIns="0" tIns="0" rIns="0" bIns="0" rtlCol="0" anchor="t"/>
          <a:lstStyle/>
          <a:p>
            <a:pPr indent="0" marL="0">
              <a:buNone/>
            </a:pPr>
            <a:r>
              <a:rPr lang="en-US" sz="2000" b="1" dirty="0">
                <a:solidFill>
                  <a:srgbClr val="2E3A4D"/>
                </a:solidFill>
                <a:latin typeface="Cambria" pitchFamily="34" charset="0"/>
                <a:ea typeface="Cambria" pitchFamily="34" charset="-122"/>
                <a:cs typeface="Cambria" pitchFamily="34" charset="-120"/>
              </a:rPr>
              <a:t>1,044</a:t>
            </a:r>
            <a:endParaRPr lang="en-US" sz="1400" dirty="0"/>
          </a:p>
          <a:p>
            <a:pPr indent="0" marL="0">
              <a:buNone/>
            </a:pPr>
            <a:r>
              <a:rPr lang="en-US" sz="1100" dirty="0">
                <a:solidFill>
                  <a:srgbClr val="4A5568"/>
                </a:solidFill>
                <a:latin typeface="Cambria" pitchFamily="34" charset="0"/>
                <a:ea typeface="Cambria" pitchFamily="34" charset="-122"/>
                <a:cs typeface="Cambria" pitchFamily="34" charset="-120"/>
              </a:rPr>
              <a:t>HHI</a:t>
            </a:r>
            <a:endParaRPr lang="en-US" sz="1400" dirty="0"/>
          </a:p>
        </p:txBody>
      </p:sp>
      <p:sp>
        <p:nvSpPr>
          <p:cNvPr id="10" name="example 2 year"/>
          <p:cNvSpPr txBox="1"/>
          <p:nvPr/>
        </p:nvSpPr>
        <p:spPr>
          <a:xfrm>
            <a:off x="7223760" y="960120"/>
            <a:ext cx="1371600" cy="274320"/>
          </a:xfrm>
          <a:prstGeom prst="rect">
            <a:avLst/>
          </a:prstGeom>
          <a:noFill/>
          <a:ln/>
        </p:spPr>
        <p:txBody>
          <a:bodyPr wrap="square" lIns="0" tIns="0" rIns="0" bIns="0" rtlCol="0" anchor="t"/>
          <a:lstStyle/>
          <a:p>
            <a:pPr indent="0" marL="0">
              <a:buNone/>
            </a:pPr>
            <a:r>
              <a:rPr lang="en-US" sz="1300" b="1" dirty="0">
                <a:solidFill>
                  <a:srgbClr val="4A5568"/>
                </a:solidFill>
              </a:rPr>
              <a:t>FY2025</a:t>
            </a:r>
            <a:endParaRPr lang="en-US" sz="1300" dirty="0"/>
          </a:p>
        </p:txBody>
      </p:sp>
      <p:sp>
        <p:nvSpPr>
          <p:cNvPr id="11" name="example 2 stat 1"/>
          <p:cNvSpPr txBox="1"/>
          <p:nvPr/>
        </p:nvSpPr>
        <p:spPr>
          <a:xfrm>
            <a:off x="7223760" y="1280160"/>
            <a:ext cx="1371600" cy="640080"/>
          </a:xfrm>
          <a:prstGeom prst="rect">
            <a:avLst/>
          </a:prstGeom>
          <a:noFill/>
          <a:ln/>
        </p:spPr>
        <p:txBody>
          <a:bodyPr wrap="square" lIns="0" tIns="0" rIns="0" bIns="0" rtlCol="0" anchor="t"/>
          <a:lstStyle/>
          <a:p>
            <a:pPr indent="0" marL="0">
              <a:buNone/>
            </a:pPr>
            <a:r>
              <a:rPr lang="en-US" sz="2000" b="1" dirty="0">
                <a:solidFill>
                  <a:srgbClr val="C2410C"/>
                </a:solidFill>
                <a:latin typeface="Cambria" pitchFamily="34" charset="0"/>
                <a:ea typeface="Cambria" pitchFamily="34" charset="-122"/>
                <a:cs typeface="Cambria" pitchFamily="34" charset="-120"/>
              </a:rPr>
              <a:t>$22.8B</a:t>
            </a:r>
            <a:endParaRPr lang="en-US" sz="1400" dirty="0"/>
          </a:p>
          <a:p>
            <a:pPr indent="0" marL="0">
              <a:buNone/>
            </a:pPr>
            <a:r>
              <a:rPr lang="en-US" sz="1100" dirty="0">
                <a:solidFill>
                  <a:srgbClr val="4A5568"/>
                </a:solidFill>
                <a:latin typeface="Cambria" pitchFamily="34" charset="0"/>
                <a:ea typeface="Cambria" pitchFamily="34" charset="-122"/>
                <a:cs typeface="Cambria" pitchFamily="34" charset="-120"/>
              </a:rPr>
              <a:t>spent</a:t>
            </a:r>
            <a:endParaRPr lang="en-US" sz="1400" dirty="0"/>
          </a:p>
        </p:txBody>
      </p:sp>
      <p:sp>
        <p:nvSpPr>
          <p:cNvPr id="12" name="example 2 stat 2"/>
          <p:cNvSpPr txBox="1"/>
          <p:nvPr/>
        </p:nvSpPr>
        <p:spPr>
          <a:xfrm>
            <a:off x="7223760" y="1965960"/>
            <a:ext cx="1371600" cy="640080"/>
          </a:xfrm>
          <a:prstGeom prst="rect">
            <a:avLst/>
          </a:prstGeom>
          <a:noFill/>
          <a:ln/>
        </p:spPr>
        <p:txBody>
          <a:bodyPr wrap="square" lIns="0" tIns="0" rIns="0" bIns="0" rtlCol="0" anchor="t"/>
          <a:lstStyle/>
          <a:p>
            <a:pPr indent="0" marL="0">
              <a:buNone/>
            </a:pPr>
            <a:r>
              <a:rPr lang="en-US" sz="2000" b="1" dirty="0">
                <a:solidFill>
                  <a:srgbClr val="C2410C"/>
                </a:solidFill>
                <a:latin typeface="Cambria" pitchFamily="34" charset="0"/>
                <a:ea typeface="Cambria" pitchFamily="34" charset="-122"/>
                <a:cs typeface="Cambria" pitchFamily="34" charset="-120"/>
              </a:rPr>
              <a:t>75</a:t>
            </a:r>
            <a:endParaRPr lang="en-US" sz="1400" dirty="0"/>
          </a:p>
          <a:p>
            <a:pPr indent="0" marL="0">
              <a:buNone/>
            </a:pPr>
            <a:r>
              <a:rPr lang="en-US" sz="1100" dirty="0">
                <a:solidFill>
                  <a:srgbClr val="4A5568"/>
                </a:solidFill>
                <a:latin typeface="Cambria" pitchFamily="34" charset="0"/>
                <a:ea typeface="Cambria" pitchFamily="34" charset="-122"/>
                <a:cs typeface="Cambria" pitchFamily="34" charset="-120"/>
              </a:rPr>
              <a:t>companies</a:t>
            </a:r>
            <a:endParaRPr lang="en-US" sz="1400" dirty="0"/>
          </a:p>
        </p:txBody>
      </p:sp>
      <p:sp>
        <p:nvSpPr>
          <p:cNvPr id="13" name="example 2 stat 3"/>
          <p:cNvSpPr txBox="1"/>
          <p:nvPr/>
        </p:nvSpPr>
        <p:spPr>
          <a:xfrm>
            <a:off x="7223760" y="2651760"/>
            <a:ext cx="1371600" cy="640080"/>
          </a:xfrm>
          <a:prstGeom prst="rect">
            <a:avLst/>
          </a:prstGeom>
          <a:noFill/>
          <a:ln/>
        </p:spPr>
        <p:txBody>
          <a:bodyPr wrap="square" lIns="0" tIns="0" rIns="0" bIns="0" rtlCol="0" anchor="t"/>
          <a:lstStyle/>
          <a:p>
            <a:pPr indent="0" marL="0">
              <a:buNone/>
            </a:pPr>
            <a:r>
              <a:rPr lang="en-US" sz="2000" b="1" dirty="0">
                <a:solidFill>
                  <a:srgbClr val="C2410C"/>
                </a:solidFill>
                <a:latin typeface="Cambria" pitchFamily="34" charset="0"/>
                <a:ea typeface="Cambria" pitchFamily="34" charset="-122"/>
                <a:cs typeface="Cambria" pitchFamily="34" charset="-120"/>
              </a:rPr>
              <a:t>98%</a:t>
            </a:r>
            <a:endParaRPr lang="en-US" sz="1400" dirty="0"/>
          </a:p>
          <a:p>
            <a:pPr indent="0" marL="0">
              <a:buNone/>
            </a:pPr>
            <a:r>
              <a:rPr lang="en-US" sz="1100" dirty="0">
                <a:solidFill>
                  <a:srgbClr val="4A5568"/>
                </a:solidFill>
                <a:latin typeface="Cambria" pitchFamily="34" charset="0"/>
                <a:ea typeface="Cambria" pitchFamily="34" charset="-122"/>
                <a:cs typeface="Cambria" pitchFamily="34" charset="-120"/>
              </a:rPr>
              <a:t>to the largest</a:t>
            </a:r>
            <a:endParaRPr lang="en-US" sz="1400" dirty="0"/>
          </a:p>
        </p:txBody>
      </p:sp>
      <p:sp>
        <p:nvSpPr>
          <p:cNvPr id="14" name="example 2 stat 4"/>
          <p:cNvSpPr txBox="1"/>
          <p:nvPr/>
        </p:nvSpPr>
        <p:spPr>
          <a:xfrm>
            <a:off x="7223760" y="3337560"/>
            <a:ext cx="1371600" cy="640080"/>
          </a:xfrm>
          <a:prstGeom prst="rect">
            <a:avLst/>
          </a:prstGeom>
          <a:noFill/>
          <a:ln/>
        </p:spPr>
        <p:txBody>
          <a:bodyPr wrap="square" lIns="0" tIns="0" rIns="0" bIns="0" rtlCol="0" anchor="t"/>
          <a:lstStyle/>
          <a:p>
            <a:pPr indent="0" marL="0">
              <a:buNone/>
            </a:pPr>
            <a:r>
              <a:rPr lang="en-US" sz="2000" b="1" dirty="0">
                <a:solidFill>
                  <a:srgbClr val="C2410C"/>
                </a:solidFill>
                <a:latin typeface="Cambria" pitchFamily="34" charset="0"/>
                <a:ea typeface="Cambria" pitchFamily="34" charset="-122"/>
                <a:cs typeface="Cambria" pitchFamily="34" charset="-120"/>
              </a:rPr>
              <a:t>9,680</a:t>
            </a:r>
            <a:endParaRPr lang="en-US" sz="1400" dirty="0"/>
          </a:p>
          <a:p>
            <a:pPr indent="0" marL="0">
              <a:buNone/>
            </a:pPr>
            <a:r>
              <a:rPr lang="en-US" sz="1100" dirty="0">
                <a:solidFill>
                  <a:srgbClr val="4A5568"/>
                </a:solidFill>
                <a:latin typeface="Cambria" pitchFamily="34" charset="0"/>
                <a:ea typeface="Cambria" pitchFamily="34" charset="-122"/>
                <a:cs typeface="Cambria" pitchFamily="34" charset="-120"/>
              </a:rPr>
              <a:t>HHI</a:t>
            </a:r>
            <a:endParaRPr lang="en-US" sz="1400" dirty="0"/>
          </a:p>
        </p:txBody>
      </p:sp>
      <p:sp>
        <p:nvSpPr>
          <p:cNvPr id="15" name="takeaway box"/>
          <p:cNvSpPr/>
          <p:nvPr/>
        </p:nvSpPr>
        <p:spPr>
          <a:xfrm>
            <a:off x="457200" y="4160520"/>
            <a:ext cx="8229600" cy="566928"/>
          </a:xfrm>
          <a:prstGeom prst="roundRect">
            <a:avLst>
              <a:gd name="adj" fmla="val 12903"/>
            </a:avLst>
          </a:prstGeom>
          <a:solidFill>
            <a:srgbClr val="EEF0F3"/>
          </a:solidFill>
          <a:ln/>
        </p:spPr>
      </p:sp>
      <p:sp>
        <p:nvSpPr>
          <p:cNvPr id="16" name="takeaway"/>
          <p:cNvSpPr txBox="1"/>
          <p:nvPr/>
        </p:nvSpPr>
        <p:spPr>
          <a:xfrm>
            <a:off x="640080" y="4160520"/>
            <a:ext cx="7863840" cy="566928"/>
          </a:xfrm>
          <a:prstGeom prst="rect">
            <a:avLst/>
          </a:prstGeom>
          <a:noFill/>
          <a:ln/>
        </p:spPr>
        <p:txBody>
          <a:bodyPr wrap="square" lIns="0" tIns="0" rIns="0" bIns="0" rtlCol="0" anchor="ctr"/>
          <a:lstStyle/>
          <a:p>
            <a:pPr indent="0" marL="0">
              <a:buNone/>
            </a:pPr>
            <a:r>
              <a:rPr lang="en-US" sz="1400" b="1" dirty="0">
                <a:solidFill>
                  <a:srgbClr val="C2410C"/>
                </a:solidFill>
              </a:rPr>
              <a:t>What this means   </a:t>
            </a:r>
            <a:pPr indent="0" marL="0">
              <a:buNone/>
            </a:pPr>
            <a:r>
              <a:rPr lang="en-US" sz="1400" dirty="0">
                <a:solidFill>
                  <a:srgbClr val="1F2430"/>
                </a:solidFill>
              </a:rPr>
              <a:t>In six years this market grew almost 60 times larger and went from 167 companies with no clear leader to one company with 98% of the money.</a:t>
            </a:r>
            <a:endParaRPr lang="en-US" sz="1400" dirty="0"/>
          </a:p>
        </p:txBody>
      </p:sp>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rtlCol="0" anchor="ctr"/>
          <a:lstStyle/>
          <a:p>
            <a:pPr algn="l" indent="0" marL="0">
              <a:buNone/>
            </a:pPr>
            <a:r>
              <a:rPr lang="en-US" sz="2600" b="1" dirty="0">
                <a:solidFill>
                  <a:srgbClr val="1F2430"/>
                </a:solidFill>
                <a:latin typeface="Cambria" pitchFamily="34" charset="0"/>
                <a:ea typeface="Cambria" pitchFamily="34" charset="-122"/>
                <a:cs typeface="Cambria" pitchFamily="34" charset="-120"/>
              </a:rPr>
              <a:t>What it means, and what we do next</a:t>
            </a:r>
            <a:endParaRPr lang="en-US" sz="2600" dirty="0"/>
          </a:p>
        </p:txBody>
      </p:sp>
      <p:sp>
        <p:nvSpPr>
          <p:cNvPr id="4" name="column 1 card"/>
          <p:cNvSpPr/>
          <p:nvPr/>
        </p:nvSpPr>
        <p:spPr>
          <a:xfrm>
            <a:off x="457200" y="1051560"/>
            <a:ext cx="2615184" cy="2651760"/>
          </a:xfrm>
          <a:prstGeom prst="roundRect">
            <a:avLst>
              <a:gd name="adj" fmla="val 2797"/>
            </a:avLst>
          </a:prstGeom>
          <a:solidFill>
            <a:srgbClr val="EEF0F3"/>
          </a:solidFill>
          <a:ln/>
        </p:spPr>
      </p:sp>
      <p:sp>
        <p:nvSpPr>
          <p:cNvPr id="5" name="column 1 dot"/>
          <p:cNvSpPr/>
          <p:nvPr/>
        </p:nvSpPr>
        <p:spPr>
          <a:xfrm>
            <a:off x="658368" y="1252728"/>
            <a:ext cx="292608" cy="292608"/>
          </a:xfrm>
          <a:prstGeom prst="ellipse">
            <a:avLst/>
          </a:prstGeom>
          <a:solidFill>
            <a:srgbClr val="4D7C6F"/>
          </a:solidFill>
          <a:ln/>
        </p:spPr>
      </p:sp>
      <p:sp>
        <p:nvSpPr>
          <p:cNvPr id="6" name="column 1 head"/>
          <p:cNvSpPr txBox="1"/>
          <p:nvPr/>
        </p:nvSpPr>
        <p:spPr>
          <a:xfrm>
            <a:off x="1051560" y="1216152"/>
            <a:ext cx="1883664" cy="365760"/>
          </a:xfrm>
          <a:prstGeom prst="rect">
            <a:avLst/>
          </a:prstGeom>
          <a:noFill/>
          <a:ln/>
        </p:spPr>
        <p:txBody>
          <a:bodyPr wrap="square" lIns="0" tIns="0" rIns="0" bIns="0" rtlCol="0" anchor="ctr"/>
          <a:lstStyle/>
          <a:p>
            <a:pPr indent="0" marL="0">
              <a:buNone/>
            </a:pPr>
            <a:r>
              <a:rPr lang="en-US" sz="1800" b="1" dirty="0">
                <a:solidFill>
                  <a:srgbClr val="1F2430"/>
                </a:solidFill>
              </a:rPr>
              <a:t>We can trust it</a:t>
            </a:r>
            <a:endParaRPr lang="en-US" sz="1800" dirty="0"/>
          </a:p>
        </p:txBody>
      </p:sp>
      <p:sp>
        <p:nvSpPr>
          <p:cNvPr id="7" name="column 1 items"/>
          <p:cNvSpPr txBox="1"/>
          <p:nvPr/>
        </p:nvSpPr>
        <p:spPr>
          <a:xfrm>
            <a:off x="658368" y="1783080"/>
            <a:ext cx="2212848" cy="1828800"/>
          </a:xfrm>
          <a:prstGeom prst="rect">
            <a:avLst/>
          </a:prstGeom>
          <a:noFill/>
          <a:ln/>
        </p:spPr>
        <p:txBody>
          <a:bodyPr wrap="square" lIns="0" tIns="0" rIns="0" bIns="0" rtlCol="0" anchor="t"/>
          <a:lstStyle/>
          <a:p>
            <a:pPr marL="177800" indent="-177800">
              <a:spcAft>
                <a:spcPts val="1000"/>
              </a:spcAft>
              <a:buSzPct val="100000"/>
              <a:buChar char="•"/>
            </a:pPr>
            <a:r>
              <a:rPr lang="en-US" sz="1500" dirty="0">
                <a:solidFill>
                  <a:srgbClr val="1F2430"/>
                </a:solidFill>
              </a:rPr>
              <a:t>The copy is exact</a:t>
            </a:r>
            <a:endParaRPr lang="en-US" sz="1500" dirty="0"/>
          </a:p>
          <a:p>
            <a:pPr marL="177800" indent="-177800">
              <a:spcAft>
                <a:spcPts val="1000"/>
              </a:spcAft>
              <a:buSzPct val="100000"/>
              <a:buChar char="•"/>
            </a:pPr>
            <a:r>
              <a:rPr lang="en-US" sz="1500" dirty="0">
                <a:solidFill>
                  <a:srgbClr val="1F2430"/>
                </a:solidFill>
              </a:rPr>
              <a:t>Totals match GAO</a:t>
            </a:r>
            <a:endParaRPr lang="en-US" sz="1500" dirty="0"/>
          </a:p>
          <a:p>
            <a:pPr marL="177800" indent="-177800">
              <a:spcAft>
                <a:spcPts val="1000"/>
              </a:spcAft>
              <a:buSzPct val="100000"/>
              <a:buChar char="•"/>
            </a:pPr>
            <a:r>
              <a:rPr lang="en-US" sz="1500" dirty="0">
                <a:solidFill>
                  <a:srgbClr val="1F2430"/>
                </a:solidFill>
              </a:rPr>
              <a:t>Codes carry across 18 years</a:t>
            </a:r>
            <a:endParaRPr lang="en-US" sz="1500" dirty="0"/>
          </a:p>
        </p:txBody>
      </p:sp>
      <p:sp>
        <p:nvSpPr>
          <p:cNvPr id="8" name="column 2 card"/>
          <p:cNvSpPr/>
          <p:nvPr/>
        </p:nvSpPr>
        <p:spPr>
          <a:xfrm>
            <a:off x="3273552" y="1051560"/>
            <a:ext cx="2615184" cy="2651760"/>
          </a:xfrm>
          <a:prstGeom prst="roundRect">
            <a:avLst>
              <a:gd name="adj" fmla="val 2797"/>
            </a:avLst>
          </a:prstGeom>
          <a:solidFill>
            <a:srgbClr val="EEF0F3"/>
          </a:solidFill>
          <a:ln/>
        </p:spPr>
      </p:sp>
      <p:sp>
        <p:nvSpPr>
          <p:cNvPr id="9" name="column 2 dot"/>
          <p:cNvSpPr/>
          <p:nvPr/>
        </p:nvSpPr>
        <p:spPr>
          <a:xfrm>
            <a:off x="3474720" y="1252728"/>
            <a:ext cx="292608" cy="292608"/>
          </a:xfrm>
          <a:prstGeom prst="ellipse">
            <a:avLst/>
          </a:prstGeom>
          <a:solidFill>
            <a:srgbClr val="D9911F"/>
          </a:solidFill>
          <a:ln/>
        </p:spPr>
      </p:sp>
      <p:sp>
        <p:nvSpPr>
          <p:cNvPr id="10" name="column 2 head"/>
          <p:cNvSpPr txBox="1"/>
          <p:nvPr/>
        </p:nvSpPr>
        <p:spPr>
          <a:xfrm>
            <a:off x="3867912" y="1216152"/>
            <a:ext cx="1883664" cy="365760"/>
          </a:xfrm>
          <a:prstGeom prst="rect">
            <a:avLst/>
          </a:prstGeom>
          <a:noFill/>
          <a:ln/>
        </p:spPr>
        <p:txBody>
          <a:bodyPr wrap="square" lIns="0" tIns="0" rIns="0" bIns="0" rtlCol="0" anchor="ctr"/>
          <a:lstStyle/>
          <a:p>
            <a:pPr indent="0" marL="0">
              <a:buNone/>
            </a:pPr>
            <a:r>
              <a:rPr lang="en-US" sz="1800" b="1" dirty="0">
                <a:solidFill>
                  <a:srgbClr val="1F2430"/>
                </a:solidFill>
              </a:rPr>
              <a:t>Be careful</a:t>
            </a:r>
            <a:endParaRPr lang="en-US" sz="1800" dirty="0"/>
          </a:p>
        </p:txBody>
      </p:sp>
      <p:sp>
        <p:nvSpPr>
          <p:cNvPr id="11" name="column 2 items"/>
          <p:cNvSpPr txBox="1"/>
          <p:nvPr/>
        </p:nvSpPr>
        <p:spPr>
          <a:xfrm>
            <a:off x="3474720" y="1783080"/>
            <a:ext cx="2212848" cy="1828800"/>
          </a:xfrm>
          <a:prstGeom prst="rect">
            <a:avLst/>
          </a:prstGeom>
          <a:noFill/>
          <a:ln/>
        </p:spPr>
        <p:txBody>
          <a:bodyPr wrap="square" lIns="0" tIns="0" rIns="0" bIns="0" rtlCol="0" anchor="t"/>
          <a:lstStyle/>
          <a:p>
            <a:pPr marL="177800" indent="-177800">
              <a:spcAft>
                <a:spcPts val="1000"/>
              </a:spcAft>
              <a:buSzPct val="100000"/>
              <a:buChar char="•"/>
            </a:pPr>
            <a:r>
              <a:rPr lang="en-US" sz="1500" dirty="0">
                <a:solidFill>
                  <a:srgbClr val="1F2430"/>
                </a:solidFill>
              </a:rPr>
              <a:t>One big contract can swing a year</a:t>
            </a:r>
            <a:endParaRPr lang="en-US" sz="1500" dirty="0"/>
          </a:p>
          <a:p>
            <a:pPr marL="177800" indent="-177800">
              <a:spcAft>
                <a:spcPts val="1000"/>
              </a:spcAft>
              <a:buSzPct val="100000"/>
              <a:buChar char="•"/>
            </a:pPr>
            <a:r>
              <a:rPr lang="en-US" sz="1500" dirty="0">
                <a:solidFill>
                  <a:srgbClr val="1F2430"/>
                </a:solidFill>
              </a:rPr>
              <a:t>Many rises are chance</a:t>
            </a:r>
            <a:endParaRPr lang="en-US" sz="1500" dirty="0"/>
          </a:p>
        </p:txBody>
      </p:sp>
      <p:sp>
        <p:nvSpPr>
          <p:cNvPr id="12" name="column 3 card"/>
          <p:cNvSpPr/>
          <p:nvPr/>
        </p:nvSpPr>
        <p:spPr>
          <a:xfrm>
            <a:off x="6089904" y="1051560"/>
            <a:ext cx="2615184" cy="2651760"/>
          </a:xfrm>
          <a:prstGeom prst="roundRect">
            <a:avLst>
              <a:gd name="adj" fmla="val 2797"/>
            </a:avLst>
          </a:prstGeom>
          <a:solidFill>
            <a:srgbClr val="EEF0F3"/>
          </a:solidFill>
          <a:ln/>
        </p:spPr>
      </p:sp>
      <p:sp>
        <p:nvSpPr>
          <p:cNvPr id="13" name="column 3 dot"/>
          <p:cNvSpPr/>
          <p:nvPr/>
        </p:nvSpPr>
        <p:spPr>
          <a:xfrm>
            <a:off x="6291072" y="1252728"/>
            <a:ext cx="292608" cy="292608"/>
          </a:xfrm>
          <a:prstGeom prst="ellipse">
            <a:avLst/>
          </a:prstGeom>
          <a:solidFill>
            <a:srgbClr val="C2410C"/>
          </a:solidFill>
          <a:ln/>
        </p:spPr>
      </p:sp>
      <p:sp>
        <p:nvSpPr>
          <p:cNvPr id="14" name="column 3 head"/>
          <p:cNvSpPr txBox="1"/>
          <p:nvPr/>
        </p:nvSpPr>
        <p:spPr>
          <a:xfrm>
            <a:off x="6684264" y="1216152"/>
            <a:ext cx="1883664" cy="365760"/>
          </a:xfrm>
          <a:prstGeom prst="rect">
            <a:avLst/>
          </a:prstGeom>
          <a:noFill/>
          <a:ln/>
        </p:spPr>
        <p:txBody>
          <a:bodyPr wrap="square" lIns="0" tIns="0" rIns="0" bIns="0" rtlCol="0" anchor="ctr"/>
          <a:lstStyle/>
          <a:p>
            <a:pPr indent="0" marL="0">
              <a:buNone/>
            </a:pPr>
            <a:r>
              <a:rPr lang="en-US" sz="1800" b="1" dirty="0">
                <a:solidFill>
                  <a:srgbClr val="1F2430"/>
                </a:solidFill>
              </a:rPr>
              <a:t>Next</a:t>
            </a:r>
            <a:endParaRPr lang="en-US" sz="1800" dirty="0"/>
          </a:p>
        </p:txBody>
      </p:sp>
      <p:sp>
        <p:nvSpPr>
          <p:cNvPr id="15" name="column 3 items"/>
          <p:cNvSpPr txBox="1"/>
          <p:nvPr/>
        </p:nvSpPr>
        <p:spPr>
          <a:xfrm>
            <a:off x="6291072" y="1783080"/>
            <a:ext cx="2212848" cy="1828800"/>
          </a:xfrm>
          <a:prstGeom prst="rect">
            <a:avLst/>
          </a:prstGeom>
          <a:noFill/>
          <a:ln/>
        </p:spPr>
        <p:txBody>
          <a:bodyPr wrap="square" lIns="0" tIns="0" rIns="0" bIns="0" rtlCol="0" anchor="t"/>
          <a:lstStyle/>
          <a:p>
            <a:pPr marL="177800" indent="-177800">
              <a:spcAft>
                <a:spcPts val="1000"/>
              </a:spcAft>
              <a:buSzPct val="100000"/>
              <a:buChar char="•"/>
            </a:pPr>
            <a:r>
              <a:rPr lang="en-US" sz="1500" dirty="0">
                <a:solidFill>
                  <a:srgbClr val="1F2430"/>
                </a:solidFill>
              </a:rPr>
              <a:t>Rule for a real rise</a:t>
            </a:r>
            <a:endParaRPr lang="en-US" sz="1500" dirty="0"/>
          </a:p>
          <a:p>
            <a:pPr marL="177800" indent="-177800">
              <a:spcAft>
                <a:spcPts val="1000"/>
              </a:spcAft>
              <a:buSzPct val="100000"/>
              <a:buChar char="•"/>
            </a:pPr>
            <a:r>
              <a:rPr lang="en-US" sz="1500" dirty="0">
                <a:solidFill>
                  <a:srgbClr val="1F2430"/>
                </a:solidFill>
              </a:rPr>
              <a:t>Link changed product codes</a:t>
            </a:r>
            <a:endParaRPr lang="en-US" sz="1500" dirty="0"/>
          </a:p>
          <a:p>
            <a:pPr marL="177800" indent="-177800">
              <a:spcAft>
                <a:spcPts val="1000"/>
              </a:spcAft>
              <a:buSzPct val="100000"/>
              <a:buChar char="•"/>
            </a:pPr>
            <a:r>
              <a:rPr lang="en-US" sz="1500" dirty="0">
                <a:solidFill>
                  <a:srgbClr val="1F2430"/>
                </a:solidFill>
              </a:rPr>
              <a:t>Settle data decisions</a:t>
            </a:r>
            <a:endParaRPr lang="en-US" sz="1500" dirty="0"/>
          </a:p>
          <a:p>
            <a:pPr marL="177800" indent="-177800">
              <a:spcAft>
                <a:spcPts val="1000"/>
              </a:spcAft>
              <a:buSzPct val="100000"/>
              <a:buChar char="•"/>
            </a:pPr>
            <a:r>
              <a:rPr lang="en-US" sz="1500" dirty="0">
                <a:solidFill>
                  <a:srgbClr val="1F2430"/>
                </a:solidFill>
              </a:rPr>
              <a:t>Find what rising markets share</a:t>
            </a:r>
            <a:endParaRPr lang="en-US" sz="1500" dirty="0"/>
          </a:p>
        </p:txBody>
      </p:sp>
      <p:sp>
        <p:nvSpPr>
          <p:cNvPr id="16" name="takeaway box"/>
          <p:cNvSpPr/>
          <p:nvPr/>
        </p:nvSpPr>
        <p:spPr>
          <a:xfrm>
            <a:off x="457200" y="3931920"/>
            <a:ext cx="8229600" cy="640080"/>
          </a:xfrm>
          <a:prstGeom prst="roundRect">
            <a:avLst>
              <a:gd name="adj" fmla="val 11429"/>
            </a:avLst>
          </a:prstGeom>
          <a:solidFill>
            <a:srgbClr val="EEF0F3"/>
          </a:solidFill>
          <a:ln/>
        </p:spPr>
      </p:sp>
      <p:sp>
        <p:nvSpPr>
          <p:cNvPr id="17" name="takeaway"/>
          <p:cNvSpPr txBox="1"/>
          <p:nvPr/>
        </p:nvSpPr>
        <p:spPr>
          <a:xfrm>
            <a:off x="640080" y="3931920"/>
            <a:ext cx="7863840" cy="640080"/>
          </a:xfrm>
          <a:prstGeom prst="rect">
            <a:avLst/>
          </a:prstGeom>
          <a:noFill/>
          <a:ln/>
        </p:spPr>
        <p:txBody>
          <a:bodyPr wrap="square" lIns="0" tIns="0" rIns="0" bIns="0" rtlCol="0" anchor="ctr"/>
          <a:lstStyle/>
          <a:p>
            <a:pPr indent="0" marL="0">
              <a:buNone/>
            </a:pPr>
            <a:r>
              <a:rPr lang="en-US" sz="1400" b="1" dirty="0">
                <a:solidFill>
                  <a:srgbClr val="C2410C"/>
                </a:solidFill>
              </a:rPr>
              <a:t>What this means   </a:t>
            </a:r>
            <a:pPr indent="0" marL="0">
              <a:buNone/>
            </a:pPr>
            <a:r>
              <a:rPr lang="en-US" sz="1400" dirty="0">
                <a:solidFill>
                  <a:srgbClr val="1F2430"/>
                </a:solidFill>
              </a:rPr>
              <a:t>Half of civilian contract money now goes to markets where a few companies win most of it. Next we test which rises are real and what they have in common.</a:t>
            </a:r>
            <a:endParaRPr lang="en-US" sz="1400" dirty="0"/>
          </a:p>
        </p:txBody>
      </p:sp>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rtlCol="0" anchor="ctr"/>
          <a:lstStyle/>
          <a:p>
            <a:pPr algn="l" indent="0" marL="0">
              <a:buNone/>
            </a:pPr>
            <a:r>
              <a:rPr lang="en-US" sz="2200" b="1" dirty="0">
                <a:solidFill>
                  <a:srgbClr val="1F2430"/>
                </a:solidFill>
                <a:latin typeface="Cambria" pitchFamily="34" charset="0"/>
                <a:ea typeface="Cambria" pitchFamily="34" charset="-122"/>
                <a:cs typeface="Cambria" pitchFamily="34" charset="-120"/>
              </a:rPr>
              <a:t>Backup: civilian and Defense follow a similar path</a:t>
            </a:r>
            <a:endParaRPr lang="en-US" sz="2200" dirty="0"/>
          </a:p>
        </p:txBody>
      </p:sp>
      <p:sp>
        <p:nvSpPr>
          <p:cNvPr id="4" name="backup note"/>
          <p:cNvSpPr txBox="1"/>
          <p:nvPr/>
        </p:nvSpPr>
        <p:spPr>
          <a:xfrm>
            <a:off x="457200" y="4069080"/>
            <a:ext cx="8229600" cy="685800"/>
          </a:xfrm>
          <a:prstGeom prst="rect">
            <a:avLst/>
          </a:prstGeom>
          <a:noFill/>
          <a:ln/>
        </p:spPr>
        <p:txBody>
          <a:bodyPr wrap="square" lIns="0" tIns="0" rIns="0" bIns="0" rtlCol="0" anchor="t"/>
          <a:lstStyle/>
          <a:p>
            <a:pPr indent="0" marL="0">
              <a:buNone/>
            </a:pPr>
            <a:r>
              <a:rPr lang="en-US" sz="1200" dirty="0">
                <a:solidFill>
                  <a:srgbClr val="4A5568"/>
                </a:solidFill>
              </a:rPr>
              <a:t>Defense is about 60% of contract dollars. Its FY2024 dip comes from combat ships and fixed-wing aircraft, which fell below 2,500 that year and came back in FY2025.</a:t>
            </a:r>
            <a:endParaRPr lang="en-US" sz="1200" dirty="0"/>
          </a:p>
        </p:txBody>
      </p:sp>
      <p:graphicFrame>
        <p:nvGraphicFramePr>
          <p:cNvPr id="5" name="defense chart" descr=""/>
          <p:cNvGraphicFramePr/>
          <p:nvPr/>
        </p:nvGraphicFramePr>
        <p:xfrm>
          <a:off x="365760" y="914400"/>
          <a:ext cx="8412480" cy="30632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rtlCol="0" anchor="ctr"/>
          <a:lstStyle/>
          <a:p>
            <a:pPr algn="l" indent="0" marL="0">
              <a:buNone/>
            </a:pPr>
            <a:r>
              <a:rPr lang="en-US" sz="2200" b="1" dirty="0">
                <a:solidFill>
                  <a:srgbClr val="1F2430"/>
                </a:solidFill>
                <a:latin typeface="Cambria" pitchFamily="34" charset="0"/>
                <a:ea typeface="Cambria" pitchFamily="34" charset="-122"/>
                <a:cs typeface="Cambria" pitchFamily="34" charset="-120"/>
              </a:rPr>
              <a:t>Backup: civilian services are where concentration grew</a:t>
            </a:r>
            <a:endParaRPr lang="en-US" sz="2200" dirty="0"/>
          </a:p>
        </p:txBody>
      </p:sp>
      <p:sp>
        <p:nvSpPr>
          <p:cNvPr id="4" name="backup note"/>
          <p:cNvSpPr txBox="1"/>
          <p:nvPr/>
        </p:nvSpPr>
        <p:spPr>
          <a:xfrm>
            <a:off x="457200" y="4069080"/>
            <a:ext cx="8229600" cy="685800"/>
          </a:xfrm>
          <a:prstGeom prst="rect">
            <a:avLst/>
          </a:prstGeom>
          <a:noFill/>
          <a:ln/>
        </p:spPr>
        <p:txBody>
          <a:bodyPr wrap="square" lIns="0" tIns="0" rIns="0" bIns="0" rtlCol="0" anchor="t"/>
          <a:lstStyle/>
          <a:p>
            <a:pPr indent="0" marL="0">
              <a:buNone/>
            </a:pPr>
            <a:r>
              <a:rPr lang="en-US" sz="1200" dirty="0">
                <a:solidFill>
                  <a:srgbClr val="4A5568"/>
                </a:solidFill>
              </a:rPr>
              <a:t>Kind of purchase from the product code: codes starting with a digit are products, A is research, other letters are services.</a:t>
            </a:r>
            <a:endParaRPr lang="en-US" sz="1200" dirty="0"/>
          </a:p>
        </p:txBody>
      </p:sp>
      <p:graphicFrame>
        <p:nvGraphicFramePr>
          <p:cNvPr id="5" name="kind chart" descr=""/>
          <p:cNvGraphicFramePr/>
          <p:nvPr/>
        </p:nvGraphicFramePr>
        <p:xfrm>
          <a:off x="365760" y="914400"/>
          <a:ext cx="4754880" cy="3063240"/>
        </p:xfrm>
        <a:graphic xmlns:a="http://schemas.openxmlformats.org/drawingml/2006/main">
          <a:graphicData uri="http://schemas.openxmlformats.org/drawingml/2006/chart">
            <c:chart xmlns:c="http://schemas.openxmlformats.org/drawingml/2006/chart" r:id="rId1"/>
          </a:graphicData>
        </a:graphic>
      </p:graphicFrame>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394960" y="1097280"/>
          <a:ext cx="3291840" cy="914400"/>
        </p:xfrm>
        <a:graphic>
          <a:graphicData uri="http://schemas.openxmlformats.org/drawingml/2006/table">
            <a:tbl>
              <a:tblPr/>
              <a:tblGrid>
                <a:gridCol w="1280160"/>
                <a:gridCol w="1005840"/>
                <a:gridCol w="1005840"/>
              </a:tblGrid>
              <a:tr h="0">
                <a:tc>
                  <a:txBody>
                    <a:bodyPr/>
                    <a:lstStyle/>
                    <a:p>
                      <a:pPr indent="0" marL="0">
                        <a:buNone/>
                      </a:pPr>
                      <a:r>
                        <a:rPr lang="en-US" sz="1100" b="1" dirty="0">
                          <a:solidFill>
                            <a:srgbClr val="FFFFFF"/>
                          </a:solidFill>
                        </a:rPr>
                        <a:t>Civilian dollars</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2E3A4D"/>
                    </a:solidFill>
                  </a:tcPr>
                </a:tc>
                <a:tc>
                  <a:txBody>
                    <a:bodyPr/>
                    <a:lstStyle/>
                    <a:p>
                      <a:pPr indent="0" marL="0">
                        <a:buNone/>
                      </a:pPr>
                      <a:r>
                        <a:rPr lang="en-US" sz="1100" b="1" dirty="0">
                          <a:solidFill>
                            <a:srgbClr val="FFFFFF"/>
                          </a:solidFill>
                        </a:rPr>
                        <a:t>FY2008</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2E3A4D"/>
                    </a:solidFill>
                  </a:tcPr>
                </a:tc>
                <a:tc>
                  <a:txBody>
                    <a:bodyPr/>
                    <a:lstStyle/>
                    <a:p>
                      <a:pPr indent="0" marL="0">
                        <a:buNone/>
                      </a:pPr>
                      <a:r>
                        <a:rPr lang="en-US" sz="1100" b="1" dirty="0">
                          <a:solidFill>
                            <a:srgbClr val="FFFFFF"/>
                          </a:solidFill>
                        </a:rPr>
                        <a:t>FY2025</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2E3A4D"/>
                    </a:solidFill>
                  </a:tcPr>
                </a:tc>
              </a:tr>
              <a:tr h="0">
                <a:tc>
                  <a:txBody>
                    <a:bodyPr/>
                    <a:lstStyle/>
                    <a:p>
                      <a:pPr indent="0" marL="0">
                        <a:buNone/>
                      </a:pPr>
                      <a:r>
                        <a:rPr lang="en-US" sz="1100" dirty="0">
                          <a:solidFill>
                            <a:srgbClr val="1F2430"/>
                          </a:solidFill>
                        </a:rPr>
                        <a:t>Services</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rPr>
                        <a:t>$96.9B</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rPr>
                        <a:t>$229B</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rPr>
                        <a:t>Products</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rPr>
                        <a:t>$31.3B</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rPr>
                        <a:t>$52.1B</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rPr>
                        <a:t>Research</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rPr>
                        <a:t>$15.0B</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rPr>
                        <a:t>$19.9B</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rtlCol="0" anchor="ctr"/>
          <a:lstStyle/>
          <a:p>
            <a:pPr algn="l" indent="0" marL="0">
              <a:buNone/>
            </a:pPr>
            <a:r>
              <a:rPr lang="en-US" sz="2200" b="1" dirty="0">
                <a:solidFill>
                  <a:srgbClr val="1F2430"/>
                </a:solidFill>
                <a:latin typeface="Cambria" pitchFamily="34" charset="0"/>
                <a:ea typeface="Cambria" pitchFamily="34" charset="-122"/>
                <a:cs typeface="Cambria" pitchFamily="34" charset="-120"/>
              </a:rPr>
              <a:t>Backup: the data decisions barely change the picture</a:t>
            </a:r>
            <a:endParaRPr lang="en-US" sz="2200" dirty="0"/>
          </a:p>
        </p:txBody>
      </p:sp>
      <p:sp>
        <p:nvSpPr>
          <p:cNvPr id="4" name="backup note"/>
          <p:cNvSpPr txBox="1"/>
          <p:nvPr/>
        </p:nvSpPr>
        <p:spPr>
          <a:xfrm>
            <a:off x="457200" y="4069080"/>
            <a:ext cx="8229600" cy="685800"/>
          </a:xfrm>
          <a:prstGeom prst="rect">
            <a:avLst/>
          </a:prstGeom>
          <a:noFill/>
          <a:ln/>
        </p:spPr>
        <p:txBody>
          <a:bodyPr wrap="square" lIns="0" tIns="0" rIns="0" bIns="0" rtlCol="0" anchor="t"/>
          <a:lstStyle/>
          <a:p>
            <a:pPr indent="0" marL="0">
              <a:buNone/>
            </a:pPr>
            <a:r>
              <a:rPr lang="en-US" sz="1200" dirty="0">
                <a:solidFill>
                  <a:srgbClr val="4A5568"/>
                </a:solidFill>
              </a:rPr>
              <a:t>V1 applies the decisions as proposed: reversal pairs replaced by their net, the two US Mint rows, MISCELLANEOUS FOREIGN AWARDEES and rows with no vendor ID left out. V8b also leaves out deobligations larger than the award's obligations that year.</a:t>
            </a:r>
            <a:endParaRPr lang="en-US" sz="1200" dirty="0"/>
          </a:p>
        </p:txBody>
      </p:sp>
      <p:graphicFrame>
        <p:nvGraphicFramePr>
          <p:cNvPr id="5" name="decisions chart" descr=""/>
          <p:cNvGraphicFramePr/>
          <p:nvPr/>
        </p:nvGraphicFramePr>
        <p:xfrm>
          <a:off x="365760" y="914400"/>
          <a:ext cx="4572000" cy="3063240"/>
        </p:xfrm>
        <a:graphic xmlns:a="http://schemas.openxmlformats.org/drawingml/2006/main">
          <a:graphicData uri="http://schemas.openxmlformats.org/drawingml/2006/chart">
            <c:chart xmlns:c="http://schemas.openxmlformats.org/drawingml/2006/chart" r:id="rId1"/>
          </a:graphicData>
        </a:graphic>
      </p:graphicFrame>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120640" y="1051560"/>
          <a:ext cx="3566160" cy="914400"/>
        </p:xfrm>
        <a:graphic>
          <a:graphicData uri="http://schemas.openxmlformats.org/drawingml/2006/table">
            <a:tbl>
              <a:tblPr/>
              <a:tblGrid>
                <a:gridCol w="502920"/>
                <a:gridCol w="1417320"/>
                <a:gridCol w="822960"/>
                <a:gridCol w="822960"/>
              </a:tblGrid>
              <a:tr h="0">
                <a:tc>
                  <a:txBody>
                    <a:bodyPr/>
                    <a:lstStyle/>
                    <a:p>
                      <a:pPr indent="0" marL="0">
                        <a:buNone/>
                      </a:pPr>
                      <a:r>
                        <a:rPr lang="en-US" sz="1000" b="1" dirty="0">
                          <a:solidFill>
                            <a:srgbClr val="FFFFFF"/>
                          </a:solidFill>
                        </a:rPr>
                        <a:t>Against V0</a:t>
                      </a:r>
                      <a:endParaRPr lang="en-US" sz="10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2E3A4D"/>
                    </a:solidFill>
                  </a:tcPr>
                </a:tc>
                <a:tc>
                  <a:txBody>
                    <a:bodyPr/>
                    <a:lstStyle/>
                    <a:p>
                      <a:pPr indent="0" marL="0">
                        <a:buNone/>
                      </a:pPr>
                      <a:r>
                        <a:rPr lang="en-US" sz="1000" b="1" dirty="0">
                          <a:solidFill>
                            <a:srgbClr val="FFFFFF"/>
                          </a:solidFill>
                        </a:rPr>
                        <a:t>Segments changing band</a:t>
                      </a:r>
                      <a:endParaRPr lang="en-US" sz="10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2E3A4D"/>
                    </a:solidFill>
                  </a:tcPr>
                </a:tc>
                <a:tc>
                  <a:txBody>
                    <a:bodyPr/>
                    <a:lstStyle/>
                    <a:p>
                      <a:pPr indent="0" marL="0">
                        <a:buNone/>
                      </a:pPr>
                      <a:r>
                        <a:rPr lang="en-US" sz="1000" b="1" dirty="0">
                          <a:solidFill>
                            <a:srgbClr val="FFFFFF"/>
                          </a:solidFill>
                        </a:rPr>
                        <a:t>Into above 2,500</a:t>
                      </a:r>
                      <a:endParaRPr lang="en-US" sz="10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2E3A4D"/>
                    </a:solidFill>
                  </a:tcPr>
                </a:tc>
                <a:tc>
                  <a:txBody>
                    <a:bodyPr/>
                    <a:lstStyle/>
                    <a:p>
                      <a:pPr indent="0" marL="0">
                        <a:buNone/>
                      </a:pPr>
                      <a:r>
                        <a:rPr lang="en-US" sz="1000" b="1" dirty="0">
                          <a:solidFill>
                            <a:srgbClr val="FFFFFF"/>
                          </a:solidFill>
                        </a:rPr>
                        <a:t>Out of above 2,500</a:t>
                      </a:r>
                      <a:endParaRPr lang="en-US" sz="10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2E3A4D"/>
                    </a:solidFill>
                  </a:tcPr>
                </a:tc>
              </a:tr>
              <a:tr h="0">
                <a:tc>
                  <a:txBody>
                    <a:bodyPr/>
                    <a:lstStyle/>
                    <a:p>
                      <a:pPr indent="0" marL="0">
                        <a:buNone/>
                      </a:pPr>
                      <a:r>
                        <a:rPr lang="en-US" sz="1000" dirty="0">
                          <a:solidFill>
                            <a:srgbClr val="1F2430"/>
                          </a:solidFill>
                        </a:rPr>
                        <a:t>V1</a:t>
                      </a:r>
                      <a:endParaRPr lang="en-US" sz="10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rPr>
                        <a:t>3,241 of 357,284 (0.9%)</a:t>
                      </a:r>
                      <a:endParaRPr lang="en-US" sz="10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rPr>
                        <a:t>599</a:t>
                      </a:r>
                      <a:endParaRPr lang="en-US" sz="10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rPr>
                        <a:t>1,801</a:t>
                      </a:r>
                      <a:endParaRPr lang="en-US" sz="10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F2430"/>
                          </a:solidFill>
                        </a:rPr>
                        <a:t>V8b</a:t>
                      </a:r>
                      <a:endParaRPr lang="en-US" sz="10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gridSpan="3">
                  <a:txBody>
                    <a:bodyPr/>
                    <a:lstStyle/>
                    <a:p>
                      <a:pPr indent="0" marL="0">
                        <a:buNone/>
                      </a:pPr>
                      <a:r>
                        <a:rPr lang="en-US" sz="1000" i="1" dirty="0">
                          <a:solidFill>
                            <a:srgbClr val="4A5568"/>
                          </a:solidFill>
                        </a:rPr>
                        <a:t>Pending: needs Stage 2 flags for every year</a:t>
                      </a:r>
                      <a:endParaRPr lang="en-US" sz="10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hMerge="1">
                  <a:tcPr/>
                </a:tc>
                <a:tc hMerge="1">
                  <a:tcPr/>
                </a:tc>
              </a:tr>
            </a:tbl>
          </a:graphicData>
        </a:graphic>
      </p:graphicFrame>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rtlCol="0" anchor="ctr"/>
          <a:lstStyle/>
          <a:p>
            <a:pPr algn="l" indent="0" marL="0">
              <a:buNone/>
            </a:pPr>
            <a:r>
              <a:rPr lang="en-US" sz="2200" b="1" dirty="0">
                <a:solidFill>
                  <a:srgbClr val="1F2430"/>
                </a:solidFill>
                <a:latin typeface="Cambria" pitchFamily="34" charset="0"/>
                <a:ea typeface="Cambria" pitchFamily="34" charset="-122"/>
                <a:cs typeface="Cambria" pitchFamily="34" charset="-120"/>
              </a:rPr>
              <a:t>Backup: product codes mostly carry across the code changes</a:t>
            </a:r>
            <a:endParaRPr lang="en-US" sz="2200" dirty="0"/>
          </a:p>
        </p:txBody>
      </p:sp>
      <p:sp>
        <p:nvSpPr>
          <p:cNvPr id="4" name="backup note"/>
          <p:cNvSpPr txBox="1"/>
          <p:nvPr/>
        </p:nvSpPr>
        <p:spPr>
          <a:xfrm>
            <a:off x="457200" y="4069080"/>
            <a:ext cx="8229600" cy="685800"/>
          </a:xfrm>
          <a:prstGeom prst="rect">
            <a:avLst/>
          </a:prstGeom>
          <a:noFill/>
          <a:ln/>
        </p:spPr>
        <p:txBody>
          <a:bodyPr wrap="square" lIns="0" tIns="0" rIns="0" bIns="0" rtlCol="0" anchor="t"/>
          <a:lstStyle/>
          <a:p>
            <a:pPr indent="0" marL="0">
              <a:buNone/>
            </a:pPr>
            <a:r>
              <a:rPr lang="en-US" sz="1200" dirty="0">
                <a:solidFill>
                  <a:srgbClr val="4A5568"/>
                </a:solidFill>
              </a:rPr>
              <a:t>Product code manuals changed on 2011-10-01 and 2020-10-01. Codes that stopped at either change held almost no dollars. New codes took 87% construction and repair in FY2012, and almost all IT in FY2021.</a:t>
            </a:r>
            <a:endParaRPr lang="en-US" sz="1200" dirty="0"/>
          </a:p>
        </p:txBody>
      </p:sp>
      <p:sp>
        <p:nvSpPr>
          <p:cNvPr id="5" name="era 1"/>
          <p:cNvSpPr/>
          <p:nvPr/>
        </p:nvSpPr>
        <p:spPr>
          <a:xfrm>
            <a:off x="484632" y="1051560"/>
            <a:ext cx="1773936" cy="457200"/>
          </a:xfrm>
          <a:prstGeom prst="rect">
            <a:avLst/>
          </a:prstGeom>
          <a:solidFill>
            <a:srgbClr val="8A94A6"/>
          </a:solidFill>
          <a:ln/>
        </p:spPr>
      </p:sp>
      <p:sp>
        <p:nvSpPr>
          <p:cNvPr id="6" name="era 1 label"/>
          <p:cNvSpPr txBox="1"/>
          <p:nvPr/>
        </p:nvSpPr>
        <p:spPr>
          <a:xfrm>
            <a:off x="457200" y="1051560"/>
            <a:ext cx="1828800" cy="457200"/>
          </a:xfrm>
          <a:prstGeom prst="rect">
            <a:avLst/>
          </a:prstGeom>
          <a:noFill/>
          <a:ln/>
        </p:spPr>
        <p:txBody>
          <a:bodyPr wrap="square" lIns="0" tIns="0" rIns="0" bIns="0" rtlCol="0" anchor="ctr"/>
          <a:lstStyle/>
          <a:p>
            <a:pPr algn="ctr" indent="0" marL="0">
              <a:buNone/>
            </a:pPr>
            <a:r>
              <a:rPr lang="en-US" sz="1100" b="1" dirty="0">
                <a:solidFill>
                  <a:srgbClr val="FFFFFF"/>
                </a:solidFill>
              </a:rPr>
              <a:t>4 years, FY2008 to FY2011</a:t>
            </a:r>
            <a:endParaRPr lang="en-US" sz="1100" dirty="0"/>
          </a:p>
        </p:txBody>
      </p:sp>
      <p:sp>
        <p:nvSpPr>
          <p:cNvPr id="7" name="era 2"/>
          <p:cNvSpPr/>
          <p:nvPr/>
        </p:nvSpPr>
        <p:spPr>
          <a:xfrm>
            <a:off x="2313432" y="1051560"/>
            <a:ext cx="4059936" cy="457200"/>
          </a:xfrm>
          <a:prstGeom prst="rect">
            <a:avLst/>
          </a:prstGeom>
          <a:solidFill>
            <a:srgbClr val="2E3A4D"/>
          </a:solidFill>
          <a:ln/>
        </p:spPr>
      </p:sp>
      <p:sp>
        <p:nvSpPr>
          <p:cNvPr id="8" name="era 2 label"/>
          <p:cNvSpPr txBox="1"/>
          <p:nvPr/>
        </p:nvSpPr>
        <p:spPr>
          <a:xfrm>
            <a:off x="2286000" y="1051560"/>
            <a:ext cx="4114800" cy="457200"/>
          </a:xfrm>
          <a:prstGeom prst="rect">
            <a:avLst/>
          </a:prstGeom>
          <a:noFill/>
          <a:ln/>
        </p:spPr>
        <p:txBody>
          <a:bodyPr wrap="square" lIns="0" tIns="0" rIns="0" bIns="0" rtlCol="0" anchor="ctr"/>
          <a:lstStyle/>
          <a:p>
            <a:pPr algn="ctr" indent="0" marL="0">
              <a:buNone/>
            </a:pPr>
            <a:r>
              <a:rPr lang="en-US" sz="1100" b="1" dirty="0">
                <a:solidFill>
                  <a:srgbClr val="FFFFFF"/>
                </a:solidFill>
              </a:rPr>
              <a:t>9 years, FY2012 to FY2020</a:t>
            </a:r>
            <a:endParaRPr lang="en-US" sz="1100" dirty="0"/>
          </a:p>
        </p:txBody>
      </p:sp>
      <p:sp>
        <p:nvSpPr>
          <p:cNvPr id="9" name="era 3"/>
          <p:cNvSpPr/>
          <p:nvPr/>
        </p:nvSpPr>
        <p:spPr>
          <a:xfrm>
            <a:off x="6428232" y="1051560"/>
            <a:ext cx="2231136" cy="457200"/>
          </a:xfrm>
          <a:prstGeom prst="rect">
            <a:avLst/>
          </a:prstGeom>
          <a:solidFill>
            <a:srgbClr val="8A94A6"/>
          </a:solidFill>
          <a:ln/>
        </p:spPr>
      </p:sp>
      <p:sp>
        <p:nvSpPr>
          <p:cNvPr id="10" name="era 3 label"/>
          <p:cNvSpPr txBox="1"/>
          <p:nvPr/>
        </p:nvSpPr>
        <p:spPr>
          <a:xfrm>
            <a:off x="6400800" y="1051560"/>
            <a:ext cx="2286000" cy="457200"/>
          </a:xfrm>
          <a:prstGeom prst="rect">
            <a:avLst/>
          </a:prstGeom>
          <a:noFill/>
          <a:ln/>
        </p:spPr>
        <p:txBody>
          <a:bodyPr wrap="square" lIns="0" tIns="0" rIns="0" bIns="0" rtlCol="0" anchor="ctr"/>
          <a:lstStyle/>
          <a:p>
            <a:pPr algn="ctr" indent="0" marL="0">
              <a:buNone/>
            </a:pPr>
            <a:r>
              <a:rPr lang="en-US" sz="1100" b="1" dirty="0">
                <a:solidFill>
                  <a:srgbClr val="FFFFFF"/>
                </a:solidFill>
              </a:rPr>
              <a:t>5 years, FY2021 to FY2025</a:t>
            </a:r>
            <a:endParaRPr lang="en-US" sz="1100" dirty="0"/>
          </a:p>
        </p:txBody>
      </p:sp>
      <p:sp>
        <p:nvSpPr>
          <p:cNvPr id="11" name="codes all value"/>
          <p:cNvSpPr txBox="1"/>
          <p:nvPr/>
        </p:nvSpPr>
        <p:spPr>
          <a:xfrm>
            <a:off x="457200" y="1828800"/>
            <a:ext cx="2560320" cy="566928"/>
          </a:xfrm>
          <a:prstGeom prst="rect">
            <a:avLst/>
          </a:prstGeom>
          <a:noFill/>
          <a:ln/>
        </p:spPr>
        <p:txBody>
          <a:bodyPr wrap="square" lIns="0" tIns="0" rIns="0" bIns="0" rtlCol="0" anchor="b"/>
          <a:lstStyle/>
          <a:p>
            <a:pPr indent="0" marL="0">
              <a:buNone/>
            </a:pPr>
            <a:r>
              <a:rPr lang="en-US" sz="3200" b="1" dirty="0">
                <a:solidFill>
                  <a:srgbClr val="2E3A4D"/>
                </a:solidFill>
                <a:latin typeface="Cambria" pitchFamily="34" charset="0"/>
                <a:ea typeface="Cambria" pitchFamily="34" charset="-122"/>
                <a:cs typeface="Cambria" pitchFamily="34" charset="-120"/>
              </a:rPr>
              <a:t>88.5%</a:t>
            </a:r>
            <a:endParaRPr lang="en-US" sz="3200" dirty="0"/>
          </a:p>
        </p:txBody>
      </p:sp>
      <p:sp>
        <p:nvSpPr>
          <p:cNvPr id="12" name="codes all label"/>
          <p:cNvSpPr txBox="1"/>
          <p:nvPr/>
        </p:nvSpPr>
        <p:spPr>
          <a:xfrm>
            <a:off x="457200" y="2432304"/>
            <a:ext cx="2560320" cy="457200"/>
          </a:xfrm>
          <a:prstGeom prst="rect">
            <a:avLst/>
          </a:prstGeom>
          <a:noFill/>
          <a:ln/>
        </p:spPr>
        <p:txBody>
          <a:bodyPr wrap="square" lIns="0" tIns="0" rIns="0" bIns="0" rtlCol="0" anchor="t"/>
          <a:lstStyle/>
          <a:p>
            <a:pPr indent="0" marL="0">
              <a:buNone/>
            </a:pPr>
            <a:r>
              <a:rPr lang="en-US" sz="1200" dirty="0">
                <a:solidFill>
                  <a:srgbClr val="4A5568"/>
                </a:solidFill>
              </a:rPr>
              <a:t>of all dollars are on codes used in every era</a:t>
            </a:r>
            <a:endParaRPr lang="en-US" sz="1200" dirty="0"/>
          </a:p>
        </p:txBody>
      </p:sp>
      <p:sp>
        <p:nvSpPr>
          <p:cNvPr id="13" name="codes 2012 value"/>
          <p:cNvSpPr txBox="1"/>
          <p:nvPr/>
        </p:nvSpPr>
        <p:spPr>
          <a:xfrm>
            <a:off x="3291840" y="1828800"/>
            <a:ext cx="2560320" cy="566928"/>
          </a:xfrm>
          <a:prstGeom prst="rect">
            <a:avLst/>
          </a:prstGeom>
          <a:noFill/>
          <a:ln/>
        </p:spPr>
        <p:txBody>
          <a:bodyPr wrap="square" lIns="0" tIns="0" rIns="0" bIns="0" rtlCol="0" anchor="b"/>
          <a:lstStyle/>
          <a:p>
            <a:pPr indent="0" marL="0">
              <a:buNone/>
            </a:pPr>
            <a:r>
              <a:rPr lang="en-US" sz="3200" b="1" dirty="0">
                <a:solidFill>
                  <a:srgbClr val="C2410C"/>
                </a:solidFill>
                <a:latin typeface="Cambria" pitchFamily="34" charset="0"/>
                <a:ea typeface="Cambria" pitchFamily="34" charset="-122"/>
                <a:cs typeface="Cambria" pitchFamily="34" charset="-120"/>
              </a:rPr>
              <a:t>6.5%</a:t>
            </a:r>
            <a:endParaRPr lang="en-US" sz="3200" dirty="0"/>
          </a:p>
        </p:txBody>
      </p:sp>
      <p:sp>
        <p:nvSpPr>
          <p:cNvPr id="14" name="codes 2012 label"/>
          <p:cNvSpPr txBox="1"/>
          <p:nvPr/>
        </p:nvSpPr>
        <p:spPr>
          <a:xfrm>
            <a:off x="3291840" y="2432304"/>
            <a:ext cx="2560320" cy="457200"/>
          </a:xfrm>
          <a:prstGeom prst="rect">
            <a:avLst/>
          </a:prstGeom>
          <a:noFill/>
          <a:ln/>
        </p:spPr>
        <p:txBody>
          <a:bodyPr wrap="square" lIns="0" tIns="0" rIns="0" bIns="0" rtlCol="0" anchor="t"/>
          <a:lstStyle/>
          <a:p>
            <a:pPr indent="0" marL="0">
              <a:buNone/>
            </a:pPr>
            <a:r>
              <a:rPr lang="en-US" sz="1200" dirty="0">
                <a:solidFill>
                  <a:srgbClr val="4A5568"/>
                </a:solidFill>
              </a:rPr>
              <a:t>of FY2012 dollars went to codes new that year</a:t>
            </a:r>
            <a:endParaRPr lang="en-US" sz="1200" dirty="0"/>
          </a:p>
        </p:txBody>
      </p:sp>
      <p:sp>
        <p:nvSpPr>
          <p:cNvPr id="15" name="codes 2021 value"/>
          <p:cNvSpPr txBox="1"/>
          <p:nvPr/>
        </p:nvSpPr>
        <p:spPr>
          <a:xfrm>
            <a:off x="6126480" y="1828800"/>
            <a:ext cx="2560320" cy="566928"/>
          </a:xfrm>
          <a:prstGeom prst="rect">
            <a:avLst/>
          </a:prstGeom>
          <a:noFill/>
          <a:ln/>
        </p:spPr>
        <p:txBody>
          <a:bodyPr wrap="square" lIns="0" tIns="0" rIns="0" bIns="0" rtlCol="0" anchor="b"/>
          <a:lstStyle/>
          <a:p>
            <a:pPr indent="0" marL="0">
              <a:buNone/>
            </a:pPr>
            <a:r>
              <a:rPr lang="en-US" sz="3200" b="1" dirty="0">
                <a:solidFill>
                  <a:srgbClr val="C2410C"/>
                </a:solidFill>
                <a:latin typeface="Cambria" pitchFamily="34" charset="0"/>
                <a:ea typeface="Cambria" pitchFamily="34" charset="-122"/>
                <a:cs typeface="Cambria" pitchFamily="34" charset="-120"/>
              </a:rPr>
              <a:t>4.4%</a:t>
            </a:r>
            <a:endParaRPr lang="en-US" sz="3200" dirty="0"/>
          </a:p>
        </p:txBody>
      </p:sp>
      <p:sp>
        <p:nvSpPr>
          <p:cNvPr id="16" name="codes 2021 label"/>
          <p:cNvSpPr txBox="1"/>
          <p:nvPr/>
        </p:nvSpPr>
        <p:spPr>
          <a:xfrm>
            <a:off x="6126480" y="2432304"/>
            <a:ext cx="2560320" cy="457200"/>
          </a:xfrm>
          <a:prstGeom prst="rect">
            <a:avLst/>
          </a:prstGeom>
          <a:noFill/>
          <a:ln/>
        </p:spPr>
        <p:txBody>
          <a:bodyPr wrap="square" lIns="0" tIns="0" rIns="0" bIns="0" rtlCol="0" anchor="t"/>
          <a:lstStyle/>
          <a:p>
            <a:pPr indent="0" marL="0">
              <a:buNone/>
            </a:pPr>
            <a:r>
              <a:rPr lang="en-US" sz="1200" dirty="0">
                <a:solidFill>
                  <a:srgbClr val="4A5568"/>
                </a:solidFill>
              </a:rPr>
              <a:t>of FY2021 dollars went to codes new that year</a:t>
            </a:r>
            <a:endParaRPr lang="en-US" sz="1200" dirty="0"/>
          </a:p>
        </p:txBody>
      </p:sp>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rtlCol="0" anchor="ctr"/>
          <a:lstStyle/>
          <a:p>
            <a:pPr algn="l" indent="0" marL="0">
              <a:buNone/>
            </a:pPr>
            <a:r>
              <a:rPr lang="en-US" sz="2200" b="1" dirty="0">
                <a:solidFill>
                  <a:srgbClr val="1F2430"/>
                </a:solidFill>
                <a:latin typeface="Cambria" pitchFamily="34" charset="0"/>
                <a:ea typeface="Cambria" pitchFamily="34" charset="-122"/>
                <a:cs typeface="Cambria" pitchFamily="34" charset="-120"/>
              </a:rPr>
              <a:t>Backup: yearly swings are larger than the 500-point cutoff</a:t>
            </a:r>
            <a:endParaRPr lang="en-US" sz="2200" dirty="0"/>
          </a:p>
        </p:txBody>
      </p:sp>
      <p:sp>
        <p:nvSpPr>
          <p:cNvPr id="4" name="backup note"/>
          <p:cNvSpPr txBox="1"/>
          <p:nvPr/>
        </p:nvSpPr>
        <p:spPr>
          <a:xfrm>
            <a:off x="457200" y="4069080"/>
            <a:ext cx="8229600" cy="685800"/>
          </a:xfrm>
          <a:prstGeom prst="rect">
            <a:avLst/>
          </a:prstGeom>
          <a:noFill/>
          <a:ln/>
        </p:spPr>
        <p:txBody>
          <a:bodyPr wrap="square" lIns="0" tIns="0" rIns="0" bIns="0" rtlCol="0" anchor="t"/>
          <a:lstStyle/>
          <a:p>
            <a:pPr indent="0" marL="0">
              <a:buNone/>
            </a:pPr>
            <a:r>
              <a:rPr lang="en-US" sz="1200" dirty="0">
                <a:solidFill>
                  <a:srgbClr val="4A5568"/>
                </a:solidFill>
              </a:rPr>
              <a:t>A line is one agency and one product code, FY2012 to FY2020, with at least 6 scored years and $10 million. Shuffling keeps each line's yearly scores and drops their order, so it shows what noise alone produces.</a:t>
            </a:r>
            <a:endParaRPr lang="en-US" sz="1200" dirty="0"/>
          </a:p>
        </p:txBody>
      </p:sp>
      <p:graphicFrame>
        <p:nvGraphicFramePr>
          <p:cNvPr id="5" name="noise chart" descr=""/>
          <p:cNvGraphicFramePr/>
          <p:nvPr/>
        </p:nvGraphicFramePr>
        <p:xfrm>
          <a:off x="365760" y="914400"/>
          <a:ext cx="5120640" cy="3063240"/>
        </p:xfrm>
        <a:graphic xmlns:a="http://schemas.openxmlformats.org/drawingml/2006/main">
          <a:graphicData uri="http://schemas.openxmlformats.org/drawingml/2006/chart">
            <c:chart xmlns:c="http://schemas.openxmlformats.org/drawingml/2006/chart" r:id="rId1"/>
          </a:graphicData>
        </a:graphic>
      </p:graphicFrame>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715000" y="1097280"/>
          <a:ext cx="2971800" cy="914400"/>
        </p:xfrm>
        <a:graphic>
          <a:graphicData uri="http://schemas.openxmlformats.org/drawingml/2006/table">
            <a:tbl>
              <a:tblPr/>
              <a:tblGrid>
                <a:gridCol w="822960"/>
                <a:gridCol w="1005840"/>
                <a:gridCol w="1143000"/>
              </a:tblGrid>
              <a:tr h="0">
                <a:tc>
                  <a:txBody>
                    <a:bodyPr/>
                    <a:lstStyle/>
                    <a:p>
                      <a:pPr indent="0" marL="0">
                        <a:buNone/>
                      </a:pPr>
                      <a:r>
                        <a:rPr lang="en-US" sz="1100" b="1" dirty="0">
                          <a:solidFill>
                            <a:srgbClr val="FFFFFF"/>
                          </a:solidFill>
                        </a:rPr>
                        <a:t>Cutoff</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2E3A4D"/>
                    </a:solidFill>
                  </a:tcPr>
                </a:tc>
                <a:tc>
                  <a:txBody>
                    <a:bodyPr/>
                    <a:lstStyle/>
                    <a:p>
                      <a:pPr indent="0" marL="0">
                        <a:buNone/>
                      </a:pPr>
                      <a:r>
                        <a:rPr lang="en-US" sz="1100" b="1" dirty="0">
                          <a:solidFill>
                            <a:srgbClr val="FFFFFF"/>
                          </a:solidFill>
                        </a:rPr>
                        <a:t>Lines rising</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2E3A4D"/>
                    </a:solidFill>
                  </a:tcPr>
                </a:tc>
                <a:tc>
                  <a:txBody>
                    <a:bodyPr/>
                    <a:lstStyle/>
                    <a:p>
                      <a:pPr indent="0" marL="0">
                        <a:buNone/>
                      </a:pPr>
                      <a:r>
                        <a:rPr lang="en-US" sz="1100" b="1" dirty="0">
                          <a:solidFill>
                            <a:srgbClr val="FFFFFF"/>
                          </a:solidFill>
                        </a:rPr>
                        <a:t>Years shuffled</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2E3A4D"/>
                    </a:solidFill>
                  </a:tcPr>
                </a:tc>
              </a:tr>
              <a:tr h="0">
                <a:tc>
                  <a:txBody>
                    <a:bodyPr/>
                    <a:lstStyle/>
                    <a:p>
                      <a:pPr indent="0" marL="0">
                        <a:buNone/>
                      </a:pPr>
                      <a:r>
                        <a:rPr lang="en-US" sz="1100" dirty="0">
                          <a:solidFill>
                            <a:srgbClr val="1F2430"/>
                          </a:solidFill>
                        </a:rPr>
                        <a:t>250</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rPr>
                        <a:t>44.8%</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rPr>
                        <a:t>36.1%</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rPr>
                        <a:t>500</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rPr>
                        <a:t>37.9%</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rPr>
                        <a:t>28.2%</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rPr>
                        <a:t>1,000</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rPr>
                        <a:t>28.4%</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rPr>
                        <a:t>18.0%</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rtlCol="0" anchor="ctr"/>
          <a:lstStyle/>
          <a:p>
            <a:pPr algn="l" indent="0" marL="0">
              <a:buNone/>
            </a:pPr>
            <a:r>
              <a:rPr lang="en-US" sz="2200" b="1" dirty="0">
                <a:solidFill>
                  <a:srgbClr val="1F2430"/>
                </a:solidFill>
                <a:latin typeface="Cambria" pitchFamily="34" charset="0"/>
                <a:ea typeface="Cambria" pitchFamily="34" charset="-122"/>
                <a:cs typeface="Cambria" pitchFamily="34" charset="-120"/>
              </a:rPr>
              <a:t>Backup: some fields change coverage over time</a:t>
            </a:r>
            <a:endParaRPr lang="en-US" sz="2200" dirty="0"/>
          </a:p>
        </p:txBody>
      </p:sp>
      <p:sp>
        <p:nvSpPr>
          <p:cNvPr id="4" name="backup note"/>
          <p:cNvSpPr txBox="1"/>
          <p:nvPr/>
        </p:nvSpPr>
        <p:spPr>
          <a:xfrm>
            <a:off x="457200" y="4069080"/>
            <a:ext cx="8229600" cy="685800"/>
          </a:xfrm>
          <a:prstGeom prst="rect">
            <a:avLst/>
          </a:prstGeom>
          <a:noFill/>
          <a:ln/>
        </p:spPr>
        <p:txBody>
          <a:bodyPr wrap="square" lIns="0" tIns="0" rIns="0" bIns="0" rtlCol="0" anchor="t"/>
          <a:lstStyle/>
          <a:p>
            <a:pPr indent="0" marL="0">
              <a:buNone/>
            </a:pPr>
            <a:r>
              <a:rPr lang="en-US" sz="1200" dirty="0">
                <a:solidFill>
                  <a:srgbClr val="4A5568"/>
                </a:solidFill>
              </a:rPr>
              <a:t>Set-aside and offers fields are blank on many dollars from FY2018, and most of the blank rows are orders under contract vehicles. The order competition field is blank on 75% to 88% of dollars, since it applies only to some orders.</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3108960"/>
                <a:gridCol w="1280160"/>
                <a:gridCol w="1280160"/>
                <a:gridCol w="1280160"/>
                <a:gridCol w="1280160"/>
              </a:tblGrid>
              <a:tr h="0">
                <a:tc>
                  <a:txBody>
                    <a:bodyPr/>
                    <a:lstStyle/>
                    <a:p>
                      <a:pPr indent="0" marL="0">
                        <a:buNone/>
                      </a:pPr>
                      <a:r>
                        <a:rPr lang="en-US" sz="1100" b="1" dirty="0">
                          <a:solidFill>
                            <a:srgbClr val="FFFFFF"/>
                          </a:solidFill>
                        </a:rPr>
                        <a:t>Share of dollars, all agencies</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2E3A4D"/>
                    </a:solidFill>
                  </a:tcPr>
                </a:tc>
                <a:tc>
                  <a:txBody>
                    <a:bodyPr/>
                    <a:lstStyle/>
                    <a:p>
                      <a:pPr indent="0" marL="0">
                        <a:buNone/>
                      </a:pPr>
                      <a:r>
                        <a:rPr lang="en-US" sz="1100" b="1" dirty="0">
                          <a:solidFill>
                            <a:srgbClr val="FFFFFF"/>
                          </a:solidFill>
                        </a:rPr>
                        <a:t>FY2008</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2E3A4D"/>
                    </a:solidFill>
                  </a:tcPr>
                </a:tc>
                <a:tc>
                  <a:txBody>
                    <a:bodyPr/>
                    <a:lstStyle/>
                    <a:p>
                      <a:pPr indent="0" marL="0">
                        <a:buNone/>
                      </a:pPr>
                      <a:r>
                        <a:rPr lang="en-US" sz="1100" b="1" dirty="0">
                          <a:solidFill>
                            <a:srgbClr val="FFFFFF"/>
                          </a:solidFill>
                        </a:rPr>
                        <a:t>FY2012</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2E3A4D"/>
                    </a:solidFill>
                  </a:tcPr>
                </a:tc>
                <a:tc>
                  <a:txBody>
                    <a:bodyPr/>
                    <a:lstStyle/>
                    <a:p>
                      <a:pPr indent="0" marL="0">
                        <a:buNone/>
                      </a:pPr>
                      <a:r>
                        <a:rPr lang="en-US" sz="1100" b="1" dirty="0">
                          <a:solidFill>
                            <a:srgbClr val="FFFFFF"/>
                          </a:solidFill>
                        </a:rPr>
                        <a:t>FY2018</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2E3A4D"/>
                    </a:solidFill>
                  </a:tcPr>
                </a:tc>
                <a:tc>
                  <a:txBody>
                    <a:bodyPr/>
                    <a:lstStyle/>
                    <a:p>
                      <a:pPr indent="0" marL="0">
                        <a:buNone/>
                      </a:pPr>
                      <a:r>
                        <a:rPr lang="en-US" sz="1100" b="1" dirty="0">
                          <a:solidFill>
                            <a:srgbClr val="FFFFFF"/>
                          </a:solidFill>
                        </a:rPr>
                        <a:t>FY2025</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2E3A4D"/>
                    </a:solidFill>
                  </a:tcPr>
                </a:tc>
              </a:tr>
              <a:tr h="0">
                <a:tc>
                  <a:txBody>
                    <a:bodyPr/>
                    <a:lstStyle/>
                    <a:p>
                      <a:pPr indent="0" marL="0">
                        <a:buNone/>
                      </a:pPr>
                      <a:r>
                        <a:rPr lang="en-US" sz="1100" dirty="0">
                          <a:solidFill>
                            <a:srgbClr val="1F2430"/>
                          </a:solidFill>
                        </a:rPr>
                        <a:t>Sole source on the umbrella</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rPr>
                        <a:t>33.6%</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rPr>
                        <a:t>33.4%</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rPr>
                        <a:t>33.8%</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rPr>
                        <a:t>33.1%</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rPr>
                        <a:t>Order field blank</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rPr>
                        <a:t>88.3%</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rPr>
                        <a:t>80.7%</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rPr>
                        <a:t>78.1%</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rPr>
                        <a:t>74.7%</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rPr>
                        <a:t>Set-aside field blank</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rPr>
                        <a:t>5.3%</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rPr>
                        <a:t>4.0%</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rPr>
                        <a:t>45.1%</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rPr>
                        <a:t>53.2%</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rPr>
                        <a:t>Offers reported, share of competed</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rPr>
                        <a:t>100.0%</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rPr>
                        <a:t>100.0%</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rPr>
                        <a:t>76.4%</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rPr>
                        <a:t>69.7%</a:t>
                      </a:r>
                      <a:endParaRPr lang="en-US" sz="1100" dirty="0"/>
                    </a:p>
                  </a:txBody>
                  <a:tcPr marL="45720" marR="4572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 federal contract money going to fewer companies?</dc:title>
  <dc:subject>PptxGenJS Presentation</dc:subject>
  <dc:creator>Suchitra Hole, Shivram Nekkanti, Andy Hannah</dc:creator>
  <cp:lastModifiedBy>Suchitra Hole, Shivram Nekkanti, Andy Hannah</cp:lastModifiedBy>
  <cp:revision>1</cp:revision>
  <dcterms:created xsi:type="dcterms:W3CDTF">2026-10-12T23:00:01Z</dcterms:created>
  <dcterms:modified xsi:type="dcterms:W3CDTF">2026-10-12T23:00:01Z</dcterms:modified>
</cp:coreProperties>
</file>