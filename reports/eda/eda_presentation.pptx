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d43d8505-3560-19f8-4ff7-c3ba3756d98f}">
          <p14:sldIdLst>
            <p14:sldId id="256"/>
            <p14:sldId id="257"/>
            <p14:sldId id="258"/>
            <p14:sldId id="259"/>
            <p14:sldId id="260"/>
            <p14:sldId id="261"/>
            <p14:sldId id="262"/>
            <p14:sldId id="263"/>
          </p14:sldIdLst>
        </p14:section>
        <p14:section name="Backup" id="{9b16c1ac-f762-f01a-90fb-2826e44ac0bc}">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568"/>
                </a:solidFill>
                <a:latin typeface="+mn-lt"/>
              </a:defRPr>
            </a:pPr>
            <a:r>
              <a:rPr sz="1100" b="0" i="0" u="none" strike="noStrike">
                <a:solidFill>
                  <a:srgbClr val="4A5568"/>
                </a:solidFill>
                <a:latin typeface="+mn-lt"/>
              </a:rPr>
              <a:t>Share of each year's contract dollars in segments with HHI above 2,500</a:t>
            </a:r>
          </a:p>
        </c:rich>
      </c:tx>
      <c:layout/>
      <c:overlay val="0"/>
    </c:title>
    <c:autoTitleDeleted val="0"/>
    <c:plotArea>
      <c:layout/>
      <c:lineChart>
        <c:varyColors val="0"/>
        <c:ser>
          <c:idx val="0"/>
          <c:order val="0"/>
          <c:tx>
            <c:strRef>
              <c:f>Sheet1!$B$1</c:f>
              <c:strCache>
                <c:ptCount val="1"/>
                <c:pt idx="0">
                  <c:v>Share of dollars in highly concentrated segments</c:v>
                </c:pt>
              </c:strCache>
            </c:strRef>
          </c:tx>
          <c:spPr>
            <a:solidFill>
              <a:srgbClr val="C2410C"/>
            </a:solidFill>
            <a:ln w="38100" cap="flat">
              <a:solidFill>
                <a:srgbClr val="C2410C"/>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C2410C"/>
              </a:solidFill>
              <a:ln w="9525" cap="flat">
                <a:solidFill>
                  <a:srgbClr val="C2410C"/>
                </a:solidFill>
                <a:prstDash val="solid"/>
                <a:round/>
              </a:ln>
              <a:effectLst/>
            </c:spPr>
          </c:marker>
          <c:cat>
            <c:multiLvlStrRef>
              <c:f>Sheet1!$A$2:$A$19</c:f>
              <c:multiLvlStrCache>
                <c:ptCount val="18"/>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pt idx="17">
                    <c:v>2025</c:v>
                  </c:pt>
                </c:lvl>
              </c:multiLvlStrCache>
            </c:multiLvlStrRef>
          </c:cat>
          <c:val>
            <c:numRef>
              <c:f>Sheet1!$B$2:$B$19</c:f>
              <c:numCache>
                <c:formatCode>General</c:formatCode>
                <c:ptCount val="18"/>
                <c:pt idx="0">
                  <c:v>43.04</c:v>
                </c:pt>
                <c:pt idx="1">
                  <c:v>39.23</c:v>
                </c:pt>
                <c:pt idx="2">
                  <c:v>39.25</c:v>
                </c:pt>
                <c:pt idx="3">
                  <c:v>39.35</c:v>
                </c:pt>
                <c:pt idx="4">
                  <c:v>39.54</c:v>
                </c:pt>
                <c:pt idx="5">
                  <c:v>41.38</c:v>
                </c:pt>
                <c:pt idx="6">
                  <c:v>39.46</c:v>
                </c:pt>
                <c:pt idx="7">
                  <c:v>40.92</c:v>
                </c:pt>
                <c:pt idx="8">
                  <c:v>42.65</c:v>
                </c:pt>
                <c:pt idx="9">
                  <c:v>44.3</c:v>
                </c:pt>
                <c:pt idx="10">
                  <c:v>43.3</c:v>
                </c:pt>
                <c:pt idx="11">
                  <c:v>46.24</c:v>
                </c:pt>
                <c:pt idx="12">
                  <c:v>47.02</c:v>
                </c:pt>
                <c:pt idx="13">
                  <c:v>44.21</c:v>
                </c:pt>
                <c:pt idx="14">
                  <c:v>49.79</c:v>
                </c:pt>
                <c:pt idx="15">
                  <c:v>48.72</c:v>
                </c:pt>
                <c:pt idx="16">
                  <c:v>35.52</c:v>
                </c:pt>
                <c:pt idx="17">
                  <c:v>50.33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2E5E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568"/>
                </a:solidFill>
                <a:latin typeface="+mn-lt"/>
              </a:defRPr>
            </a:pPr>
            <a:r>
              <a:rPr sz="1100" b="0" i="0" u="none" strike="noStrike">
                <a:solidFill>
                  <a:srgbClr val="4A5568"/>
                </a:solidFill>
                <a:latin typeface="+mn-lt"/>
              </a:rPr>
              <a:t>Share of dollars in highly concentrated segments</a:t>
            </a:r>
          </a:p>
        </c:rich>
      </c:tx>
      <c:layout/>
      <c:overlay val="0"/>
    </c:title>
    <c:autoTitleDeleted val="0"/>
    <c:plotArea>
      <c:layout/>
      <c:barChart>
        <c:barDir val="col"/>
        <c:grouping val="clustered"/>
        <c:varyColors val="0"/>
        <c:ser>
          <c:idx val="0"/>
          <c:order val="0"/>
          <c:tx>
            <c:strRef>
              <c:f>Sheet1!$B$1</c:f>
              <c:strCache>
                <c:ptCount val="1"/>
                <c:pt idx="0">
                  <c:v>FY2008</c:v>
                </c:pt>
              </c:strCache>
            </c:strRef>
          </c:tx>
          <c:spPr>
            <a:solidFill>
              <a:srgbClr val="8A94A6"/>
            </a:solidFill>
            <a:effectLst/>
          </c:spPr>
          <c:invertIfNegative val="0"/>
          <c:dLbls>
            <c:numFmt formatCode="0&quot;%&quot;" sourceLinked="0"/>
            <c:txPr>
              <a:bodyPr/>
              <a:lstStyle/>
              <a:p>
                <a:pPr>
                  <a:defRPr b="0" i="0" strike="noStrike" sz="11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Products</c:v>
                  </c:pt>
                  <c:pt idx="1">
                    <c:v>Services</c:v>
                  </c:pt>
                  <c:pt idx="2">
                    <c:v>Research</c:v>
                  </c:pt>
                </c:lvl>
              </c:multiLvlStrCache>
            </c:multiLvlStrRef>
          </c:cat>
          <c:val>
            <c:numRef>
              <c:f>Sheet1!$B$2:$B$4</c:f>
              <c:numCache>
                <c:formatCode>General</c:formatCode>
                <c:ptCount val="3"/>
                <c:pt idx="0">
                  <c:v>55.19</c:v>
                </c:pt>
                <c:pt idx="1">
                  <c:v>28.49</c:v>
                </c:pt>
                <c:pt idx="2">
                  <c:v>58.72</c:v>
                </c:pt>
              </c:numCache>
            </c:numRef>
          </c:val>
        </c:ser>
        <c:ser>
          <c:idx val="1"/>
          <c:order val="1"/>
          <c:tx>
            <c:strRef>
              <c:f>Sheet1!$C$1</c:f>
              <c:strCache>
                <c:ptCount val="1"/>
                <c:pt idx="0">
                  <c:v>FY2025</c:v>
                </c:pt>
              </c:strCache>
            </c:strRef>
          </c:tx>
          <c:spPr>
            <a:solidFill>
              <a:srgbClr val="C2410C"/>
            </a:solidFill>
            <a:effectLst/>
          </c:spPr>
          <c:invertIfNegative val="0"/>
          <c:dLbls>
            <c:numFmt formatCode="0&quot;%&quot;" sourceLinked="0"/>
            <c:txPr>
              <a:bodyPr/>
              <a:lstStyle/>
              <a:p>
                <a:pPr>
                  <a:defRPr b="0" i="0" strike="noStrike" sz="11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Products</c:v>
                  </c:pt>
                  <c:pt idx="1">
                    <c:v>Services</c:v>
                  </c:pt>
                  <c:pt idx="2">
                    <c:v>Research</c:v>
                  </c:pt>
                </c:lvl>
              </c:multiLvlStrCache>
            </c:multiLvlStrRef>
          </c:cat>
          <c:val>
            <c:numRef>
              <c:f>Sheet1!$C$2:$C$4</c:f>
              <c:numCache>
                <c:formatCode>General</c:formatCode>
                <c:ptCount val="3"/>
                <c:pt idx="0">
                  <c:v>69.17</c:v>
                </c:pt>
                <c:pt idx="1">
                  <c:v>38.93</c:v>
                </c:pt>
                <c:pt idx="2">
                  <c:v>35.43</c:v>
                </c:pt>
              </c:numCache>
            </c:numRef>
          </c:val>
        </c:ser>
        <c:dLbls>
          <c:numFmt formatCode="0&quot;%&quot;" sourceLinked="0"/>
          <c:txPr>
            <a:bodyPr/>
            <a:lstStyle/>
            <a:p>
              <a:pPr>
                <a:defRPr b="0" i="0" strike="noStrike" sz="1100" u="none">
                  <a:solidFill>
                    <a:srgbClr val="1F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2E5E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568"/>
                </a:solidFill>
                <a:latin typeface="+mn-lt"/>
              </a:defRPr>
            </a:pPr>
            <a:r>
              <a:rPr sz="1100" b="0" i="0" u="none" strike="noStrike">
                <a:solidFill>
                  <a:srgbClr val="4A5568"/>
                </a:solidFill>
                <a:latin typeface="+mn-lt"/>
              </a:rPr>
              <a:t>Share of dollars above HHI 2,500</a:t>
            </a:r>
          </a:p>
        </c:rich>
      </c:tx>
      <c:layout/>
      <c:overlay val="0"/>
    </c:title>
    <c:autoTitleDeleted val="0"/>
    <c:plotArea>
      <c:layout/>
      <c:lineChart>
        <c:varyColors val="0"/>
        <c:ser>
          <c:idx val="0"/>
          <c:order val="0"/>
          <c:tx>
            <c:strRef>
              <c:f>Sheet1!$B$1</c:f>
              <c:strCache>
                <c:ptCount val="1"/>
                <c:pt idx="0">
                  <c:v>As recorded (V0)</c:v>
                </c:pt>
              </c:strCache>
            </c:strRef>
          </c:tx>
          <c:spPr>
            <a:solidFill>
              <a:srgbClr val="8A94A6"/>
            </a:solidFill>
            <a:ln w="31750" cap="flat">
              <a:solidFill>
                <a:srgbClr val="8A94A6"/>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4A6"/>
              </a:solidFill>
              <a:ln w="9525" cap="flat">
                <a:solidFill>
                  <a:srgbClr val="8A94A6"/>
                </a:solidFill>
                <a:prstDash val="solid"/>
                <a:round/>
              </a:ln>
              <a:effectLst/>
            </c:spPr>
          </c:marker>
          <c:cat>
            <c:multiLvlStrRef>
              <c:f>Sheet1!$A$2:$A$19</c:f>
              <c:multiLvlStrCache>
                <c:ptCount val="18"/>
                <c:lvl>
                  <c:pt idx="0">
                    <c:v>'08</c:v>
                  </c:pt>
                  <c:pt idx="1">
                    <c:v>'09</c:v>
                  </c:pt>
                  <c:pt idx="2">
                    <c:v>'10</c:v>
                  </c:pt>
                  <c:pt idx="3">
                    <c:v>'11</c:v>
                  </c:pt>
                  <c:pt idx="4">
                    <c:v>'12</c:v>
                  </c:pt>
                  <c:pt idx="5">
                    <c:v>'13</c:v>
                  </c:pt>
                  <c:pt idx="6">
                    <c:v>'14</c:v>
                  </c:pt>
                  <c:pt idx="7">
                    <c:v>'15</c:v>
                  </c:pt>
                  <c:pt idx="8">
                    <c:v>'16</c:v>
                  </c:pt>
                  <c:pt idx="9">
                    <c:v>'17</c:v>
                  </c:pt>
                  <c:pt idx="10">
                    <c:v>'18</c:v>
                  </c:pt>
                  <c:pt idx="11">
                    <c:v>'19</c:v>
                  </c:pt>
                  <c:pt idx="12">
                    <c:v>'20</c:v>
                  </c:pt>
                  <c:pt idx="13">
                    <c:v>'21</c:v>
                  </c:pt>
                  <c:pt idx="14">
                    <c:v>'22</c:v>
                  </c:pt>
                  <c:pt idx="15">
                    <c:v>'23</c:v>
                  </c:pt>
                  <c:pt idx="16">
                    <c:v>'24</c:v>
                  </c:pt>
                  <c:pt idx="17">
                    <c:v>'25</c:v>
                  </c:pt>
                </c:lvl>
              </c:multiLvlStrCache>
            </c:multiLvlStrRef>
          </c:cat>
          <c:val>
            <c:numRef>
              <c:f>Sheet1!$B$2:$B$19</c:f>
              <c:numCache>
                <c:formatCode>General</c:formatCode>
                <c:ptCount val="18"/>
                <c:pt idx="0">
                  <c:v>46.69</c:v>
                </c:pt>
                <c:pt idx="1">
                  <c:v>40.2</c:v>
                </c:pt>
                <c:pt idx="2">
                  <c:v>41.51</c:v>
                </c:pt>
                <c:pt idx="3">
                  <c:v>39.18</c:v>
                </c:pt>
                <c:pt idx="4">
                  <c:v>39.55</c:v>
                </c:pt>
                <c:pt idx="5">
                  <c:v>41.39</c:v>
                </c:pt>
                <c:pt idx="6">
                  <c:v>39.51</c:v>
                </c:pt>
                <c:pt idx="7">
                  <c:v>41.01</c:v>
                </c:pt>
                <c:pt idx="8">
                  <c:v>42.63</c:v>
                </c:pt>
                <c:pt idx="9">
                  <c:v>44.31</c:v>
                </c:pt>
                <c:pt idx="10">
                  <c:v>43.3</c:v>
                </c:pt>
                <c:pt idx="11">
                  <c:v>46.26</c:v>
                </c:pt>
                <c:pt idx="12">
                  <c:v>47.02</c:v>
                </c:pt>
                <c:pt idx="13">
                  <c:v>44.22</c:v>
                </c:pt>
                <c:pt idx="14">
                  <c:v>49.78</c:v>
                </c:pt>
                <c:pt idx="15">
                  <c:v>48.72</c:v>
                </c:pt>
                <c:pt idx="16">
                  <c:v>35.52</c:v>
                </c:pt>
                <c:pt idx="17">
                  <c:v>50.32</c:v>
                </c:pt>
              </c:numCache>
            </c:numRef>
          </c:val>
          <c:smooth val="0"/>
        </c:ser>
        <c:ser>
          <c:idx val="1"/>
          <c:order val="1"/>
          <c:tx>
            <c:strRef>
              <c:f>Sheet1!$C$1</c:f>
              <c:strCache>
                <c:ptCount val="1"/>
                <c:pt idx="0">
                  <c:v>Decisions as proposed (V1)</c:v>
                </c:pt>
              </c:strCache>
            </c:strRef>
          </c:tx>
          <c:spPr>
            <a:solidFill>
              <a:srgbClr val="C2410C"/>
            </a:solidFill>
            <a:ln w="31750" cap="flat">
              <a:solidFill>
                <a:srgbClr val="C2410C"/>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2410C"/>
              </a:solidFill>
              <a:ln w="9525" cap="flat">
                <a:solidFill>
                  <a:srgbClr val="C2410C"/>
                </a:solidFill>
                <a:prstDash val="solid"/>
                <a:round/>
              </a:ln>
              <a:effectLst/>
            </c:spPr>
          </c:marker>
          <c:cat>
            <c:multiLvlStrRef>
              <c:f>Sheet1!$A$2:$A$19</c:f>
              <c:multiLvlStrCache>
                <c:ptCount val="18"/>
                <c:lvl>
                  <c:pt idx="0">
                    <c:v>'08</c:v>
                  </c:pt>
                  <c:pt idx="1">
                    <c:v>'09</c:v>
                  </c:pt>
                  <c:pt idx="2">
                    <c:v>'10</c:v>
                  </c:pt>
                  <c:pt idx="3">
                    <c:v>'11</c:v>
                  </c:pt>
                  <c:pt idx="4">
                    <c:v>'12</c:v>
                  </c:pt>
                  <c:pt idx="5">
                    <c:v>'13</c:v>
                  </c:pt>
                  <c:pt idx="6">
                    <c:v>'14</c:v>
                  </c:pt>
                  <c:pt idx="7">
                    <c:v>'15</c:v>
                  </c:pt>
                  <c:pt idx="8">
                    <c:v>'16</c:v>
                  </c:pt>
                  <c:pt idx="9">
                    <c:v>'17</c:v>
                  </c:pt>
                  <c:pt idx="10">
                    <c:v>'18</c:v>
                  </c:pt>
                  <c:pt idx="11">
                    <c:v>'19</c:v>
                  </c:pt>
                  <c:pt idx="12">
                    <c:v>'20</c:v>
                  </c:pt>
                  <c:pt idx="13">
                    <c:v>'21</c:v>
                  </c:pt>
                  <c:pt idx="14">
                    <c:v>'22</c:v>
                  </c:pt>
                  <c:pt idx="15">
                    <c:v>'23</c:v>
                  </c:pt>
                  <c:pt idx="16">
                    <c:v>'24</c:v>
                  </c:pt>
                  <c:pt idx="17">
                    <c:v>'25</c:v>
                  </c:pt>
                </c:lvl>
              </c:multiLvlStrCache>
            </c:multiLvlStrRef>
          </c:cat>
          <c:val>
            <c:numRef>
              <c:f>Sheet1!$C$2:$C$19</c:f>
              <c:numCache>
                <c:formatCode>General</c:formatCode>
                <c:ptCount val="18"/>
                <c:pt idx="0">
                  <c:v>43.04</c:v>
                </c:pt>
                <c:pt idx="1">
                  <c:v>39.23</c:v>
                </c:pt>
                <c:pt idx="2">
                  <c:v>39.25</c:v>
                </c:pt>
                <c:pt idx="3">
                  <c:v>39.35</c:v>
                </c:pt>
                <c:pt idx="4">
                  <c:v>39.54</c:v>
                </c:pt>
                <c:pt idx="5">
                  <c:v>41.38</c:v>
                </c:pt>
                <c:pt idx="6">
                  <c:v>39.46</c:v>
                </c:pt>
                <c:pt idx="7">
                  <c:v>40.92</c:v>
                </c:pt>
                <c:pt idx="8">
                  <c:v>42.65</c:v>
                </c:pt>
                <c:pt idx="9">
                  <c:v>44.3</c:v>
                </c:pt>
                <c:pt idx="10">
                  <c:v>43.3</c:v>
                </c:pt>
                <c:pt idx="11">
                  <c:v>46.24</c:v>
                </c:pt>
                <c:pt idx="12">
                  <c:v>47.02</c:v>
                </c:pt>
                <c:pt idx="13">
                  <c:v>44.21</c:v>
                </c:pt>
                <c:pt idx="14">
                  <c:v>49.79</c:v>
                </c:pt>
                <c:pt idx="15">
                  <c:v>48.72</c:v>
                </c:pt>
                <c:pt idx="16">
                  <c:v>35.52</c:v>
                </c:pt>
                <c:pt idx="17">
                  <c:v>50.33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2E5E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568"/>
                </a:solidFill>
                <a:latin typeface="+mn-lt"/>
              </a:defRPr>
            </a:pPr>
            <a:r>
              <a:rPr sz="1100" b="0" i="0" u="none" strike="noStrike">
                <a:solidFill>
                  <a:srgbClr val="4A5568"/>
                </a:solidFill>
                <a:latin typeface="+mn-lt"/>
              </a:rPr>
              <a:t>Yearly change in HHI by segment size, smallest (D1) to largest (D10)</a:t>
            </a:r>
          </a:p>
        </c:rich>
      </c:tx>
      <c:layout/>
      <c:overlay val="0"/>
    </c:title>
    <c:autoTitleDeleted val="0"/>
    <c:plotArea>
      <c:layout/>
      <c:barChart>
        <c:barDir val="col"/>
        <c:grouping val="clustered"/>
        <c:varyColors val="0"/>
        <c:ser>
          <c:idx val="0"/>
          <c:order val="0"/>
          <c:tx>
            <c:strRef>
              <c:f>Sheet1!$B$1</c:f>
              <c:strCache>
                <c:ptCount val="1"/>
                <c:pt idx="0">
                  <c:v>Median yearly change</c:v>
                </c:pt>
              </c:strCache>
            </c:strRef>
          </c:tx>
          <c:spPr>
            <a:solidFill>
              <a:srgbClr val="2E3A4D"/>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Sheet1!$A$2:$A$11</c:f>
              <c:multiLvlStrCache>
                <c:ptCount val="10"/>
                <c:lvl>
                  <c:pt idx="0">
                    <c:v>D1</c:v>
                  </c:pt>
                  <c:pt idx="1">
                    <c:v>D2</c:v>
                  </c:pt>
                  <c:pt idx="2">
                    <c:v>D3</c:v>
                  </c:pt>
                  <c:pt idx="3">
                    <c:v>D4</c:v>
                  </c:pt>
                  <c:pt idx="4">
                    <c:v>D5</c:v>
                  </c:pt>
                  <c:pt idx="5">
                    <c:v>D6</c:v>
                  </c:pt>
                  <c:pt idx="6">
                    <c:v>D7</c:v>
                  </c:pt>
                  <c:pt idx="7">
                    <c:v>D8</c:v>
                  </c:pt>
                  <c:pt idx="8">
                    <c:v>D9</c:v>
                  </c:pt>
                  <c:pt idx="9">
                    <c:v>D10</c:v>
                  </c:pt>
                </c:lvl>
              </c:multiLvlStrCache>
            </c:multiLvlStrRef>
          </c:cat>
          <c:val>
            <c:numRef>
              <c:f>Sheet1!$B$2:$B$11</c:f>
              <c:numCache>
                <c:formatCode>General</c:formatCode>
                <c:ptCount val="10"/>
                <c:pt idx="0">
                  <c:v>0</c:v>
                </c:pt>
                <c:pt idx="1">
                  <c:v>1396.9</c:v>
                </c:pt>
                <c:pt idx="2">
                  <c:v>1401.3</c:v>
                </c:pt>
                <c:pt idx="3">
                  <c:v>1235.8</c:v>
                </c:pt>
                <c:pt idx="4">
                  <c:v>1107.3</c:v>
                </c:pt>
                <c:pt idx="5">
                  <c:v>976.1</c:v>
                </c:pt>
                <c:pt idx="6">
                  <c:v>894.5</c:v>
                </c:pt>
                <c:pt idx="7">
                  <c:v>780</c:v>
                </c:pt>
                <c:pt idx="8">
                  <c:v>652.5</c:v>
                </c:pt>
                <c:pt idx="9">
                  <c:v>363.9</c:v>
                </c:pt>
              </c:numCache>
            </c:numRef>
          </c:val>
        </c:ser>
        <c:ser>
          <c:idx val="1"/>
          <c:order val="1"/>
          <c:tx>
            <c:strRef>
              <c:f>Sheet1!$C$1</c:f>
              <c:strCache>
                <c:ptCount val="1"/>
                <c:pt idx="0">
                  <c:v>90th percentile</c:v>
                </c:pt>
              </c:strCache>
            </c:strRef>
          </c:tx>
          <c:spPr>
            <a:solidFill>
              <a:srgbClr val="C9CED8"/>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Sheet1!$A$2:$A$11</c:f>
              <c:multiLvlStrCache>
                <c:ptCount val="10"/>
                <c:lvl>
                  <c:pt idx="0">
                    <c:v>D1</c:v>
                  </c:pt>
                  <c:pt idx="1">
                    <c:v>D2</c:v>
                  </c:pt>
                  <c:pt idx="2">
                    <c:v>D3</c:v>
                  </c:pt>
                  <c:pt idx="3">
                    <c:v>D4</c:v>
                  </c:pt>
                  <c:pt idx="4">
                    <c:v>D5</c:v>
                  </c:pt>
                  <c:pt idx="5">
                    <c:v>D6</c:v>
                  </c:pt>
                  <c:pt idx="6">
                    <c:v>D7</c:v>
                  </c:pt>
                  <c:pt idx="7">
                    <c:v>D8</c:v>
                  </c:pt>
                  <c:pt idx="8">
                    <c:v>D9</c:v>
                  </c:pt>
                  <c:pt idx="9">
                    <c:v>D10</c:v>
                  </c:pt>
                </c:lvl>
              </c:multiLvlStrCache>
            </c:multiLvlStrRef>
          </c:cat>
          <c:val>
            <c:numRef>
              <c:f>Sheet1!$C$2:$C$11</c:f>
              <c:numCache>
                <c:formatCode>General</c:formatCode>
                <c:ptCount val="10"/>
                <c:pt idx="0">
                  <c:v>4927.8</c:v>
                </c:pt>
                <c:pt idx="1">
                  <c:v>5376</c:v>
                </c:pt>
                <c:pt idx="2">
                  <c:v>4999.9</c:v>
                </c:pt>
                <c:pt idx="3">
                  <c:v>4799.6</c:v>
                </c:pt>
                <c:pt idx="4">
                  <c:v>4540.5</c:v>
                </c:pt>
                <c:pt idx="5">
                  <c:v>4388.3</c:v>
                </c:pt>
                <c:pt idx="6">
                  <c:v>4104.5</c:v>
                </c:pt>
                <c:pt idx="7">
                  <c:v>3862</c:v>
                </c:pt>
                <c:pt idx="8">
                  <c:v>3361.8</c:v>
                </c:pt>
                <c:pt idx="9">
                  <c:v>2384.3</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lineChart>
        <c:varyColors val="0"/>
        <c:ser>
          <c:idx val="2"/>
          <c:order val="2"/>
          <c:tx>
            <c:strRef>
              <c:f>Sheet1!$D$1</c:f>
              <c:strCache>
                <c:ptCount val="1"/>
                <c:pt idx="0">
                  <c:v>500-point cutoff</c:v>
                </c:pt>
              </c:strCache>
            </c:strRef>
          </c:tx>
          <c:spPr>
            <a:solidFill>
              <a:srgbClr val="C2410C"/>
            </a:solidFill>
            <a:ln w="25400" cap="flat">
              <a:solidFill>
                <a:srgbClr val="C2410C"/>
              </a:solidFill>
              <a:prstDash val="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2410C"/>
              </a:solidFill>
              <a:ln w="9525" cap="flat">
                <a:solidFill>
                  <a:srgbClr val="C2410C"/>
                </a:solidFill>
                <a:prstDash val="solid"/>
                <a:round/>
              </a:ln>
              <a:effectLst/>
            </c:spPr>
          </c:marker>
          <c:cat>
            <c:multiLvlStrRef>
              <c:f>Sheet1!$A$2:$A$11</c:f>
              <c:multiLvlStrCache>
                <c:ptCount val="10"/>
                <c:lvl>
                  <c:pt idx="0">
                    <c:v>D1</c:v>
                  </c:pt>
                  <c:pt idx="1">
                    <c:v>D2</c:v>
                  </c:pt>
                  <c:pt idx="2">
                    <c:v>D3</c:v>
                  </c:pt>
                  <c:pt idx="3">
                    <c:v>D4</c:v>
                  </c:pt>
                  <c:pt idx="4">
                    <c:v>D5</c:v>
                  </c:pt>
                  <c:pt idx="5">
                    <c:v>D6</c:v>
                  </c:pt>
                  <c:pt idx="6">
                    <c:v>D7</c:v>
                  </c:pt>
                  <c:pt idx="7">
                    <c:v>D8</c:v>
                  </c:pt>
                  <c:pt idx="8">
                    <c:v>D9</c:v>
                  </c:pt>
                  <c:pt idx="9">
                    <c:v>D10</c:v>
                  </c:pt>
                </c:lvl>
              </c:multiLvlStrCache>
            </c:multiLvlStrRef>
          </c:cat>
          <c:val>
            <c:numRef>
              <c:f>Sheet1!$D$2:$D$11</c:f>
              <c:numCache>
                <c:formatCode>General</c:formatCode>
                <c:ptCount val="10"/>
                <c:pt idx="0">
                  <c:v>500</c:v>
                </c:pt>
                <c:pt idx="1">
                  <c:v>500</c:v>
                </c:pt>
                <c:pt idx="2">
                  <c:v>500</c:v>
                </c:pt>
                <c:pt idx="3">
                  <c:v>500</c:v>
                </c:pt>
                <c:pt idx="4">
                  <c:v>500</c:v>
                </c:pt>
                <c:pt idx="5">
                  <c:v>500</c:v>
                </c:pt>
                <c:pt idx="6">
                  <c:v>500</c:v>
                </c:pt>
                <c:pt idx="7">
                  <c:v>500</c:v>
                </c:pt>
                <c:pt idx="8">
                  <c:v>500</c:v>
                </c:pt>
                <c:pt idx="9">
                  <c:v>500</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2E5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project asks a simple question: when the federal government buys something, does the money go to many companies or to a few? Here is what we have built so far and what the first look at the data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government spent about 793 billion dollars on contracts in FY2025. Picture two markets. On the left, five companies split the money evenly. On the right, one company gets 80 percent. Same spending, very different competition. Studies so far mostly look at defense. We measure this for every agency and every product, over 18 years. One caution up front: a concentrated market is not wrongdoing. Only one shipyard builds aircraft carriers. We describe where concentration is and how it changes, not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downloaded the government's own public archive: one file per fiscal year, 18 files, 88.8 million rows. Each row is one contract action. Here is a real one from September 2025: the Navy paid Lockheed Martin 14.1 billion dollars for fixed-wing aircraft, and it was not competed. Every row has the buyer, the product code, the company, the amount and how it was competed. That is everything we need to measure concentration.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analysing anything we made sure the data is right. Step 1, we checked every file against its checksum and locked it. Step 2, we converted the files to a fast format and proved the copy is exact: the same rows, the same dollars to the cent, the same value in every field. Step 3, we ran 62 quality checks on every row. They found the records that would distort the measure, like a 13.9 billion dollar entry that was reversed in the next year, and a catch-all vendor called Miscellaneous Foreign Awardees. Step 4, we built the analysis tables, and 116 checks confirm they add back to the original data. Our yearly totals match GAO's official numbers within 0.2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the spending into segments: one agency buying one product in one year, for example Defense buying fixed-wing aircraft in FY2025. That gives about 365 thousand segments. For each one we compute the HHI, the standard antitrust measure: take each company's percentage share, square it, and add them up. Five equal companies score 2,000. One company with 80 percent scores 6,500. A single company scores 10,000. The merger guidelines call anything above 2,500 highly concentrated, and that is the line we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line is the share of each year's contract dollars that sits in highly concentrated segments. In FY2008 it was 43 percent. It held near 40 percent until about FY2014, then climbed to about 50 percent by FY2022, and it is 50 percent in FY2025. The dip in FY2024 is partly timing: two of the biggest defense segments, combat ships and fixed-wing aircraft, dropped below the line that year and came back the next. Big multi-year awards make single years jumpy, so we read the long trend, not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is the concentration? Mostly in products. In FY2025, 69 percent of product dollars sat in highly concentrated segments, against 39 percent for services. Research went the other way, from 59 percent down to 35. Here is an example. Defense spending on fixed-wing aircraft went from 22.7 billion dollars in FY2024 to 42 billion in FY2025, and the largest company's share went from 39 percent to 76 percent. Its score more than doubled. And a common worry, lots of tiny sole-source purchases, is not the story: 30 percent of segments have one vendor, but they hold under 2 percent of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First, the data is solid: the copy is exact, it matches GAO, and product codes mostly carry across the two code changes, so we can follow most segments for all 18 years. Second, a caution: scores jump from year to year. If we call a line rising when it gains 500 points, 38 percent of lines rise, but 28 percent would rise even with their years shuffled, so most of that is noise. Third, next steps: set a rising rule that beats chance, link the IT and construction codes, settle our data decisions with the sponsor, and then group the trends and ask what the rising segments have in common, such as sole-source awards.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proposed data decisions, under 1 percent of segments change concentration band over 18 years, and the trend only moves in FY2008 to FY2010, the years of the large reversed entry and the two US Mint rows. V8b needs flags from a pipeline step that is still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expected the two code manual changes to cut our 18 years into short eras. They did not: old codes were almost never retired. New codes were added and some spending moved onto them, mostly construction in FY2012 and IT in FY2021. We will link those codes across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typical yearly change in HHI is about 360 points in the largest segments and over 1,000 in smaller ones. At a 500-point cutoff, 38 percent of lines rise and 28 percent still rise with their years shuffled. Rising beats chance by about 10 points; falling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largest parent companies over 18 years. Names come straight from the records and lag mergers, so we will build a dated name list before naming vendors in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Sole-source share is stable at about a third of dollars. Two fields change coverage in FY2018, which matters for explaining concentration later: we will measure them on the parent contract, or only in the years where they are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737360"/>
          </a:xfrm>
          <a:prstGeom prst="rect">
            <a:avLst/>
          </a:prstGeom>
          <a:noFill/>
          <a:ln/>
        </p:spPr>
        <p:txBody>
          <a:bodyPr wrap="square" rtlCol="0"/>
          <a:lstStyle>
            <a:lvl1pPr algn="l" indent="0" marL="0">
              <a:buNone/>
              <a:defRPr lang="en-US" sz="38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3063240"/>
            <a:ext cx="8046720" cy="1005840"/>
          </a:xfrm>
          <a:prstGeom prst="rect">
            <a:avLst/>
          </a:prstGeom>
          <a:noFill/>
          <a:ln/>
        </p:spPr>
        <p:txBody>
          <a:bodyPr wrap="square" rtlCol="0"/>
          <a:lstStyle>
            <a:lvl1pPr algn="l" indent="0" marL="0">
              <a:buNone/>
              <a:defRPr lang="en-US" sz="1600" dirty="0">
                <a:solidFill>
                  <a:srgbClr val="D5DAE1"/>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lstStyle>
            <a:lvl1pPr algn="l" indent="0" marL="0">
              <a:buNone/>
              <a:defRPr lang="en-US" sz="2600" b="1" dirty="0">
                <a:solidFill>
                  <a:srgbClr val="1F2430"/>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28032"/>
            <a:ext cx="6858000" cy="201168"/>
          </a:xfrm>
          <a:prstGeom prst="rect">
            <a:avLst/>
          </a:prstGeom>
          <a:noFill/>
          <a:ln/>
        </p:spPr>
        <p:txBody>
          <a:bodyPr wrap="square" rtlCol="0" anchor="ctr"/>
          <a:lstStyle/>
          <a:p>
            <a:pPr indent="0" marL="0">
              <a:buNone/>
            </a:pPr>
            <a:r>
              <a:rPr lang="en-US" sz="900" dirty="0">
                <a:solidFill>
                  <a:srgbClr val="4A5568"/>
                </a:solidFill>
              </a:rPr>
              <a:t>Vendor concentration in federal contracting, FY2008 to FY2025  |  First look, October 2026</a:t>
            </a:r>
            <a:endParaRPr lang="en-US" sz="9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rgbClr val="EEF0F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lstStyle>
            <a:lvl1pPr algn="l" indent="0" marL="0">
              <a:buNone/>
              <a:defRPr lang="en-US" sz="2200" b="1" dirty="0">
                <a:solidFill>
                  <a:srgbClr val="1F2430"/>
                </a:solidFill>
                <a:latin typeface="Cambria" pitchFamily="34" charset="0"/>
                <a:ea typeface="Cambria" pitchFamily="34" charset="-122"/>
                <a:cs typeface="Cambria" pitchFamily="34" charset="-120"/>
              </a:defRPr>
            </a:lvl1pPr>
          </a:lstStyle>
          <a:p>
            <a:pPr algn="l" indent="0" marL="0">
              <a:buNone/>
            </a:pPr>
            <a:endParaRPr lang="en-US" sz="2200" dirty="0"/>
          </a:p>
        </p:txBody>
      </p:sp>
      <p:sp>
        <p:nvSpPr>
          <p:cNvPr id="3" name="Text 0"/>
          <p:cNvSpPr/>
          <p:nvPr/>
        </p:nvSpPr>
        <p:spPr>
          <a:xfrm>
            <a:off x="457200" y="4828032"/>
            <a:ext cx="6858000" cy="201168"/>
          </a:xfrm>
          <a:prstGeom prst="rect">
            <a:avLst/>
          </a:prstGeom>
          <a:noFill/>
          <a:ln/>
        </p:spPr>
        <p:txBody>
          <a:bodyPr wrap="square" rtlCol="0" anchor="ctr"/>
          <a:lstStyle/>
          <a:p>
            <a:pPr indent="0" marL="0">
              <a:buNone/>
            </a:pPr>
            <a:r>
              <a:rPr lang="en-US" sz="900" dirty="0">
                <a:solidFill>
                  <a:srgbClr val="4A5568"/>
                </a:solidFill>
              </a:rPr>
              <a:t>Vendor concentration in federal contracting, FY2008 to FY2025  |  First look, October 2026</a:t>
            </a:r>
            <a:endParaRPr lang="en-US" sz="9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737360"/>
          </a:xfrm>
          <a:prstGeom prst="rect">
            <a:avLst/>
          </a:prstGeom>
          <a:noFill/>
          <a:ln/>
        </p:spPr>
        <p:txBody>
          <a:bodyPr wrap="square" rtlCol="0" anchor="b"/>
          <a:lstStyle/>
          <a:p>
            <a:pPr algn="l" indent="0" marL="0">
              <a:buNone/>
            </a:pPr>
            <a:r>
              <a:rPr lang="en-US" sz="3800" b="1" dirty="0">
                <a:solidFill>
                  <a:srgbClr val="FFFFFF"/>
                </a:solidFill>
                <a:latin typeface="Cambria" pitchFamily="34" charset="0"/>
                <a:ea typeface="Cambria" pitchFamily="34" charset="-122"/>
                <a:cs typeface="Cambria" pitchFamily="34" charset="-120"/>
              </a:rPr>
              <a:t>Is federal contract money going to fewer companies?</a:t>
            </a:r>
            <a:endParaRPr lang="en-US" sz="3800" dirty="0"/>
          </a:p>
        </p:txBody>
      </p:sp>
      <p:sp>
        <p:nvSpPr>
          <p:cNvPr id="3" name="Text 0"/>
          <p:cNvSpPr/>
          <p:nvPr>
            <p:ph idx="101" type="body" hasCustomPrompt="1"/>
          </p:nvPr>
        </p:nvSpPr>
        <p:spPr>
          <a:xfrm>
            <a:off x="548640" y="3063240"/>
            <a:ext cx="8046720" cy="1005840"/>
          </a:xfrm>
          <a:prstGeom prst="rect">
            <a:avLst/>
          </a:prstGeom>
          <a:noFill/>
          <a:ln/>
        </p:spPr>
        <p:txBody>
          <a:bodyPr wrap="square" rtlCol="0" anchor="t"/>
          <a:lstStyle/>
          <a:p>
            <a:pPr algn="l" indent="0" marL="0">
              <a:buNone/>
            </a:pPr>
            <a:r>
              <a:rPr lang="en-US" sz="1600" dirty="0">
                <a:solidFill>
                  <a:srgbClr val="D5DAE1"/>
                </a:solidFill>
              </a:rPr>
              <a:t>A first look at vendor concentration, FY2008 to FY2025</a:t>
            </a:r>
            <a:endParaRPr lang="en-US" sz="1600" dirty="0"/>
          </a:p>
          <a:p>
            <a:pPr algn="l" indent="0" marL="0">
              <a:buNone/>
            </a:pPr>
            <a:r>
              <a:rPr lang="en-US" sz="1600" dirty="0">
                <a:solidFill>
                  <a:srgbClr val="D5DAE1"/>
                </a:solidFill>
              </a:rPr>
              <a:t>Suchitra Hole, Shivram Nekkanti, Andy Hannah  |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600" b="1" dirty="0">
                <a:solidFill>
                  <a:srgbClr val="1F2430"/>
                </a:solidFill>
                <a:latin typeface="Cambria" pitchFamily="34" charset="0"/>
                <a:ea typeface="Cambria" pitchFamily="34" charset="-122"/>
                <a:cs typeface="Cambria" pitchFamily="34" charset="-120"/>
              </a:rPr>
              <a:t>The question: many vendors, or a few?</a:t>
            </a:r>
            <a:endParaRPr lang="en-US" sz="2600" dirty="0"/>
          </a:p>
        </p:txBody>
      </p:sp>
      <p:sp>
        <p:nvSpPr>
          <p:cNvPr id="4" name="spend value"/>
          <p:cNvSpPr txBox="1"/>
          <p:nvPr/>
        </p:nvSpPr>
        <p:spPr>
          <a:xfrm>
            <a:off x="457200" y="1005840"/>
            <a:ext cx="3291840" cy="566928"/>
          </a:xfrm>
          <a:prstGeom prst="rect">
            <a:avLst/>
          </a:prstGeom>
          <a:noFill/>
          <a:ln/>
        </p:spPr>
        <p:txBody>
          <a:bodyPr wrap="square" lIns="0" tIns="0" rIns="0" bIns="0" rtlCol="0" anchor="b"/>
          <a:lstStyle/>
          <a:p>
            <a:pPr indent="0" marL="0">
              <a:buNone/>
            </a:pPr>
            <a:r>
              <a:rPr lang="en-US" sz="4000" b="1" dirty="0">
                <a:solidFill>
                  <a:srgbClr val="C2410C"/>
                </a:solidFill>
                <a:latin typeface="Cambria" pitchFamily="34" charset="0"/>
                <a:ea typeface="Cambria" pitchFamily="34" charset="-122"/>
                <a:cs typeface="Cambria" pitchFamily="34" charset="-120"/>
              </a:rPr>
              <a:t>$793B</a:t>
            </a:r>
            <a:endParaRPr lang="en-US" sz="4000" dirty="0"/>
          </a:p>
        </p:txBody>
      </p:sp>
      <p:sp>
        <p:nvSpPr>
          <p:cNvPr id="5" name="spend label"/>
          <p:cNvSpPr txBox="1"/>
          <p:nvPr/>
        </p:nvSpPr>
        <p:spPr>
          <a:xfrm>
            <a:off x="457200" y="1609344"/>
            <a:ext cx="3291840" cy="457200"/>
          </a:xfrm>
          <a:prstGeom prst="rect">
            <a:avLst/>
          </a:prstGeom>
          <a:noFill/>
          <a:ln/>
        </p:spPr>
        <p:txBody>
          <a:bodyPr wrap="square" lIns="0" tIns="0" rIns="0" bIns="0" rtlCol="0" anchor="t"/>
          <a:lstStyle/>
          <a:p>
            <a:pPr indent="0" marL="0">
              <a:buNone/>
            </a:pPr>
            <a:r>
              <a:rPr lang="en-US" sz="1200" dirty="0">
                <a:solidFill>
                  <a:srgbClr val="4A5568"/>
                </a:solidFill>
              </a:rPr>
              <a:t>spent through federal contracts in FY2025</a:t>
            </a:r>
            <a:endParaRPr lang="en-US" sz="1200" dirty="0"/>
          </a:p>
        </p:txBody>
      </p:sp>
      <p:sp>
        <p:nvSpPr>
          <p:cNvPr id="6" name="goal"/>
          <p:cNvSpPr txBox="1"/>
          <p:nvPr/>
        </p:nvSpPr>
        <p:spPr>
          <a:xfrm>
            <a:off x="457200" y="2240280"/>
            <a:ext cx="3383280" cy="1737360"/>
          </a:xfrm>
          <a:prstGeom prst="rect">
            <a:avLst/>
          </a:prstGeom>
          <a:noFill/>
          <a:ln/>
        </p:spPr>
        <p:txBody>
          <a:bodyPr wrap="square" lIns="0" tIns="0" rIns="0" bIns="0" rtlCol="0" anchor="t"/>
          <a:lstStyle/>
          <a:p>
            <a:pPr indent="0" marL="0">
              <a:buNone/>
            </a:pPr>
            <a:r>
              <a:rPr lang="en-US" sz="1500" dirty="0">
                <a:solidFill>
                  <a:srgbClr val="1F2430"/>
                </a:solidFill>
              </a:rPr>
              <a:t>Our goal: for every agency, every product and every year, measure whether contract money is spread across many companies or goes to a few.</a:t>
            </a:r>
            <a:endParaRPr lang="en-US" sz="1500" dirty="0"/>
          </a:p>
        </p:txBody>
      </p:sp>
      <p:sp>
        <p:nvSpPr>
          <p:cNvPr id="7" name="market 1 card"/>
          <p:cNvSpPr/>
          <p:nvPr/>
        </p:nvSpPr>
        <p:spPr>
          <a:xfrm>
            <a:off x="4160520" y="1051560"/>
            <a:ext cx="2148840" cy="2880360"/>
          </a:xfrm>
          <a:prstGeom prst="roundRect">
            <a:avLst>
              <a:gd name="adj" fmla="val 3404"/>
            </a:avLst>
          </a:prstGeom>
          <a:solidFill>
            <a:srgbClr val="EEF0F3"/>
          </a:solidFill>
          <a:ln/>
        </p:spPr>
      </p:sp>
      <p:sp>
        <p:nvSpPr>
          <p:cNvPr id="8" name="market 1 label"/>
          <p:cNvSpPr txBox="1"/>
          <p:nvPr/>
        </p:nvSpPr>
        <p:spPr>
          <a:xfrm>
            <a:off x="4251960" y="1188720"/>
            <a:ext cx="1965960" cy="274320"/>
          </a:xfrm>
          <a:prstGeom prst="rect">
            <a:avLst/>
          </a:prstGeom>
          <a:noFill/>
          <a:ln/>
        </p:spPr>
        <p:txBody>
          <a:bodyPr wrap="square" lIns="0" tIns="0" rIns="0" bIns="0" rtlCol="0" anchor="t"/>
          <a:lstStyle/>
          <a:p>
            <a:pPr algn="ctr" indent="0" marL="0">
              <a:buNone/>
            </a:pPr>
            <a:r>
              <a:rPr lang="en-US" sz="1300" b="1" dirty="0">
                <a:solidFill>
                  <a:srgbClr val="1F2430"/>
                </a:solidFill>
              </a:rPr>
              <a:t>Many share the money</a:t>
            </a:r>
            <a:endParaRPr lang="en-US" sz="1300" dirty="0"/>
          </a:p>
        </p:txBody>
      </p:sp>
      <p:sp>
        <p:nvSpPr>
          <p:cNvPr id="9" name="market 1 vendor 1"/>
          <p:cNvSpPr/>
          <p:nvPr/>
        </p:nvSpPr>
        <p:spPr>
          <a:xfrm>
            <a:off x="4544568" y="1600200"/>
            <a:ext cx="548640" cy="548640"/>
          </a:xfrm>
          <a:prstGeom prst="ellipse">
            <a:avLst/>
          </a:prstGeom>
          <a:solidFill>
            <a:srgbClr val="2E3A4D"/>
          </a:solidFill>
          <a:ln w="12700">
            <a:solidFill>
              <a:srgbClr val="EEF0F3"/>
            </a:solidFill>
            <a:prstDash val="solid"/>
          </a:ln>
        </p:spPr>
      </p:sp>
      <p:sp>
        <p:nvSpPr>
          <p:cNvPr id="10" name="market 1 share 1"/>
          <p:cNvSpPr txBox="1"/>
          <p:nvPr/>
        </p:nvSpPr>
        <p:spPr>
          <a:xfrm>
            <a:off x="4544568" y="1600200"/>
            <a:ext cx="548640" cy="548640"/>
          </a:xfrm>
          <a:prstGeom prst="rect">
            <a:avLst/>
          </a:prstGeom>
          <a:noFill/>
          <a:ln/>
        </p:spPr>
        <p:txBody>
          <a:bodyPr wrap="square" lIns="0" tIns="0" rIns="0" bIns="0" rtlCol="0" anchor="ctr"/>
          <a:lstStyle/>
          <a:p>
            <a:pPr algn="ctr" indent="0" marL="0">
              <a:buNone/>
            </a:pPr>
            <a:r>
              <a:rPr lang="en-US" sz="1200" b="1" dirty="0">
                <a:solidFill>
                  <a:srgbClr val="FFFFFF"/>
                </a:solidFill>
              </a:rPr>
              <a:t>20%</a:t>
            </a:r>
            <a:endParaRPr lang="en-US" sz="1200" dirty="0"/>
          </a:p>
        </p:txBody>
      </p:sp>
      <p:sp>
        <p:nvSpPr>
          <p:cNvPr id="11" name="market 1 vendor 2"/>
          <p:cNvSpPr/>
          <p:nvPr/>
        </p:nvSpPr>
        <p:spPr>
          <a:xfrm>
            <a:off x="5376672" y="1600200"/>
            <a:ext cx="548640" cy="548640"/>
          </a:xfrm>
          <a:prstGeom prst="ellipse">
            <a:avLst/>
          </a:prstGeom>
          <a:solidFill>
            <a:srgbClr val="2E3A4D"/>
          </a:solidFill>
          <a:ln w="12700">
            <a:solidFill>
              <a:srgbClr val="EEF0F3"/>
            </a:solidFill>
            <a:prstDash val="solid"/>
          </a:ln>
        </p:spPr>
      </p:sp>
      <p:sp>
        <p:nvSpPr>
          <p:cNvPr id="12" name="market 1 share 2"/>
          <p:cNvSpPr txBox="1"/>
          <p:nvPr/>
        </p:nvSpPr>
        <p:spPr>
          <a:xfrm>
            <a:off x="5376672" y="1600200"/>
            <a:ext cx="548640" cy="548640"/>
          </a:xfrm>
          <a:prstGeom prst="rect">
            <a:avLst/>
          </a:prstGeom>
          <a:noFill/>
          <a:ln/>
        </p:spPr>
        <p:txBody>
          <a:bodyPr wrap="square" lIns="0" tIns="0" rIns="0" bIns="0" rtlCol="0" anchor="ctr"/>
          <a:lstStyle/>
          <a:p>
            <a:pPr algn="ctr" indent="0" marL="0">
              <a:buNone/>
            </a:pPr>
            <a:r>
              <a:rPr lang="en-US" sz="1200" b="1" dirty="0">
                <a:solidFill>
                  <a:srgbClr val="FFFFFF"/>
                </a:solidFill>
              </a:rPr>
              <a:t>20%</a:t>
            </a:r>
            <a:endParaRPr lang="en-US" sz="1200" dirty="0"/>
          </a:p>
        </p:txBody>
      </p:sp>
      <p:sp>
        <p:nvSpPr>
          <p:cNvPr id="13" name="market 1 vendor 3"/>
          <p:cNvSpPr/>
          <p:nvPr/>
        </p:nvSpPr>
        <p:spPr>
          <a:xfrm>
            <a:off x="4544568" y="2212848"/>
            <a:ext cx="548640" cy="548640"/>
          </a:xfrm>
          <a:prstGeom prst="ellipse">
            <a:avLst/>
          </a:prstGeom>
          <a:solidFill>
            <a:srgbClr val="2E3A4D"/>
          </a:solidFill>
          <a:ln w="12700">
            <a:solidFill>
              <a:srgbClr val="EEF0F3"/>
            </a:solidFill>
            <a:prstDash val="solid"/>
          </a:ln>
        </p:spPr>
      </p:sp>
      <p:sp>
        <p:nvSpPr>
          <p:cNvPr id="14" name="market 1 share 3"/>
          <p:cNvSpPr txBox="1"/>
          <p:nvPr/>
        </p:nvSpPr>
        <p:spPr>
          <a:xfrm>
            <a:off x="4544568" y="2212848"/>
            <a:ext cx="548640" cy="548640"/>
          </a:xfrm>
          <a:prstGeom prst="rect">
            <a:avLst/>
          </a:prstGeom>
          <a:noFill/>
          <a:ln/>
        </p:spPr>
        <p:txBody>
          <a:bodyPr wrap="square" lIns="0" tIns="0" rIns="0" bIns="0" rtlCol="0" anchor="ctr"/>
          <a:lstStyle/>
          <a:p>
            <a:pPr algn="ctr" indent="0" marL="0">
              <a:buNone/>
            </a:pPr>
            <a:r>
              <a:rPr lang="en-US" sz="1200" b="1" dirty="0">
                <a:solidFill>
                  <a:srgbClr val="FFFFFF"/>
                </a:solidFill>
              </a:rPr>
              <a:t>20%</a:t>
            </a:r>
            <a:endParaRPr lang="en-US" sz="1200" dirty="0"/>
          </a:p>
        </p:txBody>
      </p:sp>
      <p:sp>
        <p:nvSpPr>
          <p:cNvPr id="15" name="market 1 vendor 4"/>
          <p:cNvSpPr/>
          <p:nvPr/>
        </p:nvSpPr>
        <p:spPr>
          <a:xfrm>
            <a:off x="5376672" y="2212848"/>
            <a:ext cx="548640" cy="548640"/>
          </a:xfrm>
          <a:prstGeom prst="ellipse">
            <a:avLst/>
          </a:prstGeom>
          <a:solidFill>
            <a:srgbClr val="2E3A4D"/>
          </a:solidFill>
          <a:ln w="12700">
            <a:solidFill>
              <a:srgbClr val="EEF0F3"/>
            </a:solidFill>
            <a:prstDash val="solid"/>
          </a:ln>
        </p:spPr>
      </p:sp>
      <p:sp>
        <p:nvSpPr>
          <p:cNvPr id="16" name="market 1 share 4"/>
          <p:cNvSpPr txBox="1"/>
          <p:nvPr/>
        </p:nvSpPr>
        <p:spPr>
          <a:xfrm>
            <a:off x="5376672" y="2212848"/>
            <a:ext cx="548640" cy="548640"/>
          </a:xfrm>
          <a:prstGeom prst="rect">
            <a:avLst/>
          </a:prstGeom>
          <a:noFill/>
          <a:ln/>
        </p:spPr>
        <p:txBody>
          <a:bodyPr wrap="square" lIns="0" tIns="0" rIns="0" bIns="0" rtlCol="0" anchor="ctr"/>
          <a:lstStyle/>
          <a:p>
            <a:pPr algn="ctr" indent="0" marL="0">
              <a:buNone/>
            </a:pPr>
            <a:r>
              <a:rPr lang="en-US" sz="1200" b="1" dirty="0">
                <a:solidFill>
                  <a:srgbClr val="FFFFFF"/>
                </a:solidFill>
              </a:rPr>
              <a:t>20%</a:t>
            </a:r>
            <a:endParaRPr lang="en-US" sz="1200" dirty="0"/>
          </a:p>
        </p:txBody>
      </p:sp>
      <p:sp>
        <p:nvSpPr>
          <p:cNvPr id="17" name="market 1 vendor 5"/>
          <p:cNvSpPr/>
          <p:nvPr/>
        </p:nvSpPr>
        <p:spPr>
          <a:xfrm>
            <a:off x="4960620" y="2825496"/>
            <a:ext cx="548640" cy="548640"/>
          </a:xfrm>
          <a:prstGeom prst="ellipse">
            <a:avLst/>
          </a:prstGeom>
          <a:solidFill>
            <a:srgbClr val="2E3A4D"/>
          </a:solidFill>
          <a:ln w="12700">
            <a:solidFill>
              <a:srgbClr val="EEF0F3"/>
            </a:solidFill>
            <a:prstDash val="solid"/>
          </a:ln>
        </p:spPr>
      </p:sp>
      <p:sp>
        <p:nvSpPr>
          <p:cNvPr id="18" name="market 1 share 5"/>
          <p:cNvSpPr txBox="1"/>
          <p:nvPr/>
        </p:nvSpPr>
        <p:spPr>
          <a:xfrm>
            <a:off x="4960620" y="2825496"/>
            <a:ext cx="548640" cy="548640"/>
          </a:xfrm>
          <a:prstGeom prst="rect">
            <a:avLst/>
          </a:prstGeom>
          <a:noFill/>
          <a:ln/>
        </p:spPr>
        <p:txBody>
          <a:bodyPr wrap="square" lIns="0" tIns="0" rIns="0" bIns="0" rtlCol="0" anchor="ctr"/>
          <a:lstStyle/>
          <a:p>
            <a:pPr algn="ctr" indent="0" marL="0">
              <a:buNone/>
            </a:pPr>
            <a:r>
              <a:rPr lang="en-US" sz="1200" b="1" dirty="0">
                <a:solidFill>
                  <a:srgbClr val="FFFFFF"/>
                </a:solidFill>
              </a:rPr>
              <a:t>20%</a:t>
            </a:r>
            <a:endParaRPr lang="en-US" sz="1200" dirty="0"/>
          </a:p>
        </p:txBody>
      </p:sp>
      <p:sp>
        <p:nvSpPr>
          <p:cNvPr id="19" name="market 1 score"/>
          <p:cNvSpPr txBox="1"/>
          <p:nvPr/>
        </p:nvSpPr>
        <p:spPr>
          <a:xfrm>
            <a:off x="4160520" y="3538728"/>
            <a:ext cx="2148840" cy="292608"/>
          </a:xfrm>
          <a:prstGeom prst="rect">
            <a:avLst/>
          </a:prstGeom>
          <a:noFill/>
          <a:ln/>
        </p:spPr>
        <p:txBody>
          <a:bodyPr wrap="square" lIns="0" tIns="0" rIns="0" bIns="0" rtlCol="0" anchor="t"/>
          <a:lstStyle/>
          <a:p>
            <a:pPr algn="ctr" indent="0" marL="0">
              <a:buNone/>
            </a:pPr>
            <a:r>
              <a:rPr lang="en-US" sz="1400" b="1" dirty="0">
                <a:solidFill>
                  <a:srgbClr val="2E3A4D"/>
                </a:solidFill>
              </a:rPr>
              <a:t>HHI 2,000</a:t>
            </a:r>
            <a:endParaRPr lang="en-US" sz="1400" dirty="0"/>
          </a:p>
        </p:txBody>
      </p:sp>
      <p:sp>
        <p:nvSpPr>
          <p:cNvPr id="20" name="market 2 card"/>
          <p:cNvSpPr/>
          <p:nvPr/>
        </p:nvSpPr>
        <p:spPr>
          <a:xfrm>
            <a:off x="6446520" y="1051560"/>
            <a:ext cx="2148840" cy="2880360"/>
          </a:xfrm>
          <a:prstGeom prst="roundRect">
            <a:avLst>
              <a:gd name="adj" fmla="val 3404"/>
            </a:avLst>
          </a:prstGeom>
          <a:solidFill>
            <a:srgbClr val="EEF0F3"/>
          </a:solidFill>
          <a:ln/>
        </p:spPr>
      </p:sp>
      <p:sp>
        <p:nvSpPr>
          <p:cNvPr id="21" name="market 2 label"/>
          <p:cNvSpPr txBox="1"/>
          <p:nvPr/>
        </p:nvSpPr>
        <p:spPr>
          <a:xfrm>
            <a:off x="6537960" y="1188720"/>
            <a:ext cx="1965960" cy="274320"/>
          </a:xfrm>
          <a:prstGeom prst="rect">
            <a:avLst/>
          </a:prstGeom>
          <a:noFill/>
          <a:ln/>
        </p:spPr>
        <p:txBody>
          <a:bodyPr wrap="square" lIns="0" tIns="0" rIns="0" bIns="0" rtlCol="0" anchor="t"/>
          <a:lstStyle/>
          <a:p>
            <a:pPr algn="ctr" indent="0" marL="0">
              <a:buNone/>
            </a:pPr>
            <a:r>
              <a:rPr lang="en-US" sz="1300" b="1" dirty="0">
                <a:solidFill>
                  <a:srgbClr val="1F2430"/>
                </a:solidFill>
              </a:rPr>
              <a:t>One wins most of it</a:t>
            </a:r>
            <a:endParaRPr lang="en-US" sz="1300" dirty="0"/>
          </a:p>
        </p:txBody>
      </p:sp>
      <p:sp>
        <p:nvSpPr>
          <p:cNvPr id="22" name="market 2 vendor 1"/>
          <p:cNvSpPr/>
          <p:nvPr/>
        </p:nvSpPr>
        <p:spPr>
          <a:xfrm>
            <a:off x="6611112" y="1737360"/>
            <a:ext cx="1325880" cy="1325880"/>
          </a:xfrm>
          <a:prstGeom prst="ellipse">
            <a:avLst/>
          </a:prstGeom>
          <a:solidFill>
            <a:srgbClr val="C2410C"/>
          </a:solidFill>
          <a:ln w="12700">
            <a:solidFill>
              <a:srgbClr val="EEF0F3"/>
            </a:solidFill>
            <a:prstDash val="solid"/>
          </a:ln>
        </p:spPr>
      </p:sp>
      <p:sp>
        <p:nvSpPr>
          <p:cNvPr id="23" name="market 2 share 1"/>
          <p:cNvSpPr txBox="1"/>
          <p:nvPr/>
        </p:nvSpPr>
        <p:spPr>
          <a:xfrm>
            <a:off x="6611112" y="1737360"/>
            <a:ext cx="1325880" cy="1325880"/>
          </a:xfrm>
          <a:prstGeom prst="rect">
            <a:avLst/>
          </a:prstGeom>
          <a:noFill/>
          <a:ln/>
        </p:spPr>
        <p:txBody>
          <a:bodyPr wrap="square" lIns="0" tIns="0" rIns="0" bIns="0" rtlCol="0" anchor="ctr"/>
          <a:lstStyle/>
          <a:p>
            <a:pPr algn="ctr" indent="0" marL="0">
              <a:buNone/>
            </a:pPr>
            <a:r>
              <a:rPr lang="en-US" sz="1200" b="1" dirty="0">
                <a:solidFill>
                  <a:srgbClr val="FFFFFF"/>
                </a:solidFill>
              </a:rPr>
              <a:t>80%</a:t>
            </a:r>
            <a:endParaRPr lang="en-US" sz="1200" dirty="0"/>
          </a:p>
        </p:txBody>
      </p:sp>
      <p:sp>
        <p:nvSpPr>
          <p:cNvPr id="24" name="market 2 vendor 2"/>
          <p:cNvSpPr/>
          <p:nvPr/>
        </p:nvSpPr>
        <p:spPr>
          <a:xfrm>
            <a:off x="8092440" y="1709928"/>
            <a:ext cx="292608" cy="292608"/>
          </a:xfrm>
          <a:prstGeom prst="ellipse">
            <a:avLst/>
          </a:prstGeom>
          <a:solidFill>
            <a:srgbClr val="8A94A6"/>
          </a:solidFill>
          <a:ln w="12700">
            <a:solidFill>
              <a:srgbClr val="EEF0F3"/>
            </a:solidFill>
            <a:prstDash val="solid"/>
          </a:ln>
        </p:spPr>
      </p:sp>
      <p:sp>
        <p:nvSpPr>
          <p:cNvPr id="25" name="market 2 vendor 3"/>
          <p:cNvSpPr/>
          <p:nvPr/>
        </p:nvSpPr>
        <p:spPr>
          <a:xfrm>
            <a:off x="8092440" y="2121408"/>
            <a:ext cx="292608" cy="292608"/>
          </a:xfrm>
          <a:prstGeom prst="ellipse">
            <a:avLst/>
          </a:prstGeom>
          <a:solidFill>
            <a:srgbClr val="8A94A6"/>
          </a:solidFill>
          <a:ln w="12700">
            <a:solidFill>
              <a:srgbClr val="EEF0F3"/>
            </a:solidFill>
            <a:prstDash val="solid"/>
          </a:ln>
        </p:spPr>
      </p:sp>
      <p:sp>
        <p:nvSpPr>
          <p:cNvPr id="26" name="market 2 vendor 4"/>
          <p:cNvSpPr/>
          <p:nvPr/>
        </p:nvSpPr>
        <p:spPr>
          <a:xfrm>
            <a:off x="8092440" y="2532888"/>
            <a:ext cx="292608" cy="292608"/>
          </a:xfrm>
          <a:prstGeom prst="ellipse">
            <a:avLst/>
          </a:prstGeom>
          <a:solidFill>
            <a:srgbClr val="8A94A6"/>
          </a:solidFill>
          <a:ln w="12700">
            <a:solidFill>
              <a:srgbClr val="EEF0F3"/>
            </a:solidFill>
            <a:prstDash val="solid"/>
          </a:ln>
        </p:spPr>
      </p:sp>
      <p:sp>
        <p:nvSpPr>
          <p:cNvPr id="27" name="market 2 vendor 5"/>
          <p:cNvSpPr/>
          <p:nvPr/>
        </p:nvSpPr>
        <p:spPr>
          <a:xfrm>
            <a:off x="8092440" y="2944368"/>
            <a:ext cx="292608" cy="292608"/>
          </a:xfrm>
          <a:prstGeom prst="ellipse">
            <a:avLst/>
          </a:prstGeom>
          <a:solidFill>
            <a:srgbClr val="8A94A6"/>
          </a:solidFill>
          <a:ln w="12700">
            <a:solidFill>
              <a:srgbClr val="EEF0F3"/>
            </a:solidFill>
            <a:prstDash val="solid"/>
          </a:ln>
        </p:spPr>
      </p:sp>
      <p:sp>
        <p:nvSpPr>
          <p:cNvPr id="28" name="market 2 score"/>
          <p:cNvSpPr txBox="1"/>
          <p:nvPr/>
        </p:nvSpPr>
        <p:spPr>
          <a:xfrm>
            <a:off x="6446520" y="3538728"/>
            <a:ext cx="2148840" cy="292608"/>
          </a:xfrm>
          <a:prstGeom prst="rect">
            <a:avLst/>
          </a:prstGeom>
          <a:noFill/>
          <a:ln/>
        </p:spPr>
        <p:txBody>
          <a:bodyPr wrap="square" lIns="0" tIns="0" rIns="0" bIns="0" rtlCol="0" anchor="t"/>
          <a:lstStyle/>
          <a:p>
            <a:pPr algn="ctr" indent="0" marL="0">
              <a:buNone/>
            </a:pPr>
            <a:r>
              <a:rPr lang="en-US" sz="1400" b="1" dirty="0">
                <a:solidFill>
                  <a:srgbClr val="C2410C"/>
                </a:solidFill>
              </a:rPr>
              <a:t>HHI 6,500</a:t>
            </a:r>
            <a:endParaRPr lang="en-US" sz="1400" dirty="0"/>
          </a:p>
        </p:txBody>
      </p:sp>
      <p:sp>
        <p:nvSpPr>
          <p:cNvPr id="29" name="takeaway box"/>
          <p:cNvSpPr/>
          <p:nvPr/>
        </p:nvSpPr>
        <p:spPr>
          <a:xfrm>
            <a:off x="457200" y="4160520"/>
            <a:ext cx="8229600" cy="566928"/>
          </a:xfrm>
          <a:prstGeom prst="roundRect">
            <a:avLst>
              <a:gd name="adj" fmla="val 12903"/>
            </a:avLst>
          </a:prstGeom>
          <a:solidFill>
            <a:srgbClr val="EEF0F3"/>
          </a:solidFill>
          <a:ln/>
        </p:spPr>
      </p:sp>
      <p:sp>
        <p:nvSpPr>
          <p:cNvPr id="30" name="takeaway"/>
          <p:cNvSpPr txBox="1"/>
          <p:nvPr/>
        </p:nvSpPr>
        <p:spPr>
          <a:xfrm>
            <a:off x="640080" y="4160520"/>
            <a:ext cx="7863840" cy="566928"/>
          </a:xfrm>
          <a:prstGeom prst="rect">
            <a:avLst/>
          </a:prstGeom>
          <a:noFill/>
          <a:ln/>
        </p:spPr>
        <p:txBody>
          <a:bodyPr wrap="square" lIns="0" tIns="0" rIns="0" bIns="0" rtlCol="0" anchor="ctr"/>
          <a:lstStyle/>
          <a:p>
            <a:pPr indent="0" marL="0">
              <a:buNone/>
            </a:pPr>
            <a:r>
              <a:rPr lang="en-US" sz="1400" b="1" dirty="0">
                <a:solidFill>
                  <a:srgbClr val="C2410C"/>
                </a:solidFill>
              </a:rPr>
              <a:t>What this means   </a:t>
            </a:r>
            <a:pPr indent="0" marL="0">
              <a:buNone/>
            </a:pPr>
            <a:r>
              <a:rPr lang="en-US" sz="1400" dirty="0">
                <a:solidFill>
                  <a:srgbClr val="1F2430"/>
                </a:solidFill>
              </a:rPr>
              <a:t>When a few companies win most of an agency's money, it has less choice and less price pressure. A high score is not wrongdoing: some things only one firm can build.</a:t>
            </a:r>
            <a:endParaRPr lang="en-US" sz="14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600" b="1" dirty="0">
                <a:solidFill>
                  <a:srgbClr val="1F2430"/>
                </a:solidFill>
                <a:latin typeface="Cambria" pitchFamily="34" charset="0"/>
                <a:ea typeface="Cambria" pitchFamily="34" charset="-122"/>
                <a:cs typeface="Cambria" pitchFamily="34" charset="-120"/>
              </a:rPr>
              <a:t>The data: every federal contract action since FY2008</a:t>
            </a:r>
            <a:endParaRPr lang="en-US" sz="2600" dirty="0"/>
          </a:p>
        </p:txBody>
      </p:sp>
      <p:sp>
        <p:nvSpPr>
          <p:cNvPr id="4" name="data stat 1 value"/>
          <p:cNvSpPr txBox="1"/>
          <p:nvPr/>
        </p:nvSpPr>
        <p:spPr>
          <a:xfrm>
            <a:off x="457200" y="960120"/>
            <a:ext cx="1828800" cy="566928"/>
          </a:xfrm>
          <a:prstGeom prst="rect">
            <a:avLst/>
          </a:prstGeom>
          <a:noFill/>
          <a:ln/>
        </p:spPr>
        <p:txBody>
          <a:bodyPr wrap="square" lIns="0" tIns="0" rIns="0" bIns="0" rtlCol="0" anchor="b"/>
          <a:lstStyle/>
          <a:p>
            <a:pPr indent="0" marL="0">
              <a:buNone/>
            </a:pPr>
            <a:r>
              <a:rPr lang="en-US" sz="3000" b="1" dirty="0">
                <a:solidFill>
                  <a:srgbClr val="2E3A4D"/>
                </a:solidFill>
                <a:latin typeface="Cambria" pitchFamily="34" charset="0"/>
                <a:ea typeface="Cambria" pitchFamily="34" charset="-122"/>
                <a:cs typeface="Cambria" pitchFamily="34" charset="-120"/>
              </a:rPr>
              <a:t>18</a:t>
            </a:r>
            <a:endParaRPr lang="en-US" sz="3000" dirty="0"/>
          </a:p>
        </p:txBody>
      </p:sp>
      <p:sp>
        <p:nvSpPr>
          <p:cNvPr id="5" name="data stat 1 label"/>
          <p:cNvSpPr txBox="1"/>
          <p:nvPr/>
        </p:nvSpPr>
        <p:spPr>
          <a:xfrm>
            <a:off x="457200" y="1563624"/>
            <a:ext cx="1828800" cy="457200"/>
          </a:xfrm>
          <a:prstGeom prst="rect">
            <a:avLst/>
          </a:prstGeom>
          <a:noFill/>
          <a:ln/>
        </p:spPr>
        <p:txBody>
          <a:bodyPr wrap="square" lIns="0" tIns="0" rIns="0" bIns="0" rtlCol="0" anchor="t"/>
          <a:lstStyle/>
          <a:p>
            <a:pPr indent="0" marL="0">
              <a:buNone/>
            </a:pPr>
            <a:r>
              <a:rPr lang="en-US" sz="1200" dirty="0">
                <a:solidFill>
                  <a:srgbClr val="4A5568"/>
                </a:solidFill>
              </a:rPr>
              <a:t>yearly files, FY2008 to FY2025</a:t>
            </a:r>
            <a:endParaRPr lang="en-US" sz="1200" dirty="0"/>
          </a:p>
        </p:txBody>
      </p:sp>
      <p:sp>
        <p:nvSpPr>
          <p:cNvPr id="6" name="data stat 2 value"/>
          <p:cNvSpPr txBox="1"/>
          <p:nvPr/>
        </p:nvSpPr>
        <p:spPr>
          <a:xfrm>
            <a:off x="2423160" y="960120"/>
            <a:ext cx="1828800" cy="566928"/>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88.8M</a:t>
            </a:r>
            <a:endParaRPr lang="en-US" sz="3000" dirty="0"/>
          </a:p>
        </p:txBody>
      </p:sp>
      <p:sp>
        <p:nvSpPr>
          <p:cNvPr id="7" name="data stat 2 label"/>
          <p:cNvSpPr txBox="1"/>
          <p:nvPr/>
        </p:nvSpPr>
        <p:spPr>
          <a:xfrm>
            <a:off x="2423160" y="1563624"/>
            <a:ext cx="1828800" cy="457200"/>
          </a:xfrm>
          <a:prstGeom prst="rect">
            <a:avLst/>
          </a:prstGeom>
          <a:noFill/>
          <a:ln/>
        </p:spPr>
        <p:txBody>
          <a:bodyPr wrap="square" lIns="0" tIns="0" rIns="0" bIns="0" rtlCol="0" anchor="t"/>
          <a:lstStyle/>
          <a:p>
            <a:pPr indent="0" marL="0">
              <a:buNone/>
            </a:pPr>
            <a:r>
              <a:rPr lang="en-US" sz="1200" dirty="0">
                <a:solidFill>
                  <a:srgbClr val="4A5568"/>
                </a:solidFill>
              </a:rPr>
              <a:t>contract actions (rows)</a:t>
            </a:r>
            <a:endParaRPr lang="en-US" sz="1200" dirty="0"/>
          </a:p>
        </p:txBody>
      </p:sp>
      <p:sp>
        <p:nvSpPr>
          <p:cNvPr id="8" name="data stat 3 value"/>
          <p:cNvSpPr txBox="1"/>
          <p:nvPr/>
        </p:nvSpPr>
        <p:spPr>
          <a:xfrm>
            <a:off x="457200" y="2240280"/>
            <a:ext cx="1828800" cy="566928"/>
          </a:xfrm>
          <a:prstGeom prst="rect">
            <a:avLst/>
          </a:prstGeom>
          <a:noFill/>
          <a:ln/>
        </p:spPr>
        <p:txBody>
          <a:bodyPr wrap="square" lIns="0" tIns="0" rIns="0" bIns="0" rtlCol="0" anchor="b"/>
          <a:lstStyle/>
          <a:p>
            <a:pPr indent="0" marL="0">
              <a:buNone/>
            </a:pPr>
            <a:r>
              <a:rPr lang="en-US" sz="3000" b="1" dirty="0">
                <a:solidFill>
                  <a:srgbClr val="2E3A4D"/>
                </a:solidFill>
                <a:latin typeface="Cambria" pitchFamily="34" charset="0"/>
                <a:ea typeface="Cambria" pitchFamily="34" charset="-122"/>
                <a:cs typeface="Cambria" pitchFamily="34" charset="-120"/>
              </a:rPr>
              <a:t>27 GB</a:t>
            </a:r>
            <a:endParaRPr lang="en-US" sz="3000" dirty="0"/>
          </a:p>
        </p:txBody>
      </p:sp>
      <p:sp>
        <p:nvSpPr>
          <p:cNvPr id="9" name="data stat 3 label"/>
          <p:cNvSpPr txBox="1"/>
          <p:nvPr/>
        </p:nvSpPr>
        <p:spPr>
          <a:xfrm>
            <a:off x="457200" y="2843784"/>
            <a:ext cx="1828800" cy="457200"/>
          </a:xfrm>
          <a:prstGeom prst="rect">
            <a:avLst/>
          </a:prstGeom>
          <a:noFill/>
          <a:ln/>
        </p:spPr>
        <p:txBody>
          <a:bodyPr wrap="square" lIns="0" tIns="0" rIns="0" bIns="0" rtlCol="0" anchor="t"/>
          <a:lstStyle/>
          <a:p>
            <a:pPr indent="0" marL="0">
              <a:buNone/>
            </a:pPr>
            <a:r>
              <a:rPr lang="en-US" sz="1200" dirty="0">
                <a:solidFill>
                  <a:srgbClr val="4A5568"/>
                </a:solidFill>
              </a:rPr>
              <a:t>zipped, 184 GB once unzipped</a:t>
            </a:r>
            <a:endParaRPr lang="en-US" sz="1200" dirty="0"/>
          </a:p>
        </p:txBody>
      </p:sp>
      <p:sp>
        <p:nvSpPr>
          <p:cNvPr id="10" name="data stat 4 value"/>
          <p:cNvSpPr txBox="1"/>
          <p:nvPr/>
        </p:nvSpPr>
        <p:spPr>
          <a:xfrm>
            <a:off x="2423160" y="2240280"/>
            <a:ext cx="1828800" cy="566928"/>
          </a:xfrm>
          <a:prstGeom prst="rect">
            <a:avLst/>
          </a:prstGeom>
          <a:noFill/>
          <a:ln/>
        </p:spPr>
        <p:txBody>
          <a:bodyPr wrap="square" lIns="0" tIns="0" rIns="0" bIns="0" rtlCol="0" anchor="b"/>
          <a:lstStyle/>
          <a:p>
            <a:pPr indent="0" marL="0">
              <a:buNone/>
            </a:pPr>
            <a:r>
              <a:rPr lang="en-US" sz="3000" b="1" dirty="0">
                <a:solidFill>
                  <a:srgbClr val="2E3A4D"/>
                </a:solidFill>
                <a:latin typeface="Cambria" pitchFamily="34" charset="0"/>
                <a:ea typeface="Cambria" pitchFamily="34" charset="-122"/>
                <a:cs typeface="Cambria" pitchFamily="34" charset="-120"/>
              </a:rPr>
              <a:t>$10.5T</a:t>
            </a:r>
            <a:endParaRPr lang="en-US" sz="3000" dirty="0"/>
          </a:p>
        </p:txBody>
      </p:sp>
      <p:sp>
        <p:nvSpPr>
          <p:cNvPr id="11" name="data stat 4 label"/>
          <p:cNvSpPr txBox="1"/>
          <p:nvPr/>
        </p:nvSpPr>
        <p:spPr>
          <a:xfrm>
            <a:off x="2423160" y="2843784"/>
            <a:ext cx="1828800" cy="457200"/>
          </a:xfrm>
          <a:prstGeom prst="rect">
            <a:avLst/>
          </a:prstGeom>
          <a:noFill/>
          <a:ln/>
        </p:spPr>
        <p:txBody>
          <a:bodyPr wrap="square" lIns="0" tIns="0" rIns="0" bIns="0" rtlCol="0" anchor="t"/>
          <a:lstStyle/>
          <a:p>
            <a:pPr indent="0" marL="0">
              <a:buNone/>
            </a:pPr>
            <a:r>
              <a:rPr lang="en-US" sz="1200" dirty="0">
                <a:solidFill>
                  <a:srgbClr val="4A5568"/>
                </a:solidFill>
              </a:rPr>
              <a:t>obligated over the 18 years</a:t>
            </a:r>
            <a:endParaRPr lang="en-US" sz="1200" dirty="0"/>
          </a:p>
        </p:txBody>
      </p:sp>
      <p:sp>
        <p:nvSpPr>
          <p:cNvPr id="12" name="source"/>
          <p:cNvSpPr txBox="1"/>
          <p:nvPr/>
        </p:nvSpPr>
        <p:spPr>
          <a:xfrm>
            <a:off x="457200" y="3611880"/>
            <a:ext cx="3749040" cy="457200"/>
          </a:xfrm>
          <a:prstGeom prst="rect">
            <a:avLst/>
          </a:prstGeom>
          <a:noFill/>
          <a:ln/>
        </p:spPr>
        <p:txBody>
          <a:bodyPr wrap="square" lIns="0" tIns="0" rIns="0" bIns="0" rtlCol="0" anchor="t"/>
          <a:lstStyle/>
          <a:p>
            <a:pPr indent="0" marL="0">
              <a:buNone/>
            </a:pPr>
            <a:r>
              <a:rPr lang="en-US" sz="1100" i="1" dirty="0">
                <a:solidFill>
                  <a:srgbClr val="4A5568"/>
                </a:solidFill>
              </a:rPr>
              <a:t>Source: USAspending.gov Award Data Archive, contracts, all agencies, release of 2026-09-06.</a:t>
            </a:r>
            <a:endParaRPr lang="en-US" sz="1100" dirty="0"/>
          </a:p>
        </p:txBody>
      </p:sp>
      <p:sp>
        <p:nvSpPr>
          <p:cNvPr id="13" name="row card"/>
          <p:cNvSpPr/>
          <p:nvPr/>
        </p:nvSpPr>
        <p:spPr>
          <a:xfrm>
            <a:off x="4434840" y="1005840"/>
            <a:ext cx="4251960" cy="3017520"/>
          </a:xfrm>
          <a:prstGeom prst="roundRect">
            <a:avLst>
              <a:gd name="adj" fmla="val 2424"/>
            </a:avLst>
          </a:prstGeom>
          <a:solidFill>
            <a:srgbClr val="EEF0F3"/>
          </a:solidFill>
          <a:ln/>
        </p:spPr>
      </p:sp>
      <p:sp>
        <p:nvSpPr>
          <p:cNvPr id="14" name="row card heading"/>
          <p:cNvSpPr txBox="1"/>
          <p:nvPr/>
        </p:nvSpPr>
        <p:spPr>
          <a:xfrm>
            <a:off x="4617720" y="1124712"/>
            <a:ext cx="3886200" cy="292608"/>
          </a:xfrm>
          <a:prstGeom prst="rect">
            <a:avLst/>
          </a:prstGeom>
          <a:noFill/>
          <a:ln/>
        </p:spPr>
        <p:txBody>
          <a:bodyPr wrap="square" lIns="0" tIns="0" rIns="0" bIns="0" rtlCol="0" anchor="t"/>
          <a:lstStyle/>
          <a:p>
            <a:pPr indent="0" marL="0">
              <a:buNone/>
            </a:pPr>
            <a:r>
              <a:rPr lang="en-US" sz="1300" b="1" dirty="0">
                <a:solidFill>
                  <a:srgbClr val="1F2430"/>
                </a:solidFill>
              </a:rPr>
              <a:t>One row = one contract action. A real one:</a:t>
            </a:r>
            <a:endParaRPr lang="en-US" sz="1300" dirty="0"/>
          </a:p>
        </p:txBody>
      </p:sp>
      <p:sp>
        <p:nvSpPr>
          <p:cNvPr id="15" name="field 1 name"/>
          <p:cNvSpPr txBox="1"/>
          <p:nvPr/>
        </p:nvSpPr>
        <p:spPr>
          <a:xfrm>
            <a:off x="4617720" y="1508760"/>
            <a:ext cx="1097280" cy="347472"/>
          </a:xfrm>
          <a:prstGeom prst="rect">
            <a:avLst/>
          </a:prstGeom>
          <a:noFill/>
          <a:ln/>
        </p:spPr>
        <p:txBody>
          <a:bodyPr wrap="square" lIns="0" tIns="0" rIns="0" bIns="0" rtlCol="0" anchor="ctr"/>
          <a:lstStyle/>
          <a:p>
            <a:pPr indent="0" marL="0">
              <a:buNone/>
            </a:pPr>
            <a:r>
              <a:rPr lang="en-US" sz="1200" dirty="0">
                <a:solidFill>
                  <a:srgbClr val="4A5568"/>
                </a:solidFill>
              </a:rPr>
              <a:t>When</a:t>
            </a:r>
            <a:endParaRPr lang="en-US" sz="1200" dirty="0"/>
          </a:p>
        </p:txBody>
      </p:sp>
      <p:sp>
        <p:nvSpPr>
          <p:cNvPr id="16" name="field 1 value"/>
          <p:cNvSpPr txBox="1"/>
          <p:nvPr/>
        </p:nvSpPr>
        <p:spPr>
          <a:xfrm>
            <a:off x="5715000" y="1508760"/>
            <a:ext cx="2788920" cy="347472"/>
          </a:xfrm>
          <a:prstGeom prst="rect">
            <a:avLst/>
          </a:prstGeom>
          <a:noFill/>
          <a:ln/>
        </p:spPr>
        <p:txBody>
          <a:bodyPr wrap="square" lIns="0" tIns="0" rIns="0" bIns="0" rtlCol="0" anchor="ctr"/>
          <a:lstStyle/>
          <a:p>
            <a:pPr indent="0" marL="0">
              <a:buNone/>
            </a:pPr>
            <a:r>
              <a:rPr lang="en-US" sz="1300" dirty="0">
                <a:solidFill>
                  <a:srgbClr val="1F2430"/>
                </a:solidFill>
              </a:rPr>
              <a:t>2025-09-29</a:t>
            </a:r>
            <a:endParaRPr lang="en-US" sz="1300" dirty="0"/>
          </a:p>
        </p:txBody>
      </p:sp>
      <p:sp>
        <p:nvSpPr>
          <p:cNvPr id="17" name="field 2 name"/>
          <p:cNvSpPr txBox="1"/>
          <p:nvPr/>
        </p:nvSpPr>
        <p:spPr>
          <a:xfrm>
            <a:off x="4617720" y="1911096"/>
            <a:ext cx="1097280" cy="347472"/>
          </a:xfrm>
          <a:prstGeom prst="rect">
            <a:avLst/>
          </a:prstGeom>
          <a:noFill/>
          <a:ln/>
        </p:spPr>
        <p:txBody>
          <a:bodyPr wrap="square" lIns="0" tIns="0" rIns="0" bIns="0" rtlCol="0" anchor="ctr"/>
          <a:lstStyle/>
          <a:p>
            <a:pPr indent="0" marL="0">
              <a:buNone/>
            </a:pPr>
            <a:r>
              <a:rPr lang="en-US" sz="1200" dirty="0">
                <a:solidFill>
                  <a:srgbClr val="4A5568"/>
                </a:solidFill>
              </a:rPr>
              <a:t>Who bought</a:t>
            </a:r>
            <a:endParaRPr lang="en-US" sz="1200" dirty="0"/>
          </a:p>
        </p:txBody>
      </p:sp>
      <p:sp>
        <p:nvSpPr>
          <p:cNvPr id="18" name="field 2 value"/>
          <p:cNvSpPr txBox="1"/>
          <p:nvPr/>
        </p:nvSpPr>
        <p:spPr>
          <a:xfrm>
            <a:off x="5715000" y="1911096"/>
            <a:ext cx="2788920" cy="347472"/>
          </a:xfrm>
          <a:prstGeom prst="rect">
            <a:avLst/>
          </a:prstGeom>
          <a:noFill/>
          <a:ln/>
        </p:spPr>
        <p:txBody>
          <a:bodyPr wrap="square" lIns="0" tIns="0" rIns="0" bIns="0" rtlCol="0" anchor="ctr"/>
          <a:lstStyle/>
          <a:p>
            <a:pPr indent="0" marL="0">
              <a:buNone/>
            </a:pPr>
            <a:r>
              <a:rPr lang="en-US" sz="1300" dirty="0">
                <a:solidFill>
                  <a:srgbClr val="1F2430"/>
                </a:solidFill>
              </a:rPr>
              <a:t>Department of Defense (Navy)</a:t>
            </a:r>
            <a:endParaRPr lang="en-US" sz="1300" dirty="0"/>
          </a:p>
        </p:txBody>
      </p:sp>
      <p:sp>
        <p:nvSpPr>
          <p:cNvPr id="19" name="field 3 name"/>
          <p:cNvSpPr txBox="1"/>
          <p:nvPr/>
        </p:nvSpPr>
        <p:spPr>
          <a:xfrm>
            <a:off x="4617720" y="2313432"/>
            <a:ext cx="1097280" cy="347472"/>
          </a:xfrm>
          <a:prstGeom prst="rect">
            <a:avLst/>
          </a:prstGeom>
          <a:noFill/>
          <a:ln/>
        </p:spPr>
        <p:txBody>
          <a:bodyPr wrap="square" lIns="0" tIns="0" rIns="0" bIns="0" rtlCol="0" anchor="ctr"/>
          <a:lstStyle/>
          <a:p>
            <a:pPr indent="0" marL="0">
              <a:buNone/>
            </a:pPr>
            <a:r>
              <a:rPr lang="en-US" sz="1200" dirty="0">
                <a:solidFill>
                  <a:srgbClr val="4A5568"/>
                </a:solidFill>
              </a:rPr>
              <a:t>What</a:t>
            </a:r>
            <a:endParaRPr lang="en-US" sz="1200" dirty="0"/>
          </a:p>
        </p:txBody>
      </p:sp>
      <p:sp>
        <p:nvSpPr>
          <p:cNvPr id="20" name="field 3 value"/>
          <p:cNvSpPr txBox="1"/>
          <p:nvPr/>
        </p:nvSpPr>
        <p:spPr>
          <a:xfrm>
            <a:off x="5715000" y="2313432"/>
            <a:ext cx="2788920" cy="347472"/>
          </a:xfrm>
          <a:prstGeom prst="rect">
            <a:avLst/>
          </a:prstGeom>
          <a:noFill/>
          <a:ln/>
        </p:spPr>
        <p:txBody>
          <a:bodyPr wrap="square" lIns="0" tIns="0" rIns="0" bIns="0" rtlCol="0" anchor="ctr"/>
          <a:lstStyle/>
          <a:p>
            <a:pPr indent="0" marL="0">
              <a:buNone/>
            </a:pPr>
            <a:r>
              <a:rPr lang="en-US" sz="1300" dirty="0">
                <a:solidFill>
                  <a:srgbClr val="1F2430"/>
                </a:solidFill>
              </a:rPr>
              <a:t>1510  Aircraft, fixed wing</a:t>
            </a:r>
            <a:endParaRPr lang="en-US" sz="1300" dirty="0"/>
          </a:p>
        </p:txBody>
      </p:sp>
      <p:sp>
        <p:nvSpPr>
          <p:cNvPr id="21" name="field 4 name"/>
          <p:cNvSpPr txBox="1"/>
          <p:nvPr/>
        </p:nvSpPr>
        <p:spPr>
          <a:xfrm>
            <a:off x="4617720" y="2715768"/>
            <a:ext cx="1097280" cy="347472"/>
          </a:xfrm>
          <a:prstGeom prst="rect">
            <a:avLst/>
          </a:prstGeom>
          <a:noFill/>
          <a:ln/>
        </p:spPr>
        <p:txBody>
          <a:bodyPr wrap="square" lIns="0" tIns="0" rIns="0" bIns="0" rtlCol="0" anchor="ctr"/>
          <a:lstStyle/>
          <a:p>
            <a:pPr indent="0" marL="0">
              <a:buNone/>
            </a:pPr>
            <a:r>
              <a:rPr lang="en-US" sz="1200" dirty="0">
                <a:solidFill>
                  <a:srgbClr val="4A5568"/>
                </a:solidFill>
              </a:rPr>
              <a:t>From whom</a:t>
            </a:r>
            <a:endParaRPr lang="en-US" sz="1200" dirty="0"/>
          </a:p>
        </p:txBody>
      </p:sp>
      <p:sp>
        <p:nvSpPr>
          <p:cNvPr id="22" name="field 4 value"/>
          <p:cNvSpPr txBox="1"/>
          <p:nvPr/>
        </p:nvSpPr>
        <p:spPr>
          <a:xfrm>
            <a:off x="5715000" y="2715768"/>
            <a:ext cx="2788920" cy="347472"/>
          </a:xfrm>
          <a:prstGeom prst="rect">
            <a:avLst/>
          </a:prstGeom>
          <a:noFill/>
          <a:ln/>
        </p:spPr>
        <p:txBody>
          <a:bodyPr wrap="square" lIns="0" tIns="0" rIns="0" bIns="0" rtlCol="0" anchor="ctr"/>
          <a:lstStyle/>
          <a:p>
            <a:pPr indent="0" marL="0">
              <a:buNone/>
            </a:pPr>
            <a:r>
              <a:rPr lang="en-US" sz="1300" dirty="0">
                <a:solidFill>
                  <a:srgbClr val="1F2430"/>
                </a:solidFill>
              </a:rPr>
              <a:t>Lockheed Martin Corp</a:t>
            </a:r>
            <a:endParaRPr lang="en-US" sz="1300" dirty="0"/>
          </a:p>
        </p:txBody>
      </p:sp>
      <p:sp>
        <p:nvSpPr>
          <p:cNvPr id="23" name="field 5 name"/>
          <p:cNvSpPr txBox="1"/>
          <p:nvPr/>
        </p:nvSpPr>
        <p:spPr>
          <a:xfrm>
            <a:off x="4617720" y="3118104"/>
            <a:ext cx="1097280" cy="347472"/>
          </a:xfrm>
          <a:prstGeom prst="rect">
            <a:avLst/>
          </a:prstGeom>
          <a:noFill/>
          <a:ln/>
        </p:spPr>
        <p:txBody>
          <a:bodyPr wrap="square" lIns="0" tIns="0" rIns="0" bIns="0" rtlCol="0" anchor="ctr"/>
          <a:lstStyle/>
          <a:p>
            <a:pPr indent="0" marL="0">
              <a:buNone/>
            </a:pPr>
            <a:r>
              <a:rPr lang="en-US" sz="1200" dirty="0">
                <a:solidFill>
                  <a:srgbClr val="4A5568"/>
                </a:solidFill>
              </a:rPr>
              <a:t>How much</a:t>
            </a:r>
            <a:endParaRPr lang="en-US" sz="1200" dirty="0"/>
          </a:p>
        </p:txBody>
      </p:sp>
      <p:sp>
        <p:nvSpPr>
          <p:cNvPr id="24" name="field 5 value"/>
          <p:cNvSpPr txBox="1"/>
          <p:nvPr/>
        </p:nvSpPr>
        <p:spPr>
          <a:xfrm>
            <a:off x="5715000" y="3118104"/>
            <a:ext cx="2788920" cy="347472"/>
          </a:xfrm>
          <a:prstGeom prst="rect">
            <a:avLst/>
          </a:prstGeom>
          <a:noFill/>
          <a:ln/>
        </p:spPr>
        <p:txBody>
          <a:bodyPr wrap="square" lIns="0" tIns="0" rIns="0" bIns="0" rtlCol="0" anchor="ctr"/>
          <a:lstStyle/>
          <a:p>
            <a:pPr indent="0" marL="0">
              <a:buNone/>
            </a:pPr>
            <a:r>
              <a:rPr lang="en-US" sz="1300" b="1" dirty="0">
                <a:solidFill>
                  <a:srgbClr val="C2410C"/>
                </a:solidFill>
              </a:rPr>
              <a:t>$14.1 billion</a:t>
            </a:r>
            <a:endParaRPr lang="en-US" sz="1300" dirty="0"/>
          </a:p>
        </p:txBody>
      </p:sp>
      <p:sp>
        <p:nvSpPr>
          <p:cNvPr id="25" name="field 6 name"/>
          <p:cNvSpPr txBox="1"/>
          <p:nvPr/>
        </p:nvSpPr>
        <p:spPr>
          <a:xfrm>
            <a:off x="4617720" y="3520440"/>
            <a:ext cx="1097280" cy="347472"/>
          </a:xfrm>
          <a:prstGeom prst="rect">
            <a:avLst/>
          </a:prstGeom>
          <a:noFill/>
          <a:ln/>
        </p:spPr>
        <p:txBody>
          <a:bodyPr wrap="square" lIns="0" tIns="0" rIns="0" bIns="0" rtlCol="0" anchor="ctr"/>
          <a:lstStyle/>
          <a:p>
            <a:pPr indent="0" marL="0">
              <a:buNone/>
            </a:pPr>
            <a:r>
              <a:rPr lang="en-US" sz="1200" dirty="0">
                <a:solidFill>
                  <a:srgbClr val="4A5568"/>
                </a:solidFill>
              </a:rPr>
              <a:t>Competed?</a:t>
            </a:r>
            <a:endParaRPr lang="en-US" sz="1200" dirty="0"/>
          </a:p>
        </p:txBody>
      </p:sp>
      <p:sp>
        <p:nvSpPr>
          <p:cNvPr id="26" name="field 6 value"/>
          <p:cNvSpPr txBox="1"/>
          <p:nvPr/>
        </p:nvSpPr>
        <p:spPr>
          <a:xfrm>
            <a:off x="5715000" y="3520440"/>
            <a:ext cx="2788920" cy="347472"/>
          </a:xfrm>
          <a:prstGeom prst="rect">
            <a:avLst/>
          </a:prstGeom>
          <a:noFill/>
          <a:ln/>
        </p:spPr>
        <p:txBody>
          <a:bodyPr wrap="square" lIns="0" tIns="0" rIns="0" bIns="0" rtlCol="0" anchor="ctr"/>
          <a:lstStyle/>
          <a:p>
            <a:pPr indent="0" marL="0">
              <a:buNone/>
            </a:pPr>
            <a:r>
              <a:rPr lang="en-US" sz="1300" dirty="0">
                <a:solidFill>
                  <a:srgbClr val="1F2430"/>
                </a:solidFill>
              </a:rPr>
              <a:t>Not competed</a:t>
            </a:r>
            <a:endParaRPr lang="en-US" sz="1300" dirty="0"/>
          </a:p>
        </p:txBody>
      </p:sp>
      <p:sp>
        <p:nvSpPr>
          <p:cNvPr id="27" name="takeaway box"/>
          <p:cNvSpPr/>
          <p:nvPr/>
        </p:nvSpPr>
        <p:spPr>
          <a:xfrm>
            <a:off x="457200" y="4160520"/>
            <a:ext cx="8229600" cy="566928"/>
          </a:xfrm>
          <a:prstGeom prst="roundRect">
            <a:avLst>
              <a:gd name="adj" fmla="val 12903"/>
            </a:avLst>
          </a:prstGeom>
          <a:solidFill>
            <a:srgbClr val="EEF0F3"/>
          </a:solidFill>
          <a:ln/>
        </p:spPr>
      </p:sp>
      <p:sp>
        <p:nvSpPr>
          <p:cNvPr id="28" name="takeaway"/>
          <p:cNvSpPr txBox="1"/>
          <p:nvPr/>
        </p:nvSpPr>
        <p:spPr>
          <a:xfrm>
            <a:off x="640080" y="4160520"/>
            <a:ext cx="7863840" cy="566928"/>
          </a:xfrm>
          <a:prstGeom prst="rect">
            <a:avLst/>
          </a:prstGeom>
          <a:noFill/>
          <a:ln/>
        </p:spPr>
        <p:txBody>
          <a:bodyPr wrap="square" lIns="0" tIns="0" rIns="0" bIns="0" rtlCol="0" anchor="ctr"/>
          <a:lstStyle/>
          <a:p>
            <a:pPr indent="0" marL="0">
              <a:buNone/>
            </a:pPr>
            <a:r>
              <a:rPr lang="en-US" sz="1400" b="1" dirty="0">
                <a:solidFill>
                  <a:srgbClr val="C2410C"/>
                </a:solidFill>
              </a:rPr>
              <a:t>What this means   </a:t>
            </a:r>
            <a:pPr indent="0" marL="0">
              <a:buNone/>
            </a:pPr>
            <a:r>
              <a:rPr lang="en-US" sz="1400" dirty="0">
                <a:solidFill>
                  <a:srgbClr val="1F2430"/>
                </a:solidFill>
              </a:rPr>
              <a:t>Each row says who bought what, from whom, for how much, and whether others could bid. Adding rows up by buyer, product and company shows who wins the money.</a:t>
            </a:r>
            <a:endParaRPr lang="en-US" sz="14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600" b="1" dirty="0">
                <a:solidFill>
                  <a:srgbClr val="1F2430"/>
                </a:solidFill>
                <a:latin typeface="Cambria" pitchFamily="34" charset="0"/>
                <a:ea typeface="Cambria" pitchFamily="34" charset="-122"/>
                <a:cs typeface="Cambria" pitchFamily="34" charset="-120"/>
              </a:rPr>
              <a:t>How we turned 18 zip files into a trusted dataset</a:t>
            </a:r>
            <a:endParaRPr lang="en-US" sz="2600" dirty="0"/>
          </a:p>
        </p:txBody>
      </p:sp>
      <p:sp>
        <p:nvSpPr>
          <p:cNvPr id="4" name="step 1 card"/>
          <p:cNvSpPr/>
          <p:nvPr/>
        </p:nvSpPr>
        <p:spPr>
          <a:xfrm>
            <a:off x="457200" y="1005840"/>
            <a:ext cx="1865376" cy="2331720"/>
          </a:xfrm>
          <a:prstGeom prst="roundRect">
            <a:avLst>
              <a:gd name="adj" fmla="val 3922"/>
            </a:avLst>
          </a:prstGeom>
          <a:solidFill>
            <a:srgbClr val="EEF0F3"/>
          </a:solidFill>
          <a:ln/>
        </p:spPr>
      </p:sp>
      <p:sp>
        <p:nvSpPr>
          <p:cNvPr id="5" name="step 1 badge"/>
          <p:cNvSpPr/>
          <p:nvPr/>
        </p:nvSpPr>
        <p:spPr>
          <a:xfrm>
            <a:off x="621792" y="1161288"/>
            <a:ext cx="420624" cy="420624"/>
          </a:xfrm>
          <a:prstGeom prst="ellipse">
            <a:avLst/>
          </a:prstGeom>
          <a:solidFill>
            <a:srgbClr val="C2410C"/>
          </a:solidFill>
          <a:ln/>
        </p:spPr>
      </p:sp>
      <p:sp>
        <p:nvSpPr>
          <p:cNvPr id="6" name="step 1 number"/>
          <p:cNvSpPr txBox="1"/>
          <p:nvPr/>
        </p:nvSpPr>
        <p:spPr>
          <a:xfrm>
            <a:off x="621792" y="11612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step 1 head"/>
          <p:cNvSpPr txBox="1"/>
          <p:nvPr/>
        </p:nvSpPr>
        <p:spPr>
          <a:xfrm>
            <a:off x="621792" y="1691640"/>
            <a:ext cx="1536192" cy="365760"/>
          </a:xfrm>
          <a:prstGeom prst="rect">
            <a:avLst/>
          </a:prstGeom>
          <a:noFill/>
          <a:ln/>
        </p:spPr>
        <p:txBody>
          <a:bodyPr wrap="square" lIns="0" tIns="0" rIns="0" bIns="0" rtlCol="0" anchor="t"/>
          <a:lstStyle/>
          <a:p>
            <a:pPr indent="0" marL="0">
              <a:buNone/>
            </a:pPr>
            <a:r>
              <a:rPr lang="en-US" sz="1500" b="1" dirty="0">
                <a:solidFill>
                  <a:srgbClr val="1F2430"/>
                </a:solidFill>
              </a:rPr>
              <a:t>Download and lock</a:t>
            </a:r>
            <a:endParaRPr lang="en-US" sz="1500" dirty="0"/>
          </a:p>
        </p:txBody>
      </p:sp>
      <p:sp>
        <p:nvSpPr>
          <p:cNvPr id="8" name="step 1 body"/>
          <p:cNvSpPr txBox="1"/>
          <p:nvPr/>
        </p:nvSpPr>
        <p:spPr>
          <a:xfrm>
            <a:off x="621792" y="2103120"/>
            <a:ext cx="1536192" cy="1143000"/>
          </a:xfrm>
          <a:prstGeom prst="rect">
            <a:avLst/>
          </a:prstGeom>
          <a:noFill/>
          <a:ln/>
        </p:spPr>
        <p:txBody>
          <a:bodyPr wrap="square" lIns="0" tIns="0" rIns="0" bIns="0" rtlCol="0" anchor="t"/>
          <a:lstStyle/>
          <a:p>
            <a:pPr indent="0" marL="0">
              <a:buNone/>
            </a:pPr>
            <a:r>
              <a:rPr lang="en-US" sz="1200" dirty="0">
                <a:solidFill>
                  <a:srgbClr val="4A5568"/>
                </a:solidFill>
              </a:rPr>
              <a:t>18 zip files checked against their checksums, then made read-only</a:t>
            </a:r>
            <a:endParaRPr lang="en-US" sz="1200" dirty="0"/>
          </a:p>
        </p:txBody>
      </p:sp>
      <p:sp>
        <p:nvSpPr>
          <p:cNvPr id="9" name="arrow 1"/>
          <p:cNvSpPr/>
          <p:nvPr/>
        </p:nvSpPr>
        <p:spPr>
          <a:xfrm rot="5400000">
            <a:off x="2377440" y="2057400"/>
            <a:ext cx="146304" cy="219456"/>
          </a:xfrm>
          <a:prstGeom prst="triangle">
            <a:avLst/>
          </a:prstGeom>
          <a:solidFill>
            <a:srgbClr val="8A94A6"/>
          </a:solidFill>
          <a:ln/>
        </p:spPr>
      </p:sp>
      <p:sp>
        <p:nvSpPr>
          <p:cNvPr id="10" name="step 2 card"/>
          <p:cNvSpPr/>
          <p:nvPr/>
        </p:nvSpPr>
        <p:spPr>
          <a:xfrm>
            <a:off x="2578608" y="1005840"/>
            <a:ext cx="1865376" cy="2331720"/>
          </a:xfrm>
          <a:prstGeom prst="roundRect">
            <a:avLst>
              <a:gd name="adj" fmla="val 3922"/>
            </a:avLst>
          </a:prstGeom>
          <a:solidFill>
            <a:srgbClr val="EEF0F3"/>
          </a:solidFill>
          <a:ln/>
        </p:spPr>
      </p:sp>
      <p:sp>
        <p:nvSpPr>
          <p:cNvPr id="11" name="step 2 badge"/>
          <p:cNvSpPr/>
          <p:nvPr/>
        </p:nvSpPr>
        <p:spPr>
          <a:xfrm>
            <a:off x="2743200" y="1161288"/>
            <a:ext cx="420624" cy="420624"/>
          </a:xfrm>
          <a:prstGeom prst="ellipse">
            <a:avLst/>
          </a:prstGeom>
          <a:solidFill>
            <a:srgbClr val="C2410C"/>
          </a:solidFill>
          <a:ln/>
        </p:spPr>
      </p:sp>
      <p:sp>
        <p:nvSpPr>
          <p:cNvPr id="12" name="step 2 number"/>
          <p:cNvSpPr txBox="1"/>
          <p:nvPr/>
        </p:nvSpPr>
        <p:spPr>
          <a:xfrm>
            <a:off x="2743200" y="11612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tep 2 head"/>
          <p:cNvSpPr txBox="1"/>
          <p:nvPr/>
        </p:nvSpPr>
        <p:spPr>
          <a:xfrm>
            <a:off x="2743200" y="1691640"/>
            <a:ext cx="1536192" cy="365760"/>
          </a:xfrm>
          <a:prstGeom prst="rect">
            <a:avLst/>
          </a:prstGeom>
          <a:noFill/>
          <a:ln/>
        </p:spPr>
        <p:txBody>
          <a:bodyPr wrap="square" lIns="0" tIns="0" rIns="0" bIns="0" rtlCol="0" anchor="t"/>
          <a:lstStyle/>
          <a:p>
            <a:pPr indent="0" marL="0">
              <a:buNone/>
            </a:pPr>
            <a:r>
              <a:rPr lang="en-US" sz="1500" b="1" dirty="0">
                <a:solidFill>
                  <a:srgbClr val="1F2430"/>
                </a:solidFill>
              </a:rPr>
              <a:t>Convert and prove</a:t>
            </a:r>
            <a:endParaRPr lang="en-US" sz="1500" dirty="0"/>
          </a:p>
        </p:txBody>
      </p:sp>
      <p:sp>
        <p:nvSpPr>
          <p:cNvPr id="14" name="step 2 body"/>
          <p:cNvSpPr txBox="1"/>
          <p:nvPr/>
        </p:nvSpPr>
        <p:spPr>
          <a:xfrm>
            <a:off x="2743200" y="2103120"/>
            <a:ext cx="1536192" cy="1143000"/>
          </a:xfrm>
          <a:prstGeom prst="rect">
            <a:avLst/>
          </a:prstGeom>
          <a:noFill/>
          <a:ln/>
        </p:spPr>
        <p:txBody>
          <a:bodyPr wrap="square" lIns="0" tIns="0" rIns="0" bIns="0" rtlCol="0" anchor="t"/>
          <a:lstStyle/>
          <a:p>
            <a:pPr indent="0" marL="0">
              <a:buNone/>
            </a:pPr>
            <a:r>
              <a:rPr lang="en-US" sz="1200" dirty="0">
                <a:solidFill>
                  <a:srgbClr val="4A5568"/>
                </a:solidFill>
              </a:rPr>
              <a:t>A fast copy of all 88.8M rows, proven exact: counts, dollars to the cent, every field</a:t>
            </a:r>
            <a:endParaRPr lang="en-US" sz="1200" dirty="0"/>
          </a:p>
        </p:txBody>
      </p:sp>
      <p:sp>
        <p:nvSpPr>
          <p:cNvPr id="15" name="arrow 2"/>
          <p:cNvSpPr/>
          <p:nvPr/>
        </p:nvSpPr>
        <p:spPr>
          <a:xfrm rot="5400000">
            <a:off x="4498848" y="2057400"/>
            <a:ext cx="146304" cy="219456"/>
          </a:xfrm>
          <a:prstGeom prst="triangle">
            <a:avLst/>
          </a:prstGeom>
          <a:solidFill>
            <a:srgbClr val="8A94A6"/>
          </a:solidFill>
          <a:ln/>
        </p:spPr>
      </p:sp>
      <p:sp>
        <p:nvSpPr>
          <p:cNvPr id="16" name="step 3 card"/>
          <p:cNvSpPr/>
          <p:nvPr/>
        </p:nvSpPr>
        <p:spPr>
          <a:xfrm>
            <a:off x="4700016" y="1005840"/>
            <a:ext cx="1865376" cy="2331720"/>
          </a:xfrm>
          <a:prstGeom prst="roundRect">
            <a:avLst>
              <a:gd name="adj" fmla="val 3922"/>
            </a:avLst>
          </a:prstGeom>
          <a:solidFill>
            <a:srgbClr val="EEF0F3"/>
          </a:solidFill>
          <a:ln/>
        </p:spPr>
      </p:sp>
      <p:sp>
        <p:nvSpPr>
          <p:cNvPr id="17" name="step 3 badge"/>
          <p:cNvSpPr/>
          <p:nvPr/>
        </p:nvSpPr>
        <p:spPr>
          <a:xfrm>
            <a:off x="4864608" y="1161288"/>
            <a:ext cx="420624" cy="420624"/>
          </a:xfrm>
          <a:prstGeom prst="ellipse">
            <a:avLst/>
          </a:prstGeom>
          <a:solidFill>
            <a:srgbClr val="C2410C"/>
          </a:solidFill>
          <a:ln/>
        </p:spPr>
      </p:sp>
      <p:sp>
        <p:nvSpPr>
          <p:cNvPr id="18" name="step 3 number"/>
          <p:cNvSpPr txBox="1"/>
          <p:nvPr/>
        </p:nvSpPr>
        <p:spPr>
          <a:xfrm>
            <a:off x="4864608" y="11612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9" name="step 3 head"/>
          <p:cNvSpPr txBox="1"/>
          <p:nvPr/>
        </p:nvSpPr>
        <p:spPr>
          <a:xfrm>
            <a:off x="4864608" y="1691640"/>
            <a:ext cx="1536192" cy="365760"/>
          </a:xfrm>
          <a:prstGeom prst="rect">
            <a:avLst/>
          </a:prstGeom>
          <a:noFill/>
          <a:ln/>
        </p:spPr>
        <p:txBody>
          <a:bodyPr wrap="square" lIns="0" tIns="0" rIns="0" bIns="0" rtlCol="0" anchor="t"/>
          <a:lstStyle/>
          <a:p>
            <a:pPr indent="0" marL="0">
              <a:buNone/>
            </a:pPr>
            <a:r>
              <a:rPr lang="en-US" sz="1500" b="1" dirty="0">
                <a:solidFill>
                  <a:srgbClr val="1F2430"/>
                </a:solidFill>
              </a:rPr>
              <a:t>Check quality</a:t>
            </a:r>
            <a:endParaRPr lang="en-US" sz="1500" dirty="0"/>
          </a:p>
        </p:txBody>
      </p:sp>
      <p:sp>
        <p:nvSpPr>
          <p:cNvPr id="20" name="step 3 body"/>
          <p:cNvSpPr txBox="1"/>
          <p:nvPr/>
        </p:nvSpPr>
        <p:spPr>
          <a:xfrm>
            <a:off x="4864608" y="2103120"/>
            <a:ext cx="1536192" cy="1143000"/>
          </a:xfrm>
          <a:prstGeom prst="rect">
            <a:avLst/>
          </a:prstGeom>
          <a:noFill/>
          <a:ln/>
        </p:spPr>
        <p:txBody>
          <a:bodyPr wrap="square" lIns="0" tIns="0" rIns="0" bIns="0" rtlCol="0" anchor="t"/>
          <a:lstStyle/>
          <a:p>
            <a:pPr indent="0" marL="0">
              <a:buNone/>
            </a:pPr>
            <a:r>
              <a:rPr lang="en-US" sz="1200" dirty="0">
                <a:solidFill>
                  <a:srgbClr val="4A5568"/>
                </a:solidFill>
              </a:rPr>
              <a:t>62 rule checks on every row, which found the records that would distort the score</a:t>
            </a:r>
            <a:endParaRPr lang="en-US" sz="1200" dirty="0"/>
          </a:p>
        </p:txBody>
      </p:sp>
      <p:sp>
        <p:nvSpPr>
          <p:cNvPr id="21" name="arrow 3"/>
          <p:cNvSpPr/>
          <p:nvPr/>
        </p:nvSpPr>
        <p:spPr>
          <a:xfrm rot="5400000">
            <a:off x="6620256" y="2057400"/>
            <a:ext cx="146304" cy="219456"/>
          </a:xfrm>
          <a:prstGeom prst="triangle">
            <a:avLst/>
          </a:prstGeom>
          <a:solidFill>
            <a:srgbClr val="8A94A6"/>
          </a:solidFill>
          <a:ln/>
        </p:spPr>
      </p:sp>
      <p:sp>
        <p:nvSpPr>
          <p:cNvPr id="22" name="step 4 card"/>
          <p:cNvSpPr/>
          <p:nvPr/>
        </p:nvSpPr>
        <p:spPr>
          <a:xfrm>
            <a:off x="6821424" y="1005840"/>
            <a:ext cx="1865376" cy="2331720"/>
          </a:xfrm>
          <a:prstGeom prst="roundRect">
            <a:avLst>
              <a:gd name="adj" fmla="val 3922"/>
            </a:avLst>
          </a:prstGeom>
          <a:solidFill>
            <a:srgbClr val="2E3A4D"/>
          </a:solidFill>
          <a:ln/>
        </p:spPr>
      </p:sp>
      <p:sp>
        <p:nvSpPr>
          <p:cNvPr id="23" name="step 4 badge"/>
          <p:cNvSpPr/>
          <p:nvPr/>
        </p:nvSpPr>
        <p:spPr>
          <a:xfrm>
            <a:off x="6986016" y="1161288"/>
            <a:ext cx="420624" cy="420624"/>
          </a:xfrm>
          <a:prstGeom prst="ellipse">
            <a:avLst/>
          </a:prstGeom>
          <a:solidFill>
            <a:srgbClr val="C2410C"/>
          </a:solidFill>
          <a:ln/>
        </p:spPr>
      </p:sp>
      <p:sp>
        <p:nvSpPr>
          <p:cNvPr id="24" name="step 4 number"/>
          <p:cNvSpPr txBox="1"/>
          <p:nvPr/>
        </p:nvSpPr>
        <p:spPr>
          <a:xfrm>
            <a:off x="6986016" y="11612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5" name="step 4 head"/>
          <p:cNvSpPr txBox="1"/>
          <p:nvPr/>
        </p:nvSpPr>
        <p:spPr>
          <a:xfrm>
            <a:off x="6986016" y="1691640"/>
            <a:ext cx="1536192" cy="365760"/>
          </a:xfrm>
          <a:prstGeom prst="rect">
            <a:avLst/>
          </a:prstGeom>
          <a:noFill/>
          <a:ln/>
        </p:spPr>
        <p:txBody>
          <a:bodyPr wrap="square" lIns="0" tIns="0" rIns="0" bIns="0" rtlCol="0" anchor="t"/>
          <a:lstStyle/>
          <a:p>
            <a:pPr indent="0" marL="0">
              <a:buNone/>
            </a:pPr>
            <a:r>
              <a:rPr lang="en-US" sz="1500" b="1" dirty="0">
                <a:solidFill>
                  <a:srgbClr val="FFFFFF"/>
                </a:solidFill>
              </a:rPr>
              <a:t>Analysis tables</a:t>
            </a:r>
            <a:endParaRPr lang="en-US" sz="1500" dirty="0"/>
          </a:p>
        </p:txBody>
      </p:sp>
      <p:sp>
        <p:nvSpPr>
          <p:cNvPr id="26" name="step 4 body"/>
          <p:cNvSpPr txBox="1"/>
          <p:nvPr/>
        </p:nvSpPr>
        <p:spPr>
          <a:xfrm>
            <a:off x="6986016" y="2103120"/>
            <a:ext cx="1536192" cy="1143000"/>
          </a:xfrm>
          <a:prstGeom prst="rect">
            <a:avLst/>
          </a:prstGeom>
          <a:noFill/>
          <a:ln/>
        </p:spPr>
        <p:txBody>
          <a:bodyPr wrap="square" lIns="0" tIns="0" rIns="0" bIns="0" rtlCol="0" anchor="t"/>
          <a:lstStyle/>
          <a:p>
            <a:pPr indent="0" marL="0">
              <a:buNone/>
            </a:pPr>
            <a:r>
              <a:rPr lang="en-US" sz="1200" dirty="0">
                <a:solidFill>
                  <a:srgbClr val="E2E5EA"/>
                </a:solidFill>
              </a:rPr>
              <a:t>7.85M vendor-by-segment totals, all 116 checks passed</a:t>
            </a:r>
            <a:endParaRPr lang="en-US" sz="1200" dirty="0"/>
          </a:p>
        </p:txBody>
      </p:sp>
      <p:sp>
        <p:nvSpPr>
          <p:cNvPr id="27" name="gao badge"/>
          <p:cNvSpPr/>
          <p:nvPr/>
        </p:nvSpPr>
        <p:spPr>
          <a:xfrm>
            <a:off x="457200" y="3547872"/>
            <a:ext cx="384048" cy="384048"/>
          </a:xfrm>
          <a:prstGeom prst="ellipse">
            <a:avLst/>
          </a:prstGeom>
          <a:solidFill>
            <a:srgbClr val="4D7C6F"/>
          </a:solidFill>
          <a:ln/>
        </p:spPr>
      </p:sp>
      <p:sp>
        <p:nvSpPr>
          <p:cNvPr id="28" name="gao tick"/>
          <p:cNvSpPr txBox="1"/>
          <p:nvPr/>
        </p:nvSpPr>
        <p:spPr>
          <a:xfrm>
            <a:off x="457200" y="3547872"/>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29" name="gao check"/>
          <p:cNvSpPr txBox="1"/>
          <p:nvPr/>
        </p:nvSpPr>
        <p:spPr>
          <a:xfrm>
            <a:off x="960120" y="3547872"/>
            <a:ext cx="7726680" cy="384048"/>
          </a:xfrm>
          <a:prstGeom prst="rect">
            <a:avLst/>
          </a:prstGeom>
          <a:noFill/>
          <a:ln/>
        </p:spPr>
        <p:txBody>
          <a:bodyPr wrap="square" lIns="0" tIns="0" rIns="0" bIns="0" rtlCol="0" anchor="ctr"/>
          <a:lstStyle/>
          <a:p>
            <a:pPr indent="0" marL="0">
              <a:buNone/>
            </a:pPr>
            <a:r>
              <a:rPr lang="en-US" sz="1400" b="1" dirty="0">
                <a:solidFill>
                  <a:srgbClr val="1F2430"/>
                </a:solidFill>
              </a:rPr>
              <a:t>Our yearly totals match GAO's within 0.2%</a:t>
            </a:r>
            <a:pPr indent="0" marL="0">
              <a:buNone/>
            </a:pPr>
            <a:r>
              <a:rPr lang="en-US" sz="1400" dirty="0">
                <a:solidFill>
                  <a:srgbClr val="4A5568"/>
                </a:solidFill>
              </a:rPr>
              <a:t>  for FY2022 to FY2025, the years GAO publishes exact figures.</a:t>
            </a:r>
            <a:endParaRPr lang="en-US" sz="1400" dirty="0"/>
          </a:p>
        </p:txBody>
      </p:sp>
      <p:sp>
        <p:nvSpPr>
          <p:cNvPr id="30" name="takeaway box"/>
          <p:cNvSpPr/>
          <p:nvPr/>
        </p:nvSpPr>
        <p:spPr>
          <a:xfrm>
            <a:off x="457200" y="4160520"/>
            <a:ext cx="8229600" cy="566928"/>
          </a:xfrm>
          <a:prstGeom prst="roundRect">
            <a:avLst>
              <a:gd name="adj" fmla="val 12903"/>
            </a:avLst>
          </a:prstGeom>
          <a:solidFill>
            <a:srgbClr val="EEF0F3"/>
          </a:solidFill>
          <a:ln/>
        </p:spPr>
      </p:sp>
      <p:sp>
        <p:nvSpPr>
          <p:cNvPr id="31" name="takeaway"/>
          <p:cNvSpPr txBox="1"/>
          <p:nvPr/>
        </p:nvSpPr>
        <p:spPr>
          <a:xfrm>
            <a:off x="640080" y="4160520"/>
            <a:ext cx="7863840" cy="566928"/>
          </a:xfrm>
          <a:prstGeom prst="rect">
            <a:avLst/>
          </a:prstGeom>
          <a:noFill/>
          <a:ln/>
        </p:spPr>
        <p:txBody>
          <a:bodyPr wrap="square" lIns="0" tIns="0" rIns="0" bIns="0" rtlCol="0" anchor="ctr"/>
          <a:lstStyle/>
          <a:p>
            <a:pPr indent="0" marL="0">
              <a:buNone/>
            </a:pPr>
            <a:r>
              <a:rPr lang="en-US" sz="1400" b="1" dirty="0">
                <a:solidFill>
                  <a:srgbClr val="C2410C"/>
                </a:solidFill>
              </a:rPr>
              <a:t>What this means   </a:t>
            </a:r>
            <a:pPr indent="0" marL="0">
              <a:buNone/>
            </a:pPr>
            <a:r>
              <a:rPr lang="en-US" sz="1400" dirty="0">
                <a:solidFill>
                  <a:srgbClr val="1F2430"/>
                </a:solidFill>
              </a:rPr>
              <a:t>Every number we show traces back to the published files, and the totals agree with the government's own official figures.</a:t>
            </a:r>
            <a:endParaRPr lang="en-US" sz="14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600" b="1" dirty="0">
                <a:solidFill>
                  <a:srgbClr val="1F2430"/>
                </a:solidFill>
                <a:latin typeface="Cambria" pitchFamily="34" charset="0"/>
                <a:ea typeface="Cambria" pitchFamily="34" charset="-122"/>
                <a:cs typeface="Cambria" pitchFamily="34" charset="-120"/>
              </a:rPr>
              <a:t>How we measure concentration</a:t>
            </a:r>
            <a:endParaRPr lang="en-US" sz="2600" dirty="0"/>
          </a:p>
        </p:txBody>
      </p:sp>
      <p:sp>
        <p:nvSpPr>
          <p:cNvPr id="4" name="segment card"/>
          <p:cNvSpPr/>
          <p:nvPr/>
        </p:nvSpPr>
        <p:spPr>
          <a:xfrm>
            <a:off x="457200" y="1005840"/>
            <a:ext cx="3017520" cy="1417320"/>
          </a:xfrm>
          <a:prstGeom prst="roundRect">
            <a:avLst>
              <a:gd name="adj" fmla="val 5161"/>
            </a:avLst>
          </a:prstGeom>
          <a:solidFill>
            <a:srgbClr val="EEF0F3"/>
          </a:solidFill>
          <a:ln/>
        </p:spPr>
      </p:sp>
      <p:sp>
        <p:nvSpPr>
          <p:cNvPr id="5" name="segment text"/>
          <p:cNvSpPr txBox="1"/>
          <p:nvPr/>
        </p:nvSpPr>
        <p:spPr>
          <a:xfrm>
            <a:off x="640080" y="1115568"/>
            <a:ext cx="2697480" cy="1234440"/>
          </a:xfrm>
          <a:prstGeom prst="rect">
            <a:avLst/>
          </a:prstGeom>
          <a:noFill/>
          <a:ln/>
        </p:spPr>
        <p:txBody>
          <a:bodyPr wrap="square" lIns="0" tIns="0" rIns="0" bIns="0" rtlCol="0" anchor="t"/>
          <a:lstStyle/>
          <a:p>
            <a:pPr indent="0" marL="0">
              <a:spcAft>
                <a:spcPts val="400"/>
              </a:spcAft>
              <a:buNone/>
            </a:pPr>
            <a:r>
              <a:rPr lang="en-US" sz="1500" b="1" dirty="0">
                <a:solidFill>
                  <a:srgbClr val="1F2430"/>
                </a:solidFill>
              </a:rPr>
              <a:t>A segment</a:t>
            </a:r>
            <a:endParaRPr lang="en-US" sz="1400" dirty="0"/>
          </a:p>
          <a:p>
            <a:pPr indent="0" marL="0">
              <a:spcAft>
                <a:spcPts val="400"/>
              </a:spcAft>
              <a:buNone/>
            </a:pPr>
            <a:r>
              <a:rPr lang="en-US" sz="1400" dirty="0">
                <a:solidFill>
                  <a:srgbClr val="4A5568"/>
                </a:solidFill>
              </a:rPr>
              <a:t>one agency, buying one product, in one year</a:t>
            </a:r>
            <a:endParaRPr lang="en-US" sz="1400" dirty="0"/>
          </a:p>
          <a:p>
            <a:pPr indent="0" marL="0">
              <a:spcAft>
                <a:spcPts val="400"/>
              </a:spcAft>
              <a:buNone/>
            </a:pPr>
            <a:r>
              <a:rPr lang="en-US" sz="1200" i="1" dirty="0">
                <a:solidFill>
                  <a:srgbClr val="2E3A4D"/>
                </a:solidFill>
              </a:rPr>
              <a:t>e.g. Defense buying fixed-wing aircraft in FY2025</a:t>
            </a:r>
            <a:endParaRPr lang="en-US" sz="1400" dirty="0"/>
          </a:p>
        </p:txBody>
      </p:sp>
      <p:sp>
        <p:nvSpPr>
          <p:cNvPr id="6" name="segment count"/>
          <p:cNvSpPr txBox="1"/>
          <p:nvPr/>
        </p:nvSpPr>
        <p:spPr>
          <a:xfrm>
            <a:off x="457200" y="2514600"/>
            <a:ext cx="3017520" cy="457200"/>
          </a:xfrm>
          <a:prstGeom prst="rect">
            <a:avLst/>
          </a:prstGeom>
          <a:noFill/>
          <a:ln/>
        </p:spPr>
        <p:txBody>
          <a:bodyPr wrap="square" lIns="0" tIns="0" rIns="0" bIns="0" rtlCol="0" anchor="t"/>
          <a:lstStyle/>
          <a:p>
            <a:pPr indent="0" marL="0">
              <a:buNone/>
            </a:pPr>
            <a:r>
              <a:rPr lang="en-US" sz="1200" dirty="0">
                <a:solidFill>
                  <a:srgbClr val="4A5568"/>
                </a:solidFill>
              </a:rPr>
              <a:t>365K segments over 18 years. A vendor is a parent company.</a:t>
            </a:r>
            <a:endParaRPr lang="en-US" sz="1200" dirty="0"/>
          </a:p>
        </p:txBody>
      </p:sp>
      <p:sp>
        <p:nvSpPr>
          <p:cNvPr id="7" name="hhi heading"/>
          <p:cNvSpPr txBox="1"/>
          <p:nvPr/>
        </p:nvSpPr>
        <p:spPr>
          <a:xfrm>
            <a:off x="3794760" y="1005840"/>
            <a:ext cx="4892040" cy="292608"/>
          </a:xfrm>
          <a:prstGeom prst="rect">
            <a:avLst/>
          </a:prstGeom>
          <a:noFill/>
          <a:ln/>
        </p:spPr>
        <p:txBody>
          <a:bodyPr wrap="square" lIns="0" tIns="0" rIns="0" bIns="0" rtlCol="0" anchor="t"/>
          <a:lstStyle/>
          <a:p>
            <a:pPr indent="0" marL="0">
              <a:buNone/>
            </a:pPr>
            <a:r>
              <a:rPr lang="en-US" sz="1400" b="1" dirty="0">
                <a:solidFill>
                  <a:srgbClr val="1F2430"/>
                </a:solidFill>
              </a:rPr>
              <a:t>HHI: add up each vendor's % share, squared</a:t>
            </a:r>
            <a:endParaRPr lang="en-US" sz="1400" dirty="0"/>
          </a:p>
        </p:txBody>
      </p:sp>
      <p:sp>
        <p:nvSpPr>
          <p:cNvPr id="8" name="hhi row 1 label"/>
          <p:cNvSpPr txBox="1"/>
          <p:nvPr/>
        </p:nvSpPr>
        <p:spPr>
          <a:xfrm>
            <a:off x="3794760" y="1417320"/>
            <a:ext cx="3657600" cy="237744"/>
          </a:xfrm>
          <a:prstGeom prst="rect">
            <a:avLst/>
          </a:prstGeom>
          <a:noFill/>
          <a:ln/>
        </p:spPr>
        <p:txBody>
          <a:bodyPr wrap="square" lIns="0" tIns="0" rIns="0" bIns="0" rtlCol="0" anchor="t"/>
          <a:lstStyle/>
          <a:p>
            <a:pPr indent="0" marL="0">
              <a:buNone/>
            </a:pPr>
            <a:r>
              <a:rPr lang="en-US" sz="1100" dirty="0">
                <a:solidFill>
                  <a:srgbClr val="4A5568"/>
                </a:solidFill>
              </a:rPr>
              <a:t>Five equal vendors:  20² × 5</a:t>
            </a:r>
            <a:endParaRPr lang="en-US" sz="1100" dirty="0"/>
          </a:p>
        </p:txBody>
      </p:sp>
      <p:sp>
        <p:nvSpPr>
          <p:cNvPr id="9" name="hhi row 1 vendor 1"/>
          <p:cNvSpPr/>
          <p:nvPr/>
        </p:nvSpPr>
        <p:spPr>
          <a:xfrm>
            <a:off x="3803904" y="1691640"/>
            <a:ext cx="713232" cy="329184"/>
          </a:xfrm>
          <a:prstGeom prst="rect">
            <a:avLst/>
          </a:prstGeom>
          <a:solidFill>
            <a:srgbClr val="2E3A4D"/>
          </a:solidFill>
          <a:ln/>
        </p:spPr>
      </p:sp>
      <p:sp>
        <p:nvSpPr>
          <p:cNvPr id="10" name="hhi row 1 share 1"/>
          <p:cNvSpPr txBox="1"/>
          <p:nvPr/>
        </p:nvSpPr>
        <p:spPr>
          <a:xfrm>
            <a:off x="3794760" y="1691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20%</a:t>
            </a:r>
            <a:endParaRPr lang="en-US" sz="1100" dirty="0"/>
          </a:p>
        </p:txBody>
      </p:sp>
      <p:sp>
        <p:nvSpPr>
          <p:cNvPr id="11" name="hhi row 1 vendor 2"/>
          <p:cNvSpPr/>
          <p:nvPr/>
        </p:nvSpPr>
        <p:spPr>
          <a:xfrm>
            <a:off x="4535424" y="1691640"/>
            <a:ext cx="713232" cy="329184"/>
          </a:xfrm>
          <a:prstGeom prst="rect">
            <a:avLst/>
          </a:prstGeom>
          <a:solidFill>
            <a:srgbClr val="C9CED8"/>
          </a:solidFill>
          <a:ln/>
        </p:spPr>
      </p:sp>
      <p:sp>
        <p:nvSpPr>
          <p:cNvPr id="12" name="hhi row 1 share 2"/>
          <p:cNvSpPr txBox="1"/>
          <p:nvPr/>
        </p:nvSpPr>
        <p:spPr>
          <a:xfrm>
            <a:off x="4526280" y="1691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20%</a:t>
            </a:r>
            <a:endParaRPr lang="en-US" sz="1100" dirty="0"/>
          </a:p>
        </p:txBody>
      </p:sp>
      <p:sp>
        <p:nvSpPr>
          <p:cNvPr id="13" name="hhi row 1 vendor 3"/>
          <p:cNvSpPr/>
          <p:nvPr/>
        </p:nvSpPr>
        <p:spPr>
          <a:xfrm>
            <a:off x="5266944" y="1691640"/>
            <a:ext cx="713232" cy="329184"/>
          </a:xfrm>
          <a:prstGeom prst="rect">
            <a:avLst/>
          </a:prstGeom>
          <a:solidFill>
            <a:srgbClr val="8A94A6"/>
          </a:solidFill>
          <a:ln/>
        </p:spPr>
      </p:sp>
      <p:sp>
        <p:nvSpPr>
          <p:cNvPr id="14" name="hhi row 1 share 3"/>
          <p:cNvSpPr txBox="1"/>
          <p:nvPr/>
        </p:nvSpPr>
        <p:spPr>
          <a:xfrm>
            <a:off x="5257800" y="1691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20%</a:t>
            </a:r>
            <a:endParaRPr lang="en-US" sz="1100" dirty="0"/>
          </a:p>
        </p:txBody>
      </p:sp>
      <p:sp>
        <p:nvSpPr>
          <p:cNvPr id="15" name="hhi row 1 vendor 4"/>
          <p:cNvSpPr/>
          <p:nvPr/>
        </p:nvSpPr>
        <p:spPr>
          <a:xfrm>
            <a:off x="5998464" y="1691640"/>
            <a:ext cx="713232" cy="329184"/>
          </a:xfrm>
          <a:prstGeom prst="rect">
            <a:avLst/>
          </a:prstGeom>
          <a:solidFill>
            <a:srgbClr val="C9CED8"/>
          </a:solidFill>
          <a:ln/>
        </p:spPr>
      </p:sp>
      <p:sp>
        <p:nvSpPr>
          <p:cNvPr id="16" name="hhi row 1 share 4"/>
          <p:cNvSpPr txBox="1"/>
          <p:nvPr/>
        </p:nvSpPr>
        <p:spPr>
          <a:xfrm>
            <a:off x="5989320" y="1691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20%</a:t>
            </a:r>
            <a:endParaRPr lang="en-US" sz="1100" dirty="0"/>
          </a:p>
        </p:txBody>
      </p:sp>
      <p:sp>
        <p:nvSpPr>
          <p:cNvPr id="17" name="hhi row 1 vendor 5"/>
          <p:cNvSpPr/>
          <p:nvPr/>
        </p:nvSpPr>
        <p:spPr>
          <a:xfrm>
            <a:off x="6729984" y="1691640"/>
            <a:ext cx="713232" cy="329184"/>
          </a:xfrm>
          <a:prstGeom prst="rect">
            <a:avLst/>
          </a:prstGeom>
          <a:solidFill>
            <a:srgbClr val="8A94A6"/>
          </a:solidFill>
          <a:ln/>
        </p:spPr>
      </p:sp>
      <p:sp>
        <p:nvSpPr>
          <p:cNvPr id="18" name="hhi row 1 share 5"/>
          <p:cNvSpPr txBox="1"/>
          <p:nvPr/>
        </p:nvSpPr>
        <p:spPr>
          <a:xfrm>
            <a:off x="6720840" y="1691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20%</a:t>
            </a:r>
            <a:endParaRPr lang="en-US" sz="1100" dirty="0"/>
          </a:p>
        </p:txBody>
      </p:sp>
      <p:sp>
        <p:nvSpPr>
          <p:cNvPr id="19" name="hhi row 1 score"/>
          <p:cNvSpPr txBox="1"/>
          <p:nvPr/>
        </p:nvSpPr>
        <p:spPr>
          <a:xfrm>
            <a:off x="7589520" y="1691640"/>
            <a:ext cx="1097280" cy="329184"/>
          </a:xfrm>
          <a:prstGeom prst="rect">
            <a:avLst/>
          </a:prstGeom>
          <a:noFill/>
          <a:ln/>
        </p:spPr>
        <p:txBody>
          <a:bodyPr wrap="square" lIns="0" tIns="0" rIns="0" bIns="0" rtlCol="0" anchor="ctr"/>
          <a:lstStyle/>
          <a:p>
            <a:pPr indent="0" marL="0">
              <a:buNone/>
            </a:pPr>
            <a:r>
              <a:rPr lang="en-US" sz="1800" b="1" dirty="0">
                <a:solidFill>
                  <a:srgbClr val="2E3A4D"/>
                </a:solidFill>
              </a:rPr>
              <a:t>2,000</a:t>
            </a:r>
            <a:endParaRPr lang="en-US" sz="1800" dirty="0"/>
          </a:p>
        </p:txBody>
      </p:sp>
      <p:sp>
        <p:nvSpPr>
          <p:cNvPr id="20" name="hhi row 2 label"/>
          <p:cNvSpPr txBox="1"/>
          <p:nvPr/>
        </p:nvSpPr>
        <p:spPr>
          <a:xfrm>
            <a:off x="3794760" y="2103120"/>
            <a:ext cx="3657600" cy="237744"/>
          </a:xfrm>
          <a:prstGeom prst="rect">
            <a:avLst/>
          </a:prstGeom>
          <a:noFill/>
          <a:ln/>
        </p:spPr>
        <p:txBody>
          <a:bodyPr wrap="square" lIns="0" tIns="0" rIns="0" bIns="0" rtlCol="0" anchor="t"/>
          <a:lstStyle/>
          <a:p>
            <a:pPr indent="0" marL="0">
              <a:buNone/>
            </a:pPr>
            <a:r>
              <a:rPr lang="en-US" sz="1100" dirty="0">
                <a:solidFill>
                  <a:srgbClr val="4A5568"/>
                </a:solidFill>
              </a:rPr>
              <a:t>One vendor with 80%:  80² + 5² × 4</a:t>
            </a:r>
            <a:endParaRPr lang="en-US" sz="1100" dirty="0"/>
          </a:p>
        </p:txBody>
      </p:sp>
      <p:sp>
        <p:nvSpPr>
          <p:cNvPr id="21" name="hhi row 2 vendor 1"/>
          <p:cNvSpPr/>
          <p:nvPr/>
        </p:nvSpPr>
        <p:spPr>
          <a:xfrm>
            <a:off x="3803904" y="2377440"/>
            <a:ext cx="2907792" cy="329184"/>
          </a:xfrm>
          <a:prstGeom prst="rect">
            <a:avLst/>
          </a:prstGeom>
          <a:solidFill>
            <a:srgbClr val="C2410C"/>
          </a:solidFill>
          <a:ln/>
        </p:spPr>
      </p:sp>
      <p:sp>
        <p:nvSpPr>
          <p:cNvPr id="22" name="hhi row 2 share 1"/>
          <p:cNvSpPr txBox="1"/>
          <p:nvPr/>
        </p:nvSpPr>
        <p:spPr>
          <a:xfrm>
            <a:off x="3794760" y="2377440"/>
            <a:ext cx="2926080" cy="329184"/>
          </a:xfrm>
          <a:prstGeom prst="rect">
            <a:avLst/>
          </a:prstGeom>
          <a:noFill/>
          <a:ln/>
        </p:spPr>
        <p:txBody>
          <a:bodyPr wrap="square" lIns="0" tIns="0" rIns="0" bIns="0" rtlCol="0" anchor="ctr"/>
          <a:lstStyle/>
          <a:p>
            <a:pPr algn="ctr" indent="0" marL="0">
              <a:buNone/>
            </a:pPr>
            <a:r>
              <a:rPr lang="en-US" sz="1100" b="1" dirty="0">
                <a:solidFill>
                  <a:srgbClr val="FFFFFF"/>
                </a:solidFill>
              </a:rPr>
              <a:t>80%</a:t>
            </a:r>
            <a:endParaRPr lang="en-US" sz="1100" dirty="0"/>
          </a:p>
        </p:txBody>
      </p:sp>
      <p:sp>
        <p:nvSpPr>
          <p:cNvPr id="23" name="hhi row 2 vendor 2"/>
          <p:cNvSpPr/>
          <p:nvPr/>
        </p:nvSpPr>
        <p:spPr>
          <a:xfrm>
            <a:off x="6729984" y="2377440"/>
            <a:ext cx="164592" cy="329184"/>
          </a:xfrm>
          <a:prstGeom prst="rect">
            <a:avLst/>
          </a:prstGeom>
          <a:solidFill>
            <a:srgbClr val="C9CED8"/>
          </a:solidFill>
          <a:ln/>
        </p:spPr>
      </p:sp>
      <p:sp>
        <p:nvSpPr>
          <p:cNvPr id="24" name="hhi row 2 vendor 3"/>
          <p:cNvSpPr/>
          <p:nvPr/>
        </p:nvSpPr>
        <p:spPr>
          <a:xfrm>
            <a:off x="6912864" y="2377440"/>
            <a:ext cx="164592" cy="329184"/>
          </a:xfrm>
          <a:prstGeom prst="rect">
            <a:avLst/>
          </a:prstGeom>
          <a:solidFill>
            <a:srgbClr val="8A94A6"/>
          </a:solidFill>
          <a:ln/>
        </p:spPr>
      </p:sp>
      <p:sp>
        <p:nvSpPr>
          <p:cNvPr id="25" name="hhi row 2 vendor 4"/>
          <p:cNvSpPr/>
          <p:nvPr/>
        </p:nvSpPr>
        <p:spPr>
          <a:xfrm>
            <a:off x="7095744" y="2377440"/>
            <a:ext cx="164592" cy="329184"/>
          </a:xfrm>
          <a:prstGeom prst="rect">
            <a:avLst/>
          </a:prstGeom>
          <a:solidFill>
            <a:srgbClr val="C9CED8"/>
          </a:solidFill>
          <a:ln/>
        </p:spPr>
      </p:sp>
      <p:sp>
        <p:nvSpPr>
          <p:cNvPr id="26" name="hhi row 2 vendor 5"/>
          <p:cNvSpPr/>
          <p:nvPr/>
        </p:nvSpPr>
        <p:spPr>
          <a:xfrm>
            <a:off x="7278624" y="2377440"/>
            <a:ext cx="164592" cy="329184"/>
          </a:xfrm>
          <a:prstGeom prst="rect">
            <a:avLst/>
          </a:prstGeom>
          <a:solidFill>
            <a:srgbClr val="8A94A6"/>
          </a:solidFill>
          <a:ln/>
        </p:spPr>
      </p:sp>
      <p:sp>
        <p:nvSpPr>
          <p:cNvPr id="27" name="hhi row 2 score"/>
          <p:cNvSpPr txBox="1"/>
          <p:nvPr/>
        </p:nvSpPr>
        <p:spPr>
          <a:xfrm>
            <a:off x="7589520" y="2377440"/>
            <a:ext cx="1097280" cy="329184"/>
          </a:xfrm>
          <a:prstGeom prst="rect">
            <a:avLst/>
          </a:prstGeom>
          <a:noFill/>
          <a:ln/>
        </p:spPr>
        <p:txBody>
          <a:bodyPr wrap="square" lIns="0" tIns="0" rIns="0" bIns="0" rtlCol="0" anchor="ctr"/>
          <a:lstStyle/>
          <a:p>
            <a:pPr indent="0" marL="0">
              <a:buNone/>
            </a:pPr>
            <a:r>
              <a:rPr lang="en-US" sz="1800" b="1" dirty="0">
                <a:solidFill>
                  <a:srgbClr val="C2410C"/>
                </a:solidFill>
              </a:rPr>
              <a:t>6,500</a:t>
            </a:r>
            <a:endParaRPr lang="en-US" sz="1800" dirty="0"/>
          </a:p>
        </p:txBody>
      </p:sp>
      <p:sp>
        <p:nvSpPr>
          <p:cNvPr id="28" name="band 1"/>
          <p:cNvSpPr/>
          <p:nvPr/>
        </p:nvSpPr>
        <p:spPr>
          <a:xfrm>
            <a:off x="457200" y="3200400"/>
            <a:ext cx="1234440" cy="310896"/>
          </a:xfrm>
          <a:prstGeom prst="rect">
            <a:avLst/>
          </a:prstGeom>
          <a:solidFill>
            <a:srgbClr val="4D7C6F"/>
          </a:solidFill>
          <a:ln/>
        </p:spPr>
      </p:sp>
      <p:sp>
        <p:nvSpPr>
          <p:cNvPr id="29" name="band 1 label"/>
          <p:cNvSpPr txBox="1"/>
          <p:nvPr/>
        </p:nvSpPr>
        <p:spPr>
          <a:xfrm>
            <a:off x="530352" y="3200400"/>
            <a:ext cx="1124712" cy="310896"/>
          </a:xfrm>
          <a:prstGeom prst="rect">
            <a:avLst/>
          </a:prstGeom>
          <a:noFill/>
          <a:ln/>
        </p:spPr>
        <p:txBody>
          <a:bodyPr wrap="square" lIns="0" tIns="0" rIns="0" bIns="0" rtlCol="0" anchor="ctr"/>
          <a:lstStyle/>
          <a:p>
            <a:pPr algn="ctr" indent="0" marL="0">
              <a:buNone/>
            </a:pPr>
            <a:r>
              <a:rPr lang="en-US" sz="1000" b="1" dirty="0">
                <a:solidFill>
                  <a:srgbClr val="FFFFFF"/>
                </a:solidFill>
              </a:rPr>
              <a:t>Competitive</a:t>
            </a:r>
            <a:endParaRPr lang="en-US" sz="1000" dirty="0"/>
          </a:p>
        </p:txBody>
      </p:sp>
      <p:sp>
        <p:nvSpPr>
          <p:cNvPr id="30" name="band 2"/>
          <p:cNvSpPr/>
          <p:nvPr/>
        </p:nvSpPr>
        <p:spPr>
          <a:xfrm>
            <a:off x="1691640" y="3200400"/>
            <a:ext cx="822960" cy="310896"/>
          </a:xfrm>
          <a:prstGeom prst="rect">
            <a:avLst/>
          </a:prstGeom>
          <a:solidFill>
            <a:srgbClr val="D9911F"/>
          </a:solidFill>
          <a:ln/>
        </p:spPr>
      </p:sp>
      <p:sp>
        <p:nvSpPr>
          <p:cNvPr id="31" name="band 2 label"/>
          <p:cNvSpPr txBox="1"/>
          <p:nvPr/>
        </p:nvSpPr>
        <p:spPr>
          <a:xfrm>
            <a:off x="1764792" y="3200400"/>
            <a:ext cx="713232" cy="310896"/>
          </a:xfrm>
          <a:prstGeom prst="rect">
            <a:avLst/>
          </a:prstGeom>
          <a:noFill/>
          <a:ln/>
        </p:spPr>
        <p:txBody>
          <a:bodyPr wrap="square" lIns="0" tIns="0" rIns="0" bIns="0" rtlCol="0" anchor="ctr"/>
          <a:lstStyle/>
          <a:p>
            <a:pPr algn="ctr" indent="0" marL="0">
              <a:buNone/>
            </a:pPr>
            <a:r>
              <a:rPr lang="en-US" sz="1000" b="1" dirty="0">
                <a:solidFill>
                  <a:srgbClr val="FFFFFF"/>
                </a:solidFill>
              </a:rPr>
              <a:t>Moderate</a:t>
            </a:r>
            <a:endParaRPr lang="en-US" sz="1000" dirty="0"/>
          </a:p>
        </p:txBody>
      </p:sp>
      <p:sp>
        <p:nvSpPr>
          <p:cNvPr id="32" name="band 3"/>
          <p:cNvSpPr/>
          <p:nvPr/>
        </p:nvSpPr>
        <p:spPr>
          <a:xfrm>
            <a:off x="2514600" y="3200400"/>
            <a:ext cx="6172200" cy="310896"/>
          </a:xfrm>
          <a:prstGeom prst="rect">
            <a:avLst/>
          </a:prstGeom>
          <a:solidFill>
            <a:srgbClr val="C2410C"/>
          </a:solidFill>
          <a:ln/>
        </p:spPr>
      </p:sp>
      <p:sp>
        <p:nvSpPr>
          <p:cNvPr id="33" name="band 3 label"/>
          <p:cNvSpPr txBox="1"/>
          <p:nvPr/>
        </p:nvSpPr>
        <p:spPr>
          <a:xfrm>
            <a:off x="2587752" y="3200400"/>
            <a:ext cx="6062472" cy="310896"/>
          </a:xfrm>
          <a:prstGeom prst="rect">
            <a:avLst/>
          </a:prstGeom>
          <a:noFill/>
          <a:ln/>
        </p:spPr>
        <p:txBody>
          <a:bodyPr wrap="square" lIns="0" tIns="0" rIns="0" bIns="0" rtlCol="0" anchor="ctr"/>
          <a:lstStyle/>
          <a:p>
            <a:pPr algn="l" indent="0" marL="0">
              <a:buNone/>
            </a:pPr>
            <a:r>
              <a:rPr lang="en-US" sz="1000" b="1" dirty="0">
                <a:solidFill>
                  <a:srgbClr val="FFFFFF"/>
                </a:solidFill>
              </a:rPr>
              <a:t>Highly concentrated: above 2,500</a:t>
            </a:r>
            <a:endParaRPr lang="en-US" sz="1000" dirty="0"/>
          </a:p>
        </p:txBody>
      </p:sp>
      <p:sp>
        <p:nvSpPr>
          <p:cNvPr id="34" name="scale tick 1"/>
          <p:cNvSpPr txBox="1"/>
          <p:nvPr/>
        </p:nvSpPr>
        <p:spPr>
          <a:xfrm>
            <a:off x="457200" y="3547872"/>
            <a:ext cx="2743200" cy="228600"/>
          </a:xfrm>
          <a:prstGeom prst="rect">
            <a:avLst/>
          </a:prstGeom>
          <a:noFill/>
          <a:ln/>
        </p:spPr>
        <p:txBody>
          <a:bodyPr wrap="square" lIns="0" tIns="0" rIns="0" bIns="0" rtlCol="0" anchor="t"/>
          <a:lstStyle/>
          <a:p>
            <a:pPr algn="l" indent="0" marL="0">
              <a:buNone/>
            </a:pPr>
            <a:r>
              <a:rPr lang="en-US" sz="1000" dirty="0">
                <a:solidFill>
                  <a:srgbClr val="4A5568"/>
                </a:solidFill>
              </a:rPr>
              <a:t>0</a:t>
            </a:r>
            <a:endParaRPr lang="en-US" sz="1000" dirty="0"/>
          </a:p>
        </p:txBody>
      </p:sp>
      <p:sp>
        <p:nvSpPr>
          <p:cNvPr id="35" name="scale tick 2"/>
          <p:cNvSpPr txBox="1"/>
          <p:nvPr/>
        </p:nvSpPr>
        <p:spPr>
          <a:xfrm>
            <a:off x="1508760" y="3547872"/>
            <a:ext cx="2743200" cy="228600"/>
          </a:xfrm>
          <a:prstGeom prst="rect">
            <a:avLst/>
          </a:prstGeom>
          <a:noFill/>
          <a:ln/>
        </p:spPr>
        <p:txBody>
          <a:bodyPr wrap="square" lIns="0" tIns="0" rIns="0" bIns="0" rtlCol="0" anchor="t"/>
          <a:lstStyle/>
          <a:p>
            <a:pPr algn="l" indent="0" marL="0">
              <a:buNone/>
            </a:pPr>
            <a:r>
              <a:rPr lang="en-US" sz="1000" dirty="0">
                <a:solidFill>
                  <a:srgbClr val="4A5568"/>
                </a:solidFill>
              </a:rPr>
              <a:t>1,500</a:t>
            </a:r>
            <a:endParaRPr lang="en-US" sz="1000" dirty="0"/>
          </a:p>
        </p:txBody>
      </p:sp>
      <p:sp>
        <p:nvSpPr>
          <p:cNvPr id="36" name="scale tick 3"/>
          <p:cNvSpPr txBox="1"/>
          <p:nvPr/>
        </p:nvSpPr>
        <p:spPr>
          <a:xfrm>
            <a:off x="2331720" y="3547872"/>
            <a:ext cx="2743200" cy="228600"/>
          </a:xfrm>
          <a:prstGeom prst="rect">
            <a:avLst/>
          </a:prstGeom>
          <a:noFill/>
          <a:ln/>
        </p:spPr>
        <p:txBody>
          <a:bodyPr wrap="square" lIns="0" tIns="0" rIns="0" bIns="0" rtlCol="0" anchor="t"/>
          <a:lstStyle/>
          <a:p>
            <a:pPr algn="l" indent="0" marL="0">
              <a:buNone/>
            </a:pPr>
            <a:r>
              <a:rPr lang="en-US" sz="1000" dirty="0">
                <a:solidFill>
                  <a:srgbClr val="4A5568"/>
                </a:solidFill>
              </a:rPr>
              <a:t>2,500</a:t>
            </a:r>
            <a:endParaRPr lang="en-US" sz="1000" dirty="0"/>
          </a:p>
        </p:txBody>
      </p:sp>
      <p:sp>
        <p:nvSpPr>
          <p:cNvPr id="37" name="scale tick 4"/>
          <p:cNvSpPr txBox="1"/>
          <p:nvPr/>
        </p:nvSpPr>
        <p:spPr>
          <a:xfrm>
            <a:off x="5943600" y="3547872"/>
            <a:ext cx="2743200" cy="228600"/>
          </a:xfrm>
          <a:prstGeom prst="rect">
            <a:avLst/>
          </a:prstGeom>
          <a:noFill/>
          <a:ln/>
        </p:spPr>
        <p:txBody>
          <a:bodyPr wrap="square" lIns="0" tIns="0" rIns="0" bIns="0" rtlCol="0" anchor="t"/>
          <a:lstStyle/>
          <a:p>
            <a:pPr algn="r" indent="0" marL="0">
              <a:buNone/>
            </a:pPr>
            <a:r>
              <a:rPr lang="en-US" sz="1000" dirty="0">
                <a:solidFill>
                  <a:srgbClr val="4A5568"/>
                </a:solidFill>
              </a:rPr>
              <a:t>10,000 = one vendor has everything</a:t>
            </a:r>
            <a:endParaRPr lang="en-US" sz="1000" dirty="0"/>
          </a:p>
        </p:txBody>
      </p:sp>
      <p:sp>
        <p:nvSpPr>
          <p:cNvPr id="38" name="takeaway box"/>
          <p:cNvSpPr/>
          <p:nvPr/>
        </p:nvSpPr>
        <p:spPr>
          <a:xfrm>
            <a:off x="457200" y="4160520"/>
            <a:ext cx="8229600" cy="566928"/>
          </a:xfrm>
          <a:prstGeom prst="roundRect">
            <a:avLst>
              <a:gd name="adj" fmla="val 12903"/>
            </a:avLst>
          </a:prstGeom>
          <a:solidFill>
            <a:srgbClr val="EEF0F3"/>
          </a:solidFill>
          <a:ln/>
        </p:spPr>
      </p:sp>
      <p:sp>
        <p:nvSpPr>
          <p:cNvPr id="39" name="takeaway"/>
          <p:cNvSpPr txBox="1"/>
          <p:nvPr/>
        </p:nvSpPr>
        <p:spPr>
          <a:xfrm>
            <a:off x="640080" y="4160520"/>
            <a:ext cx="7863840" cy="566928"/>
          </a:xfrm>
          <a:prstGeom prst="rect">
            <a:avLst/>
          </a:prstGeom>
          <a:noFill/>
          <a:ln/>
        </p:spPr>
        <p:txBody>
          <a:bodyPr wrap="square" lIns="0" tIns="0" rIns="0" bIns="0" rtlCol="0" anchor="ctr"/>
          <a:lstStyle/>
          <a:p>
            <a:pPr indent="0" marL="0">
              <a:buNone/>
            </a:pPr>
            <a:r>
              <a:rPr lang="en-US" sz="1400" b="1" dirty="0">
                <a:solidFill>
                  <a:srgbClr val="C2410C"/>
                </a:solidFill>
              </a:rPr>
              <a:t>What this means   </a:t>
            </a:r>
            <a:pPr indent="0" marL="0">
              <a:buNone/>
            </a:pPr>
            <a:r>
              <a:rPr lang="en-US" sz="1400" dirty="0">
                <a:solidFill>
                  <a:srgbClr val="1F2430"/>
                </a:solidFill>
              </a:rPr>
              <a:t>A score near 10,000 means one company gets almost all the money in that segment. We track the share of dollars that sits in segments above 2,500.</a:t>
            </a:r>
            <a:endParaRPr lang="en-US" sz="14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600" b="1" dirty="0">
                <a:solidFill>
                  <a:srgbClr val="1F2430"/>
                </a:solidFill>
                <a:latin typeface="Cambria" pitchFamily="34" charset="0"/>
                <a:ea typeface="Cambria" pitchFamily="34" charset="-122"/>
                <a:cs typeface="Cambria" pitchFamily="34" charset="-120"/>
              </a:rPr>
              <a:t>Finding 1: concentration has risen to half the money</a:t>
            </a:r>
            <a:endParaRPr lang="en-US" sz="2600" dirty="0"/>
          </a:p>
        </p:txBody>
      </p:sp>
      <p:graphicFrame>
        <p:nvGraphicFramePr>
          <p:cNvPr id="4" name="trend chart" descr=""/>
          <p:cNvGraphicFramePr/>
          <p:nvPr/>
        </p:nvGraphicFramePr>
        <p:xfrm>
          <a:off x="365760" y="914400"/>
          <a:ext cx="5760720" cy="3154680"/>
        </p:xfrm>
        <a:graphic xmlns:a="http://schemas.openxmlformats.org/drawingml/2006/main">
          <a:graphicData uri="http://schemas.openxmlformats.org/drawingml/2006/chart">
            <c:chart xmlns:c="http://schemas.openxmlformats.org/drawingml/2006/chart" r:id="rId1"/>
          </a:graphicData>
        </a:graphic>
      </p:graphicFrame>
      <p:sp>
        <p:nvSpPr>
          <p:cNvPr id="5" name="first year value"/>
          <p:cNvSpPr txBox="1"/>
          <p:nvPr/>
        </p:nvSpPr>
        <p:spPr>
          <a:xfrm>
            <a:off x="6400800" y="960120"/>
            <a:ext cx="2286000" cy="566928"/>
          </a:xfrm>
          <a:prstGeom prst="rect">
            <a:avLst/>
          </a:prstGeom>
          <a:noFill/>
          <a:ln/>
        </p:spPr>
        <p:txBody>
          <a:bodyPr wrap="square" lIns="0" tIns="0" rIns="0" bIns="0" rtlCol="0" anchor="b"/>
          <a:lstStyle/>
          <a:p>
            <a:pPr indent="0" marL="0">
              <a:buNone/>
            </a:pPr>
            <a:r>
              <a:rPr lang="en-US" sz="3400" b="1" dirty="0">
                <a:solidFill>
                  <a:srgbClr val="2E3A4D"/>
                </a:solidFill>
                <a:latin typeface="Cambria" pitchFamily="34" charset="0"/>
                <a:ea typeface="Cambria" pitchFamily="34" charset="-122"/>
                <a:cs typeface="Cambria" pitchFamily="34" charset="-120"/>
              </a:rPr>
              <a:t>43%</a:t>
            </a:r>
            <a:endParaRPr lang="en-US" sz="3400" dirty="0"/>
          </a:p>
        </p:txBody>
      </p:sp>
      <p:sp>
        <p:nvSpPr>
          <p:cNvPr id="6" name="first year label"/>
          <p:cNvSpPr txBox="1"/>
          <p:nvPr/>
        </p:nvSpPr>
        <p:spPr>
          <a:xfrm>
            <a:off x="6400800" y="1563624"/>
            <a:ext cx="2286000" cy="457200"/>
          </a:xfrm>
          <a:prstGeom prst="rect">
            <a:avLst/>
          </a:prstGeom>
          <a:noFill/>
          <a:ln/>
        </p:spPr>
        <p:txBody>
          <a:bodyPr wrap="square" lIns="0" tIns="0" rIns="0" bIns="0" rtlCol="0" anchor="t"/>
          <a:lstStyle/>
          <a:p>
            <a:pPr indent="0" marL="0">
              <a:buNone/>
            </a:pPr>
            <a:r>
              <a:rPr lang="en-US" sz="1200" dirty="0">
                <a:solidFill>
                  <a:srgbClr val="4A5568"/>
                </a:solidFill>
              </a:rPr>
              <a:t>of dollars in FY2008</a:t>
            </a:r>
            <a:endParaRPr lang="en-US" sz="1200" dirty="0"/>
          </a:p>
        </p:txBody>
      </p:sp>
      <p:sp>
        <p:nvSpPr>
          <p:cNvPr id="7" name="last year value"/>
          <p:cNvSpPr txBox="1"/>
          <p:nvPr/>
        </p:nvSpPr>
        <p:spPr>
          <a:xfrm>
            <a:off x="6400800" y="2011680"/>
            <a:ext cx="2286000" cy="566928"/>
          </a:xfrm>
          <a:prstGeom prst="rect">
            <a:avLst/>
          </a:prstGeom>
          <a:noFill/>
          <a:ln/>
        </p:spPr>
        <p:txBody>
          <a:bodyPr wrap="square" lIns="0" tIns="0" rIns="0" bIns="0" rtlCol="0" anchor="b"/>
          <a:lstStyle/>
          <a:p>
            <a:pPr indent="0" marL="0">
              <a:buNone/>
            </a:pPr>
            <a:r>
              <a:rPr lang="en-US" sz="3400" b="1" dirty="0">
                <a:solidFill>
                  <a:srgbClr val="C2410C"/>
                </a:solidFill>
                <a:latin typeface="Cambria" pitchFamily="34" charset="0"/>
                <a:ea typeface="Cambria" pitchFamily="34" charset="-122"/>
                <a:cs typeface="Cambria" pitchFamily="34" charset="-120"/>
              </a:rPr>
              <a:t>50%</a:t>
            </a:r>
            <a:endParaRPr lang="en-US" sz="3400" dirty="0"/>
          </a:p>
        </p:txBody>
      </p:sp>
      <p:sp>
        <p:nvSpPr>
          <p:cNvPr id="8" name="last year label"/>
          <p:cNvSpPr txBox="1"/>
          <p:nvPr/>
        </p:nvSpPr>
        <p:spPr>
          <a:xfrm>
            <a:off x="6400800" y="2615184"/>
            <a:ext cx="2286000" cy="457200"/>
          </a:xfrm>
          <a:prstGeom prst="rect">
            <a:avLst/>
          </a:prstGeom>
          <a:noFill/>
          <a:ln/>
        </p:spPr>
        <p:txBody>
          <a:bodyPr wrap="square" lIns="0" tIns="0" rIns="0" bIns="0" rtlCol="0" anchor="t"/>
          <a:lstStyle/>
          <a:p>
            <a:pPr indent="0" marL="0">
              <a:buNone/>
            </a:pPr>
            <a:r>
              <a:rPr lang="en-US" sz="1200" dirty="0">
                <a:solidFill>
                  <a:srgbClr val="4A5568"/>
                </a:solidFill>
              </a:rPr>
              <a:t>of dollars in FY2025</a:t>
            </a:r>
            <a:endParaRPr lang="en-US" sz="1200" dirty="0"/>
          </a:p>
        </p:txBody>
      </p:sp>
      <p:sp>
        <p:nvSpPr>
          <p:cNvPr id="9" name="dip note"/>
          <p:cNvSpPr txBox="1"/>
          <p:nvPr/>
        </p:nvSpPr>
        <p:spPr>
          <a:xfrm>
            <a:off x="6400800" y="3108960"/>
            <a:ext cx="2286000" cy="960120"/>
          </a:xfrm>
          <a:prstGeom prst="rect">
            <a:avLst/>
          </a:prstGeom>
          <a:noFill/>
          <a:ln/>
        </p:spPr>
        <p:txBody>
          <a:bodyPr wrap="square" lIns="0" tIns="0" rIns="0" bIns="0" rtlCol="0" anchor="t"/>
          <a:lstStyle/>
          <a:p>
            <a:pPr indent="0" marL="0">
              <a:buNone/>
            </a:pPr>
            <a:r>
              <a:rPr lang="en-US" sz="1100" dirty="0">
                <a:solidFill>
                  <a:srgbClr val="4A5568"/>
                </a:solidFill>
              </a:rPr>
              <a:t>Part of the FY2024 dip is timing: combat ships and fixed-wing aircraft, two of the largest segments, fell below 2,500 that year and came back in FY2025.</a:t>
            </a:r>
            <a:endParaRPr lang="en-US" sz="1100" dirty="0"/>
          </a:p>
        </p:txBody>
      </p:sp>
      <p:sp>
        <p:nvSpPr>
          <p:cNvPr id="10" name="takeaway box"/>
          <p:cNvSpPr/>
          <p:nvPr/>
        </p:nvSpPr>
        <p:spPr>
          <a:xfrm>
            <a:off x="457200" y="4160520"/>
            <a:ext cx="8229600" cy="566928"/>
          </a:xfrm>
          <a:prstGeom prst="roundRect">
            <a:avLst>
              <a:gd name="adj" fmla="val 12903"/>
            </a:avLst>
          </a:prstGeom>
          <a:solidFill>
            <a:srgbClr val="EEF0F3"/>
          </a:solidFill>
          <a:ln/>
        </p:spPr>
      </p:sp>
      <p:sp>
        <p:nvSpPr>
          <p:cNvPr id="11" name="takeaway"/>
          <p:cNvSpPr txBox="1"/>
          <p:nvPr/>
        </p:nvSpPr>
        <p:spPr>
          <a:xfrm>
            <a:off x="640080" y="4160520"/>
            <a:ext cx="7863840" cy="566928"/>
          </a:xfrm>
          <a:prstGeom prst="rect">
            <a:avLst/>
          </a:prstGeom>
          <a:noFill/>
          <a:ln/>
        </p:spPr>
        <p:txBody>
          <a:bodyPr wrap="square" lIns="0" tIns="0" rIns="0" bIns="0" rtlCol="0" anchor="ctr"/>
          <a:lstStyle/>
          <a:p>
            <a:pPr indent="0" marL="0">
              <a:buNone/>
            </a:pPr>
            <a:r>
              <a:rPr lang="en-US" sz="1400" b="1" dirty="0">
                <a:solidFill>
                  <a:srgbClr val="C2410C"/>
                </a:solidFill>
              </a:rPr>
              <a:t>What this means   </a:t>
            </a:r>
            <a:pPr indent="0" marL="0">
              <a:buNone/>
            </a:pPr>
            <a:r>
              <a:rPr lang="en-US" sz="1400" dirty="0">
                <a:solidFill>
                  <a:srgbClr val="1F2430"/>
                </a:solidFill>
              </a:rPr>
              <a:t>Since FY2014, a growing share of federal contract dollars goes to segments where a few companies win most of the money.</a:t>
            </a:r>
            <a:endParaRPr lang="en-US" sz="14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600" b="1" dirty="0">
                <a:solidFill>
                  <a:srgbClr val="1F2430"/>
                </a:solidFill>
                <a:latin typeface="Cambria" pitchFamily="34" charset="0"/>
                <a:ea typeface="Cambria" pitchFamily="34" charset="-122"/>
                <a:cs typeface="Cambria" pitchFamily="34" charset="-120"/>
              </a:rPr>
              <a:t>Finding 2: it is big-ticket products, not small buys</a:t>
            </a:r>
            <a:endParaRPr lang="en-US" sz="2600" dirty="0"/>
          </a:p>
        </p:txBody>
      </p:sp>
      <p:graphicFrame>
        <p:nvGraphicFramePr>
          <p:cNvPr id="4" name="kind chart" descr=""/>
          <p:cNvGraphicFramePr/>
          <p:nvPr/>
        </p:nvGraphicFramePr>
        <p:xfrm>
          <a:off x="365760" y="914400"/>
          <a:ext cx="4206240" cy="3154680"/>
        </p:xfrm>
        <a:graphic xmlns:a="http://schemas.openxmlformats.org/drawingml/2006/main">
          <a:graphicData uri="http://schemas.openxmlformats.org/drawingml/2006/chart">
            <c:chart xmlns:c="http://schemas.openxmlformats.org/drawingml/2006/chart" r:id="rId1"/>
          </a:graphicData>
        </a:graphic>
      </p:graphicFrame>
      <p:sp>
        <p:nvSpPr>
          <p:cNvPr id="5" name="example card"/>
          <p:cNvSpPr/>
          <p:nvPr/>
        </p:nvSpPr>
        <p:spPr>
          <a:xfrm>
            <a:off x="4846320" y="960120"/>
            <a:ext cx="3840480" cy="3108960"/>
          </a:xfrm>
          <a:prstGeom prst="roundRect">
            <a:avLst>
              <a:gd name="adj" fmla="val 2353"/>
            </a:avLst>
          </a:prstGeom>
          <a:solidFill>
            <a:srgbClr val="EEF0F3"/>
          </a:solidFill>
          <a:ln/>
        </p:spPr>
      </p:sp>
      <p:sp>
        <p:nvSpPr>
          <p:cNvPr id="6" name="example heading"/>
          <p:cNvSpPr txBox="1"/>
          <p:nvPr/>
        </p:nvSpPr>
        <p:spPr>
          <a:xfrm>
            <a:off x="5029200" y="1078992"/>
            <a:ext cx="3474720" cy="292608"/>
          </a:xfrm>
          <a:prstGeom prst="rect">
            <a:avLst/>
          </a:prstGeom>
          <a:noFill/>
          <a:ln/>
        </p:spPr>
        <p:txBody>
          <a:bodyPr wrap="square" lIns="0" tIns="0" rIns="0" bIns="0" rtlCol="0" anchor="t"/>
          <a:lstStyle/>
          <a:p>
            <a:pPr indent="0" marL="0">
              <a:buNone/>
            </a:pPr>
            <a:r>
              <a:rPr lang="en-US" sz="1400" b="1" dirty="0">
                <a:solidFill>
                  <a:srgbClr val="1F2430"/>
                </a:solidFill>
              </a:rPr>
              <a:t>Example: Defense buying fixed-wing aircraft</a:t>
            </a:r>
            <a:endParaRPr lang="en-US" sz="1400" dirty="0"/>
          </a:p>
        </p:txBody>
      </p:sp>
      <p:sp>
        <p:nvSpPr>
          <p:cNvPr id="7" name="example col 1"/>
          <p:cNvSpPr txBox="1"/>
          <p:nvPr/>
        </p:nvSpPr>
        <p:spPr>
          <a:xfrm>
            <a:off x="6812280" y="1463040"/>
            <a:ext cx="822960" cy="256032"/>
          </a:xfrm>
          <a:prstGeom prst="rect">
            <a:avLst/>
          </a:prstGeom>
          <a:noFill/>
          <a:ln/>
        </p:spPr>
        <p:txBody>
          <a:bodyPr wrap="square" lIns="0" tIns="0" rIns="0" bIns="0" rtlCol="0" anchor="t"/>
          <a:lstStyle/>
          <a:p>
            <a:pPr algn="r" indent="0" marL="0">
              <a:buNone/>
            </a:pPr>
            <a:r>
              <a:rPr lang="en-US" sz="1100" dirty="0">
                <a:solidFill>
                  <a:srgbClr val="4A5568"/>
                </a:solidFill>
              </a:rPr>
              <a:t>FY2024</a:t>
            </a:r>
            <a:endParaRPr lang="en-US" sz="1100" dirty="0"/>
          </a:p>
        </p:txBody>
      </p:sp>
      <p:sp>
        <p:nvSpPr>
          <p:cNvPr id="8" name="example col 2"/>
          <p:cNvSpPr txBox="1"/>
          <p:nvPr/>
        </p:nvSpPr>
        <p:spPr>
          <a:xfrm>
            <a:off x="7680960" y="1463040"/>
            <a:ext cx="822960" cy="256032"/>
          </a:xfrm>
          <a:prstGeom prst="rect">
            <a:avLst/>
          </a:prstGeom>
          <a:noFill/>
          <a:ln/>
        </p:spPr>
        <p:txBody>
          <a:bodyPr wrap="square" lIns="0" tIns="0" rIns="0" bIns="0" rtlCol="0" anchor="t"/>
          <a:lstStyle/>
          <a:p>
            <a:pPr algn="r" indent="0" marL="0">
              <a:buNone/>
            </a:pPr>
            <a:r>
              <a:rPr lang="en-US" sz="1100" dirty="0">
                <a:solidFill>
                  <a:srgbClr val="4A5568"/>
                </a:solidFill>
              </a:rPr>
              <a:t>FY2025</a:t>
            </a:r>
            <a:endParaRPr lang="en-US" sz="1100" dirty="0"/>
          </a:p>
        </p:txBody>
      </p:sp>
      <p:sp>
        <p:nvSpPr>
          <p:cNvPr id="9" name="example row 1 name"/>
          <p:cNvSpPr txBox="1"/>
          <p:nvPr/>
        </p:nvSpPr>
        <p:spPr>
          <a:xfrm>
            <a:off x="5029200" y="1783080"/>
            <a:ext cx="1783080" cy="365760"/>
          </a:xfrm>
          <a:prstGeom prst="rect">
            <a:avLst/>
          </a:prstGeom>
          <a:noFill/>
          <a:ln/>
        </p:spPr>
        <p:txBody>
          <a:bodyPr wrap="square" lIns="0" tIns="0" rIns="0" bIns="0" rtlCol="0" anchor="ctr"/>
          <a:lstStyle/>
          <a:p>
            <a:pPr indent="0" marL="0">
              <a:buNone/>
            </a:pPr>
            <a:r>
              <a:rPr lang="en-US" sz="1300" dirty="0">
                <a:solidFill>
                  <a:srgbClr val="1F2430"/>
                </a:solidFill>
              </a:rPr>
              <a:t>Money spent</a:t>
            </a:r>
            <a:endParaRPr lang="en-US" sz="1300" dirty="0"/>
          </a:p>
        </p:txBody>
      </p:sp>
      <p:sp>
        <p:nvSpPr>
          <p:cNvPr id="10" name="example row 1 before"/>
          <p:cNvSpPr txBox="1"/>
          <p:nvPr/>
        </p:nvSpPr>
        <p:spPr>
          <a:xfrm>
            <a:off x="6812280" y="1783080"/>
            <a:ext cx="822960" cy="365760"/>
          </a:xfrm>
          <a:prstGeom prst="rect">
            <a:avLst/>
          </a:prstGeom>
          <a:noFill/>
          <a:ln/>
        </p:spPr>
        <p:txBody>
          <a:bodyPr wrap="square" lIns="0" tIns="0" rIns="0" bIns="0" rtlCol="0" anchor="ctr"/>
          <a:lstStyle/>
          <a:p>
            <a:pPr algn="r" indent="0" marL="0">
              <a:buNone/>
            </a:pPr>
            <a:r>
              <a:rPr lang="en-US" sz="1500" b="1" dirty="0">
                <a:solidFill>
                  <a:srgbClr val="2E3A4D"/>
                </a:solidFill>
              </a:rPr>
              <a:t>$22.7B</a:t>
            </a:r>
            <a:endParaRPr lang="en-US" sz="1500" dirty="0"/>
          </a:p>
        </p:txBody>
      </p:sp>
      <p:sp>
        <p:nvSpPr>
          <p:cNvPr id="11" name="example row 1 after"/>
          <p:cNvSpPr txBox="1"/>
          <p:nvPr/>
        </p:nvSpPr>
        <p:spPr>
          <a:xfrm>
            <a:off x="7680960" y="1783080"/>
            <a:ext cx="822960" cy="365760"/>
          </a:xfrm>
          <a:prstGeom prst="rect">
            <a:avLst/>
          </a:prstGeom>
          <a:noFill/>
          <a:ln/>
        </p:spPr>
        <p:txBody>
          <a:bodyPr wrap="square" lIns="0" tIns="0" rIns="0" bIns="0" rtlCol="0" anchor="ctr"/>
          <a:lstStyle/>
          <a:p>
            <a:pPr algn="r" indent="0" marL="0">
              <a:buNone/>
            </a:pPr>
            <a:r>
              <a:rPr lang="en-US" sz="1500" b="1" dirty="0">
                <a:solidFill>
                  <a:srgbClr val="C2410C"/>
                </a:solidFill>
              </a:rPr>
              <a:t>$42.0B</a:t>
            </a:r>
            <a:endParaRPr lang="en-US" sz="1500" dirty="0"/>
          </a:p>
        </p:txBody>
      </p:sp>
      <p:sp>
        <p:nvSpPr>
          <p:cNvPr id="12" name="example row 2 name"/>
          <p:cNvSpPr txBox="1"/>
          <p:nvPr/>
        </p:nvSpPr>
        <p:spPr>
          <a:xfrm>
            <a:off x="5029200" y="2240280"/>
            <a:ext cx="1783080" cy="365760"/>
          </a:xfrm>
          <a:prstGeom prst="rect">
            <a:avLst/>
          </a:prstGeom>
          <a:noFill/>
          <a:ln/>
        </p:spPr>
        <p:txBody>
          <a:bodyPr wrap="square" lIns="0" tIns="0" rIns="0" bIns="0" rtlCol="0" anchor="ctr"/>
          <a:lstStyle/>
          <a:p>
            <a:pPr indent="0" marL="0">
              <a:buNone/>
            </a:pPr>
            <a:r>
              <a:rPr lang="en-US" sz="1300" dirty="0">
                <a:solidFill>
                  <a:srgbClr val="1F2430"/>
                </a:solidFill>
              </a:rPr>
              <a:t>Largest vendor's share</a:t>
            </a:r>
            <a:endParaRPr lang="en-US" sz="1300" dirty="0"/>
          </a:p>
        </p:txBody>
      </p:sp>
      <p:sp>
        <p:nvSpPr>
          <p:cNvPr id="13" name="example row 2 before"/>
          <p:cNvSpPr txBox="1"/>
          <p:nvPr/>
        </p:nvSpPr>
        <p:spPr>
          <a:xfrm>
            <a:off x="6812280" y="2240280"/>
            <a:ext cx="822960" cy="365760"/>
          </a:xfrm>
          <a:prstGeom prst="rect">
            <a:avLst/>
          </a:prstGeom>
          <a:noFill/>
          <a:ln/>
        </p:spPr>
        <p:txBody>
          <a:bodyPr wrap="square" lIns="0" tIns="0" rIns="0" bIns="0" rtlCol="0" anchor="ctr"/>
          <a:lstStyle/>
          <a:p>
            <a:pPr algn="r" indent="0" marL="0">
              <a:buNone/>
            </a:pPr>
            <a:r>
              <a:rPr lang="en-US" sz="1500" b="1" dirty="0">
                <a:solidFill>
                  <a:srgbClr val="2E3A4D"/>
                </a:solidFill>
              </a:rPr>
              <a:t>39%</a:t>
            </a:r>
            <a:endParaRPr lang="en-US" sz="1500" dirty="0"/>
          </a:p>
        </p:txBody>
      </p:sp>
      <p:sp>
        <p:nvSpPr>
          <p:cNvPr id="14" name="example row 2 after"/>
          <p:cNvSpPr txBox="1"/>
          <p:nvPr/>
        </p:nvSpPr>
        <p:spPr>
          <a:xfrm>
            <a:off x="7680960" y="2240280"/>
            <a:ext cx="822960" cy="365760"/>
          </a:xfrm>
          <a:prstGeom prst="rect">
            <a:avLst/>
          </a:prstGeom>
          <a:noFill/>
          <a:ln/>
        </p:spPr>
        <p:txBody>
          <a:bodyPr wrap="square" lIns="0" tIns="0" rIns="0" bIns="0" rtlCol="0" anchor="ctr"/>
          <a:lstStyle/>
          <a:p>
            <a:pPr algn="r" indent="0" marL="0">
              <a:buNone/>
            </a:pPr>
            <a:r>
              <a:rPr lang="en-US" sz="1500" b="1" dirty="0">
                <a:solidFill>
                  <a:srgbClr val="C2410C"/>
                </a:solidFill>
              </a:rPr>
              <a:t>76%</a:t>
            </a:r>
            <a:endParaRPr lang="en-US" sz="1500" dirty="0"/>
          </a:p>
        </p:txBody>
      </p:sp>
      <p:sp>
        <p:nvSpPr>
          <p:cNvPr id="15" name="example row 3 name"/>
          <p:cNvSpPr txBox="1"/>
          <p:nvPr/>
        </p:nvSpPr>
        <p:spPr>
          <a:xfrm>
            <a:off x="5029200" y="2697480"/>
            <a:ext cx="1783080" cy="365760"/>
          </a:xfrm>
          <a:prstGeom prst="rect">
            <a:avLst/>
          </a:prstGeom>
          <a:noFill/>
          <a:ln/>
        </p:spPr>
        <p:txBody>
          <a:bodyPr wrap="square" lIns="0" tIns="0" rIns="0" bIns="0" rtlCol="0" anchor="ctr"/>
          <a:lstStyle/>
          <a:p>
            <a:pPr indent="0" marL="0">
              <a:buNone/>
            </a:pPr>
            <a:r>
              <a:rPr lang="en-US" sz="1300" dirty="0">
                <a:solidFill>
                  <a:srgbClr val="1F2430"/>
                </a:solidFill>
              </a:rPr>
              <a:t>HHI</a:t>
            </a:r>
            <a:endParaRPr lang="en-US" sz="1300" dirty="0"/>
          </a:p>
        </p:txBody>
      </p:sp>
      <p:sp>
        <p:nvSpPr>
          <p:cNvPr id="16" name="example row 3 before"/>
          <p:cNvSpPr txBox="1"/>
          <p:nvPr/>
        </p:nvSpPr>
        <p:spPr>
          <a:xfrm>
            <a:off x="6812280" y="2697480"/>
            <a:ext cx="822960" cy="365760"/>
          </a:xfrm>
          <a:prstGeom prst="rect">
            <a:avLst/>
          </a:prstGeom>
          <a:noFill/>
          <a:ln/>
        </p:spPr>
        <p:txBody>
          <a:bodyPr wrap="square" lIns="0" tIns="0" rIns="0" bIns="0" rtlCol="0" anchor="ctr"/>
          <a:lstStyle/>
          <a:p>
            <a:pPr algn="r" indent="0" marL="0">
              <a:buNone/>
            </a:pPr>
            <a:r>
              <a:rPr lang="en-US" sz="1500" b="1" dirty="0">
                <a:solidFill>
                  <a:srgbClr val="2E3A4D"/>
                </a:solidFill>
              </a:rPr>
              <a:t>2,555</a:t>
            </a:r>
            <a:endParaRPr lang="en-US" sz="1500" dirty="0"/>
          </a:p>
        </p:txBody>
      </p:sp>
      <p:sp>
        <p:nvSpPr>
          <p:cNvPr id="17" name="example row 3 after"/>
          <p:cNvSpPr txBox="1"/>
          <p:nvPr/>
        </p:nvSpPr>
        <p:spPr>
          <a:xfrm>
            <a:off x="7680960" y="2697480"/>
            <a:ext cx="822960" cy="365760"/>
          </a:xfrm>
          <a:prstGeom prst="rect">
            <a:avLst/>
          </a:prstGeom>
          <a:noFill/>
          <a:ln/>
        </p:spPr>
        <p:txBody>
          <a:bodyPr wrap="square" lIns="0" tIns="0" rIns="0" bIns="0" rtlCol="0" anchor="ctr"/>
          <a:lstStyle/>
          <a:p>
            <a:pPr algn="r" indent="0" marL="0">
              <a:buNone/>
            </a:pPr>
            <a:r>
              <a:rPr lang="en-US" sz="1500" b="1" dirty="0">
                <a:solidFill>
                  <a:srgbClr val="C2410C"/>
                </a:solidFill>
              </a:rPr>
              <a:t>5,997</a:t>
            </a:r>
            <a:endParaRPr lang="en-US" sz="1500" dirty="0"/>
          </a:p>
        </p:txBody>
      </p:sp>
      <p:sp>
        <p:nvSpPr>
          <p:cNvPr id="18" name="single vendor note"/>
          <p:cNvSpPr txBox="1"/>
          <p:nvPr/>
        </p:nvSpPr>
        <p:spPr>
          <a:xfrm>
            <a:off x="5029200" y="3291840"/>
            <a:ext cx="3474720" cy="685800"/>
          </a:xfrm>
          <a:prstGeom prst="rect">
            <a:avLst/>
          </a:prstGeom>
          <a:noFill/>
          <a:ln/>
        </p:spPr>
        <p:txBody>
          <a:bodyPr wrap="square" lIns="0" tIns="0" rIns="0" bIns="0" rtlCol="0" anchor="t"/>
          <a:lstStyle/>
          <a:p>
            <a:pPr indent="0" marL="0">
              <a:buNone/>
            </a:pPr>
            <a:r>
              <a:rPr lang="en-US" sz="1300" b="1" dirty="0">
                <a:solidFill>
                  <a:srgbClr val="1F2430"/>
                </a:solidFill>
              </a:rPr>
              <a:t>30% of segments have a single vendor,</a:t>
            </a:r>
            <a:endParaRPr lang="en-US" sz="1300" dirty="0"/>
          </a:p>
          <a:p>
            <a:pPr indent="0" marL="0">
              <a:buNone/>
            </a:pPr>
            <a:r>
              <a:rPr lang="en-US" sz="1300" dirty="0">
                <a:solidFill>
                  <a:srgbClr val="4A5568"/>
                </a:solidFill>
              </a:rPr>
              <a:t>but they hold only 1.9% of the money.</a:t>
            </a:r>
            <a:endParaRPr lang="en-US" sz="1300" dirty="0"/>
          </a:p>
        </p:txBody>
      </p:sp>
      <p:sp>
        <p:nvSpPr>
          <p:cNvPr id="19" name="takeaway box"/>
          <p:cNvSpPr/>
          <p:nvPr/>
        </p:nvSpPr>
        <p:spPr>
          <a:xfrm>
            <a:off x="457200" y="4160520"/>
            <a:ext cx="8229600" cy="566928"/>
          </a:xfrm>
          <a:prstGeom prst="roundRect">
            <a:avLst>
              <a:gd name="adj" fmla="val 12903"/>
            </a:avLst>
          </a:prstGeom>
          <a:solidFill>
            <a:srgbClr val="EEF0F3"/>
          </a:solidFill>
          <a:ln/>
        </p:spPr>
      </p:sp>
      <p:sp>
        <p:nvSpPr>
          <p:cNvPr id="20" name="takeaway"/>
          <p:cNvSpPr txBox="1"/>
          <p:nvPr/>
        </p:nvSpPr>
        <p:spPr>
          <a:xfrm>
            <a:off x="640080" y="4160520"/>
            <a:ext cx="7863840" cy="566928"/>
          </a:xfrm>
          <a:prstGeom prst="rect">
            <a:avLst/>
          </a:prstGeom>
          <a:noFill/>
          <a:ln/>
        </p:spPr>
        <p:txBody>
          <a:bodyPr wrap="square" lIns="0" tIns="0" rIns="0" bIns="0" rtlCol="0" anchor="ctr"/>
          <a:lstStyle/>
          <a:p>
            <a:pPr indent="0" marL="0">
              <a:buNone/>
            </a:pPr>
            <a:r>
              <a:rPr lang="en-US" sz="1400" b="1" dirty="0">
                <a:solidFill>
                  <a:srgbClr val="C2410C"/>
                </a:solidFill>
              </a:rPr>
              <a:t>What this means   </a:t>
            </a:r>
            <a:pPr indent="0" marL="0">
              <a:buNone/>
            </a:pPr>
            <a:r>
              <a:rPr lang="en-US" sz="1400" dirty="0">
                <a:solidFill>
                  <a:srgbClr val="1F2430"/>
                </a:solidFill>
              </a:rPr>
              <a:t>Concentration sits in expensive things few firms make, like aircraft. Small one-vendor purchases are common, but they are a tiny share of the money.</a:t>
            </a:r>
            <a:endParaRPr lang="en-US" sz="14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600" b="1" dirty="0">
                <a:solidFill>
                  <a:srgbClr val="1F2430"/>
                </a:solidFill>
                <a:latin typeface="Cambria" pitchFamily="34" charset="0"/>
                <a:ea typeface="Cambria" pitchFamily="34" charset="-122"/>
                <a:cs typeface="Cambria" pitchFamily="34" charset="-120"/>
              </a:rPr>
              <a:t>What it means, and what we do next</a:t>
            </a:r>
            <a:endParaRPr lang="en-US" sz="2600" dirty="0"/>
          </a:p>
        </p:txBody>
      </p:sp>
      <p:sp>
        <p:nvSpPr>
          <p:cNvPr id="4" name="column 1 card"/>
          <p:cNvSpPr/>
          <p:nvPr/>
        </p:nvSpPr>
        <p:spPr>
          <a:xfrm>
            <a:off x="457200" y="1005840"/>
            <a:ext cx="2615184" cy="3246120"/>
          </a:xfrm>
          <a:prstGeom prst="roundRect">
            <a:avLst>
              <a:gd name="adj" fmla="val 2797"/>
            </a:avLst>
          </a:prstGeom>
          <a:solidFill>
            <a:srgbClr val="EEF0F3"/>
          </a:solidFill>
          <a:ln/>
        </p:spPr>
      </p:sp>
      <p:sp>
        <p:nvSpPr>
          <p:cNvPr id="5" name="column 1 dot"/>
          <p:cNvSpPr/>
          <p:nvPr/>
        </p:nvSpPr>
        <p:spPr>
          <a:xfrm>
            <a:off x="640080" y="1188720"/>
            <a:ext cx="274320" cy="274320"/>
          </a:xfrm>
          <a:prstGeom prst="ellipse">
            <a:avLst/>
          </a:prstGeom>
          <a:solidFill>
            <a:srgbClr val="4D7C6F"/>
          </a:solidFill>
          <a:ln/>
        </p:spPr>
      </p:sp>
      <p:sp>
        <p:nvSpPr>
          <p:cNvPr id="6" name="column 1 head"/>
          <p:cNvSpPr txBox="1"/>
          <p:nvPr/>
        </p:nvSpPr>
        <p:spPr>
          <a:xfrm>
            <a:off x="1005840" y="1161288"/>
            <a:ext cx="1929384" cy="329184"/>
          </a:xfrm>
          <a:prstGeom prst="rect">
            <a:avLst/>
          </a:prstGeom>
          <a:noFill/>
          <a:ln/>
        </p:spPr>
        <p:txBody>
          <a:bodyPr wrap="square" lIns="0" tIns="0" rIns="0" bIns="0" rtlCol="0" anchor="ctr"/>
          <a:lstStyle/>
          <a:p>
            <a:pPr indent="0" marL="0">
              <a:buNone/>
            </a:pPr>
            <a:r>
              <a:rPr lang="en-US" sz="1500" b="1" dirty="0">
                <a:solidFill>
                  <a:srgbClr val="1F2430"/>
                </a:solidFill>
              </a:rPr>
              <a:t>What we can trust</a:t>
            </a:r>
            <a:endParaRPr lang="en-US" sz="1500" dirty="0"/>
          </a:p>
        </p:txBody>
      </p:sp>
      <p:sp>
        <p:nvSpPr>
          <p:cNvPr id="7" name="column 1 items"/>
          <p:cNvSpPr txBox="1"/>
          <p:nvPr/>
        </p:nvSpPr>
        <p:spPr>
          <a:xfrm>
            <a:off x="640080" y="1645920"/>
            <a:ext cx="2249424" cy="2514600"/>
          </a:xfrm>
          <a:prstGeom prst="rect">
            <a:avLst/>
          </a:prstGeom>
          <a:noFill/>
          <a:ln/>
        </p:spPr>
        <p:txBody>
          <a:bodyPr wrap="square" lIns="0" tIns="0" rIns="0" bIns="0" rtlCol="0" anchor="t"/>
          <a:lstStyle/>
          <a:p>
            <a:pPr marL="152400" indent="-152400">
              <a:spcAft>
                <a:spcPts val="900"/>
              </a:spcAft>
              <a:buSzPct val="100000"/>
              <a:buChar char="•"/>
            </a:pPr>
            <a:r>
              <a:rPr lang="en-US" sz="1300" dirty="0">
                <a:solidFill>
                  <a:srgbClr val="1F2430"/>
                </a:solidFill>
              </a:rPr>
              <a:t>The copy is exact, and totals match GAO within 0.2%</a:t>
            </a:r>
            <a:endParaRPr lang="en-US" sz="1300" dirty="0"/>
          </a:p>
          <a:p>
            <a:pPr marL="152400" indent="-152400">
              <a:spcAft>
                <a:spcPts val="900"/>
              </a:spcAft>
              <a:buSzPct val="100000"/>
              <a:buChar char="•"/>
            </a:pPr>
            <a:r>
              <a:rPr lang="en-US" sz="1300" dirty="0">
                <a:solidFill>
                  <a:srgbClr val="1F2430"/>
                </a:solidFill>
              </a:rPr>
              <a:t>Product codes mostly carry across the FY2012 and FY2021 changes (89% of dollars)</a:t>
            </a:r>
            <a:endParaRPr lang="en-US" sz="1300" dirty="0"/>
          </a:p>
          <a:p>
            <a:pPr marL="152400" indent="-152400">
              <a:spcAft>
                <a:spcPts val="900"/>
              </a:spcAft>
              <a:buSzPct val="100000"/>
              <a:buChar char="•"/>
            </a:pPr>
            <a:r>
              <a:rPr lang="en-US" sz="1300" dirty="0">
                <a:solidFill>
                  <a:srgbClr val="1F2430"/>
                </a:solidFill>
              </a:rPr>
              <a:t>So most segments can be followed for all 18 years</a:t>
            </a:r>
            <a:endParaRPr lang="en-US" sz="1300" dirty="0"/>
          </a:p>
        </p:txBody>
      </p:sp>
      <p:sp>
        <p:nvSpPr>
          <p:cNvPr id="8" name="column 2 card"/>
          <p:cNvSpPr/>
          <p:nvPr/>
        </p:nvSpPr>
        <p:spPr>
          <a:xfrm>
            <a:off x="3273552" y="1005840"/>
            <a:ext cx="2615184" cy="3246120"/>
          </a:xfrm>
          <a:prstGeom prst="roundRect">
            <a:avLst>
              <a:gd name="adj" fmla="val 2797"/>
            </a:avLst>
          </a:prstGeom>
          <a:solidFill>
            <a:srgbClr val="EEF0F3"/>
          </a:solidFill>
          <a:ln/>
        </p:spPr>
      </p:sp>
      <p:sp>
        <p:nvSpPr>
          <p:cNvPr id="9" name="column 2 dot"/>
          <p:cNvSpPr/>
          <p:nvPr/>
        </p:nvSpPr>
        <p:spPr>
          <a:xfrm>
            <a:off x="3456432" y="1188720"/>
            <a:ext cx="274320" cy="274320"/>
          </a:xfrm>
          <a:prstGeom prst="ellipse">
            <a:avLst/>
          </a:prstGeom>
          <a:solidFill>
            <a:srgbClr val="D9911F"/>
          </a:solidFill>
          <a:ln/>
        </p:spPr>
      </p:sp>
      <p:sp>
        <p:nvSpPr>
          <p:cNvPr id="10" name="column 2 head"/>
          <p:cNvSpPr txBox="1"/>
          <p:nvPr/>
        </p:nvSpPr>
        <p:spPr>
          <a:xfrm>
            <a:off x="3822192" y="1161288"/>
            <a:ext cx="1929384" cy="329184"/>
          </a:xfrm>
          <a:prstGeom prst="rect">
            <a:avLst/>
          </a:prstGeom>
          <a:noFill/>
          <a:ln/>
        </p:spPr>
        <p:txBody>
          <a:bodyPr wrap="square" lIns="0" tIns="0" rIns="0" bIns="0" rtlCol="0" anchor="ctr"/>
          <a:lstStyle/>
          <a:p>
            <a:pPr indent="0" marL="0">
              <a:buNone/>
            </a:pPr>
            <a:r>
              <a:rPr lang="en-US" sz="1500" b="1" dirty="0">
                <a:solidFill>
                  <a:srgbClr val="1F2430"/>
                </a:solidFill>
              </a:rPr>
              <a:t>Be careful about</a:t>
            </a:r>
            <a:endParaRPr lang="en-US" sz="1500" dirty="0"/>
          </a:p>
        </p:txBody>
      </p:sp>
      <p:sp>
        <p:nvSpPr>
          <p:cNvPr id="11" name="column 2 items"/>
          <p:cNvSpPr txBox="1"/>
          <p:nvPr/>
        </p:nvSpPr>
        <p:spPr>
          <a:xfrm>
            <a:off x="3456432" y="1645920"/>
            <a:ext cx="2249424" cy="2514600"/>
          </a:xfrm>
          <a:prstGeom prst="rect">
            <a:avLst/>
          </a:prstGeom>
          <a:noFill/>
          <a:ln/>
        </p:spPr>
        <p:txBody>
          <a:bodyPr wrap="square" lIns="0" tIns="0" rIns="0" bIns="0" rtlCol="0" anchor="t"/>
          <a:lstStyle/>
          <a:p>
            <a:pPr marL="152400" indent="-152400">
              <a:spcAft>
                <a:spcPts val="900"/>
              </a:spcAft>
              <a:buSzPct val="100000"/>
              <a:buChar char="•"/>
            </a:pPr>
            <a:r>
              <a:rPr lang="en-US" sz="1300" dirty="0">
                <a:solidFill>
                  <a:srgbClr val="1F2430"/>
                </a:solidFill>
              </a:rPr>
              <a:t>Scores swing from year to year with single large awards</a:t>
            </a:r>
            <a:endParaRPr lang="en-US" sz="1300" dirty="0"/>
          </a:p>
          <a:p>
            <a:pPr marL="152400" indent="-152400">
              <a:spcAft>
                <a:spcPts val="900"/>
              </a:spcAft>
              <a:buSzPct val="100000"/>
              <a:buChar char="•"/>
            </a:pPr>
            <a:r>
              <a:rPr lang="en-US" sz="1300" dirty="0">
                <a:solidFill>
                  <a:srgbClr val="1F2430"/>
                </a:solidFill>
              </a:rPr>
              <a:t>38% of trend lines "rise" 500 points, but 28% still do with their years shuffled</a:t>
            </a:r>
            <a:endParaRPr lang="en-US" sz="1300" dirty="0"/>
          </a:p>
          <a:p>
            <a:pPr marL="152400" indent="-152400">
              <a:spcAft>
                <a:spcPts val="900"/>
              </a:spcAft>
              <a:buSzPct val="100000"/>
              <a:buChar char="•"/>
            </a:pPr>
            <a:r>
              <a:rPr lang="en-US" sz="1300" dirty="0">
                <a:solidFill>
                  <a:srgbClr val="1F2430"/>
                </a:solidFill>
              </a:rPr>
              <a:t>So a rise has to beat chance before it counts</a:t>
            </a:r>
            <a:endParaRPr lang="en-US" sz="1300" dirty="0"/>
          </a:p>
        </p:txBody>
      </p:sp>
      <p:sp>
        <p:nvSpPr>
          <p:cNvPr id="12" name="column 3 card"/>
          <p:cNvSpPr/>
          <p:nvPr/>
        </p:nvSpPr>
        <p:spPr>
          <a:xfrm>
            <a:off x="6089904" y="1005840"/>
            <a:ext cx="2615184" cy="3246120"/>
          </a:xfrm>
          <a:prstGeom prst="roundRect">
            <a:avLst>
              <a:gd name="adj" fmla="val 2797"/>
            </a:avLst>
          </a:prstGeom>
          <a:solidFill>
            <a:srgbClr val="EEF0F3"/>
          </a:solidFill>
          <a:ln/>
        </p:spPr>
      </p:sp>
      <p:sp>
        <p:nvSpPr>
          <p:cNvPr id="13" name="column 3 dot"/>
          <p:cNvSpPr/>
          <p:nvPr/>
        </p:nvSpPr>
        <p:spPr>
          <a:xfrm>
            <a:off x="6272784" y="1188720"/>
            <a:ext cx="274320" cy="274320"/>
          </a:xfrm>
          <a:prstGeom prst="ellipse">
            <a:avLst/>
          </a:prstGeom>
          <a:solidFill>
            <a:srgbClr val="C2410C"/>
          </a:solidFill>
          <a:ln/>
        </p:spPr>
      </p:sp>
      <p:sp>
        <p:nvSpPr>
          <p:cNvPr id="14" name="column 3 head"/>
          <p:cNvSpPr txBox="1"/>
          <p:nvPr/>
        </p:nvSpPr>
        <p:spPr>
          <a:xfrm>
            <a:off x="6638544" y="1161288"/>
            <a:ext cx="1929384" cy="329184"/>
          </a:xfrm>
          <a:prstGeom prst="rect">
            <a:avLst/>
          </a:prstGeom>
          <a:noFill/>
          <a:ln/>
        </p:spPr>
        <p:txBody>
          <a:bodyPr wrap="square" lIns="0" tIns="0" rIns="0" bIns="0" rtlCol="0" anchor="ctr"/>
          <a:lstStyle/>
          <a:p>
            <a:pPr indent="0" marL="0">
              <a:buNone/>
            </a:pPr>
            <a:r>
              <a:rPr lang="en-US" sz="1500" b="1" dirty="0">
                <a:solidFill>
                  <a:srgbClr val="1F2430"/>
                </a:solidFill>
              </a:rPr>
              <a:t>What we do next</a:t>
            </a:r>
            <a:endParaRPr lang="en-US" sz="1500" dirty="0"/>
          </a:p>
        </p:txBody>
      </p:sp>
      <p:sp>
        <p:nvSpPr>
          <p:cNvPr id="15" name="column 3 items"/>
          <p:cNvSpPr txBox="1"/>
          <p:nvPr/>
        </p:nvSpPr>
        <p:spPr>
          <a:xfrm>
            <a:off x="6272784" y="1645920"/>
            <a:ext cx="2249424" cy="2514600"/>
          </a:xfrm>
          <a:prstGeom prst="rect">
            <a:avLst/>
          </a:prstGeom>
          <a:noFill/>
          <a:ln/>
        </p:spPr>
        <p:txBody>
          <a:bodyPr wrap="square" lIns="0" tIns="0" rIns="0" bIns="0" rtlCol="0" anchor="t"/>
          <a:lstStyle/>
          <a:p>
            <a:pPr marL="152400" indent="-152400">
              <a:spcAft>
                <a:spcPts val="900"/>
              </a:spcAft>
              <a:buSzPct val="100000"/>
              <a:buChar char="•"/>
            </a:pPr>
            <a:r>
              <a:rPr lang="en-US" sz="1300" dirty="0">
                <a:solidFill>
                  <a:srgbClr val="1F2430"/>
                </a:solidFill>
              </a:rPr>
              <a:t>Define a rising trend that beats chance</a:t>
            </a:r>
            <a:endParaRPr lang="en-US" sz="1300" dirty="0"/>
          </a:p>
          <a:p>
            <a:pPr marL="152400" indent="-152400">
              <a:spcAft>
                <a:spcPts val="900"/>
              </a:spcAft>
              <a:buSzPct val="100000"/>
              <a:buChar char="•"/>
            </a:pPr>
            <a:r>
              <a:rPr lang="en-US" sz="1300" dirty="0">
                <a:solidFill>
                  <a:srgbClr val="1F2430"/>
                </a:solidFill>
              </a:rPr>
              <a:t>Link IT and construction codes across the code changes</a:t>
            </a:r>
            <a:endParaRPr lang="en-US" sz="1300" dirty="0"/>
          </a:p>
          <a:p>
            <a:pPr marL="152400" indent="-152400">
              <a:spcAft>
                <a:spcPts val="900"/>
              </a:spcAft>
              <a:buSzPct val="100000"/>
              <a:buChar char="•"/>
            </a:pPr>
            <a:r>
              <a:rPr lang="en-US" sz="1300" dirty="0">
                <a:solidFill>
                  <a:srgbClr val="1F2430"/>
                </a:solidFill>
              </a:rPr>
              <a:t>Settle the open data decisions with our sponsor</a:t>
            </a:r>
            <a:endParaRPr lang="en-US" sz="1300" dirty="0"/>
          </a:p>
          <a:p>
            <a:pPr marL="152400" indent="-152400">
              <a:spcAft>
                <a:spcPts val="900"/>
              </a:spcAft>
              <a:buSzPct val="100000"/>
              <a:buChar char="•"/>
            </a:pPr>
            <a:r>
              <a:rPr lang="en-US" sz="1300" dirty="0">
                <a:solidFill>
                  <a:srgbClr val="1F2430"/>
                </a:solidFill>
              </a:rPr>
              <a:t>Then group the trends and ask what rising segments have in common</a:t>
            </a:r>
            <a:endParaRPr lang="en-US" sz="13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200" b="1" dirty="0">
                <a:solidFill>
                  <a:srgbClr val="1F2430"/>
                </a:solidFill>
                <a:latin typeface="Cambria" pitchFamily="34" charset="0"/>
                <a:ea typeface="Cambria" pitchFamily="34" charset="-122"/>
                <a:cs typeface="Cambria" pitchFamily="34" charset="-120"/>
              </a:rPr>
              <a:t>Backup: the data decisions barely change the picture</a:t>
            </a:r>
            <a:endParaRPr lang="en-US" sz="2200" dirty="0"/>
          </a:p>
        </p:txBody>
      </p:sp>
      <p:sp>
        <p:nvSpPr>
          <p:cNvPr id="4" name="backup note"/>
          <p:cNvSpPr txBox="1"/>
          <p:nvPr/>
        </p:nvSpPr>
        <p:spPr>
          <a:xfrm>
            <a:off x="457200" y="4069080"/>
            <a:ext cx="8229600" cy="685800"/>
          </a:xfrm>
          <a:prstGeom prst="rect">
            <a:avLst/>
          </a:prstGeom>
          <a:noFill/>
          <a:ln/>
        </p:spPr>
        <p:txBody>
          <a:bodyPr wrap="square" lIns="0" tIns="0" rIns="0" bIns="0" rtlCol="0" anchor="t"/>
          <a:lstStyle/>
          <a:p>
            <a:pPr indent="0" marL="0">
              <a:buNone/>
            </a:pPr>
            <a:r>
              <a:rPr lang="en-US" sz="1200" dirty="0">
                <a:solidFill>
                  <a:srgbClr val="4A5568"/>
                </a:solidFill>
              </a:rPr>
              <a:t>V1 applies the decisions as proposed: reversal pairs replaced by their net, the two US Mint rows, MISCELLANEOUS FOREIGN AWARDEES and rows with no vendor ID left out. V8b also leaves out deobligations larger than the award's obligations that year.</a:t>
            </a:r>
            <a:endParaRPr lang="en-US" sz="1200" dirty="0"/>
          </a:p>
        </p:txBody>
      </p:sp>
      <p:graphicFrame>
        <p:nvGraphicFramePr>
          <p:cNvPr id="5" name="decisions chart" descr=""/>
          <p:cNvGraphicFramePr/>
          <p:nvPr/>
        </p:nvGraphicFramePr>
        <p:xfrm>
          <a:off x="365760" y="914400"/>
          <a:ext cx="457200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120640" y="1051560"/>
          <a:ext cx="3566160" cy="914400"/>
        </p:xfrm>
        <a:graphic>
          <a:graphicData uri="http://schemas.openxmlformats.org/drawingml/2006/table">
            <a:tbl>
              <a:tblPr/>
              <a:tblGrid>
                <a:gridCol w="502920"/>
                <a:gridCol w="1417320"/>
                <a:gridCol w="822960"/>
                <a:gridCol w="822960"/>
              </a:tblGrid>
              <a:tr h="0">
                <a:tc>
                  <a:txBody>
                    <a:bodyPr/>
                    <a:lstStyle/>
                    <a:p>
                      <a:pPr indent="0" marL="0">
                        <a:buNone/>
                      </a:pPr>
                      <a:r>
                        <a:rPr lang="en-US" sz="1000" b="1" dirty="0">
                          <a:solidFill>
                            <a:srgbClr val="FFFFFF"/>
                          </a:solidFill>
                        </a:rPr>
                        <a:t>Against V0</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000" b="1" dirty="0">
                          <a:solidFill>
                            <a:srgbClr val="FFFFFF"/>
                          </a:solidFill>
                        </a:rPr>
                        <a:t>Segments changing band</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000" b="1" dirty="0">
                          <a:solidFill>
                            <a:srgbClr val="FFFFFF"/>
                          </a:solidFill>
                        </a:rPr>
                        <a:t>Into above 2,500</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000" b="1" dirty="0">
                          <a:solidFill>
                            <a:srgbClr val="FFFFFF"/>
                          </a:solidFill>
                        </a:rPr>
                        <a:t>Out of above 2,500</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r>
              <a:tr h="0">
                <a:tc>
                  <a:txBody>
                    <a:bodyPr/>
                    <a:lstStyle/>
                    <a:p>
                      <a:pPr indent="0" marL="0">
                        <a:buNone/>
                      </a:pPr>
                      <a:r>
                        <a:rPr lang="en-US" sz="1000" dirty="0">
                          <a:solidFill>
                            <a:srgbClr val="1F2430"/>
                          </a:solidFill>
                        </a:rPr>
                        <a:t>V1</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3,241 of 357,284 (0.9%)</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599</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1,801</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430"/>
                          </a:solidFill>
                        </a:rPr>
                        <a:t>V8b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gridSpan="3">
                  <a:txBody>
                    <a:bodyPr/>
                    <a:lstStyle/>
                    <a:p>
                      <a:pPr indent="0" marL="0">
                        <a:buNone/>
                      </a:pPr>
                      <a:r>
                        <a:rPr lang="en-US" sz="1000" i="1" dirty="0">
                          <a:solidFill>
                            <a:srgbClr val="4A5568"/>
                          </a:solidFill>
                        </a:rPr>
                        <a:t>Pending: needs Stage 2 flags for every year</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hMerge="1">
                  <a:tcPr/>
                </a:tc>
                <a:tc hMerge="1">
                  <a:tcPr/>
                </a:tc>
              </a:tr>
            </a:tbl>
          </a:graphicData>
        </a:graphic>
      </p:graphicFrame>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200" b="1" dirty="0">
                <a:solidFill>
                  <a:srgbClr val="1F2430"/>
                </a:solidFill>
                <a:latin typeface="Cambria" pitchFamily="34" charset="0"/>
                <a:ea typeface="Cambria" pitchFamily="34" charset="-122"/>
                <a:cs typeface="Cambria" pitchFamily="34" charset="-120"/>
              </a:rPr>
              <a:t>Backup: product codes mostly carry across the code changes</a:t>
            </a:r>
            <a:endParaRPr lang="en-US" sz="2200" dirty="0"/>
          </a:p>
        </p:txBody>
      </p:sp>
      <p:sp>
        <p:nvSpPr>
          <p:cNvPr id="4" name="backup note"/>
          <p:cNvSpPr txBox="1"/>
          <p:nvPr/>
        </p:nvSpPr>
        <p:spPr>
          <a:xfrm>
            <a:off x="457200" y="4069080"/>
            <a:ext cx="8229600" cy="685800"/>
          </a:xfrm>
          <a:prstGeom prst="rect">
            <a:avLst/>
          </a:prstGeom>
          <a:noFill/>
          <a:ln/>
        </p:spPr>
        <p:txBody>
          <a:bodyPr wrap="square" lIns="0" tIns="0" rIns="0" bIns="0" rtlCol="0" anchor="t"/>
          <a:lstStyle/>
          <a:p>
            <a:pPr indent="0" marL="0">
              <a:buNone/>
            </a:pPr>
            <a:r>
              <a:rPr lang="en-US" sz="1200" dirty="0">
                <a:solidFill>
                  <a:srgbClr val="4A5568"/>
                </a:solidFill>
              </a:rPr>
              <a:t>Product code manuals changed on 2011-10-01 and 2020-10-01. Codes that stopped at either change held almost no dollars. New codes took 87% construction and repair in FY2012, and almost all IT in FY2021.</a:t>
            </a:r>
            <a:endParaRPr lang="en-US" sz="1200" dirty="0"/>
          </a:p>
        </p:txBody>
      </p:sp>
      <p:sp>
        <p:nvSpPr>
          <p:cNvPr id="5" name="era 1"/>
          <p:cNvSpPr/>
          <p:nvPr/>
        </p:nvSpPr>
        <p:spPr>
          <a:xfrm>
            <a:off x="484632" y="1051560"/>
            <a:ext cx="1773936" cy="457200"/>
          </a:xfrm>
          <a:prstGeom prst="rect">
            <a:avLst/>
          </a:prstGeom>
          <a:solidFill>
            <a:srgbClr val="8A94A6"/>
          </a:solidFill>
          <a:ln/>
        </p:spPr>
      </p:sp>
      <p:sp>
        <p:nvSpPr>
          <p:cNvPr id="6" name="era 1 label"/>
          <p:cNvSpPr txBox="1"/>
          <p:nvPr/>
        </p:nvSpPr>
        <p:spPr>
          <a:xfrm>
            <a:off x="457200" y="1051560"/>
            <a:ext cx="1828800" cy="457200"/>
          </a:xfrm>
          <a:prstGeom prst="rect">
            <a:avLst/>
          </a:prstGeom>
          <a:noFill/>
          <a:ln/>
        </p:spPr>
        <p:txBody>
          <a:bodyPr wrap="square" lIns="0" tIns="0" rIns="0" bIns="0" rtlCol="0" anchor="ctr"/>
          <a:lstStyle/>
          <a:p>
            <a:pPr algn="ctr" indent="0" marL="0">
              <a:buNone/>
            </a:pPr>
            <a:r>
              <a:rPr lang="en-US" sz="1100" b="1" dirty="0">
                <a:solidFill>
                  <a:srgbClr val="FFFFFF"/>
                </a:solidFill>
              </a:rPr>
              <a:t>4 years, FY2008 to FY2011</a:t>
            </a:r>
            <a:endParaRPr lang="en-US" sz="1100" dirty="0"/>
          </a:p>
        </p:txBody>
      </p:sp>
      <p:sp>
        <p:nvSpPr>
          <p:cNvPr id="7" name="era 2"/>
          <p:cNvSpPr/>
          <p:nvPr/>
        </p:nvSpPr>
        <p:spPr>
          <a:xfrm>
            <a:off x="2313432" y="1051560"/>
            <a:ext cx="4059936" cy="457200"/>
          </a:xfrm>
          <a:prstGeom prst="rect">
            <a:avLst/>
          </a:prstGeom>
          <a:solidFill>
            <a:srgbClr val="2E3A4D"/>
          </a:solidFill>
          <a:ln/>
        </p:spPr>
      </p:sp>
      <p:sp>
        <p:nvSpPr>
          <p:cNvPr id="8" name="era 2 label"/>
          <p:cNvSpPr txBox="1"/>
          <p:nvPr/>
        </p:nvSpPr>
        <p:spPr>
          <a:xfrm>
            <a:off x="2286000" y="1051560"/>
            <a:ext cx="4114800" cy="457200"/>
          </a:xfrm>
          <a:prstGeom prst="rect">
            <a:avLst/>
          </a:prstGeom>
          <a:noFill/>
          <a:ln/>
        </p:spPr>
        <p:txBody>
          <a:bodyPr wrap="square" lIns="0" tIns="0" rIns="0" bIns="0" rtlCol="0" anchor="ctr"/>
          <a:lstStyle/>
          <a:p>
            <a:pPr algn="ctr" indent="0" marL="0">
              <a:buNone/>
            </a:pPr>
            <a:r>
              <a:rPr lang="en-US" sz="1100" b="1" dirty="0">
                <a:solidFill>
                  <a:srgbClr val="FFFFFF"/>
                </a:solidFill>
              </a:rPr>
              <a:t>9 years, FY2012 to FY2020</a:t>
            </a:r>
            <a:endParaRPr lang="en-US" sz="1100" dirty="0"/>
          </a:p>
        </p:txBody>
      </p:sp>
      <p:sp>
        <p:nvSpPr>
          <p:cNvPr id="9" name="era 3"/>
          <p:cNvSpPr/>
          <p:nvPr/>
        </p:nvSpPr>
        <p:spPr>
          <a:xfrm>
            <a:off x="6428232" y="1051560"/>
            <a:ext cx="2231136" cy="457200"/>
          </a:xfrm>
          <a:prstGeom prst="rect">
            <a:avLst/>
          </a:prstGeom>
          <a:solidFill>
            <a:srgbClr val="8A94A6"/>
          </a:solidFill>
          <a:ln/>
        </p:spPr>
      </p:sp>
      <p:sp>
        <p:nvSpPr>
          <p:cNvPr id="10" name="era 3 label"/>
          <p:cNvSpPr txBox="1"/>
          <p:nvPr/>
        </p:nvSpPr>
        <p:spPr>
          <a:xfrm>
            <a:off x="6400800" y="1051560"/>
            <a:ext cx="2286000" cy="457200"/>
          </a:xfrm>
          <a:prstGeom prst="rect">
            <a:avLst/>
          </a:prstGeom>
          <a:noFill/>
          <a:ln/>
        </p:spPr>
        <p:txBody>
          <a:bodyPr wrap="square" lIns="0" tIns="0" rIns="0" bIns="0" rtlCol="0" anchor="ctr"/>
          <a:lstStyle/>
          <a:p>
            <a:pPr algn="ctr" indent="0" marL="0">
              <a:buNone/>
            </a:pPr>
            <a:r>
              <a:rPr lang="en-US" sz="1100" b="1" dirty="0">
                <a:solidFill>
                  <a:srgbClr val="FFFFFF"/>
                </a:solidFill>
              </a:rPr>
              <a:t>5 years, FY2021 to FY2025</a:t>
            </a:r>
            <a:endParaRPr lang="en-US" sz="1100" dirty="0"/>
          </a:p>
        </p:txBody>
      </p:sp>
      <p:sp>
        <p:nvSpPr>
          <p:cNvPr id="11" name="codes all value"/>
          <p:cNvSpPr txBox="1"/>
          <p:nvPr/>
        </p:nvSpPr>
        <p:spPr>
          <a:xfrm>
            <a:off x="457200" y="1828800"/>
            <a:ext cx="2560320" cy="566928"/>
          </a:xfrm>
          <a:prstGeom prst="rect">
            <a:avLst/>
          </a:prstGeom>
          <a:noFill/>
          <a:ln/>
        </p:spPr>
        <p:txBody>
          <a:bodyPr wrap="square" lIns="0" tIns="0" rIns="0" bIns="0" rtlCol="0" anchor="b"/>
          <a:lstStyle/>
          <a:p>
            <a:pPr indent="0" marL="0">
              <a:buNone/>
            </a:pPr>
            <a:r>
              <a:rPr lang="en-US" sz="3200" b="1" dirty="0">
                <a:solidFill>
                  <a:srgbClr val="2E3A4D"/>
                </a:solidFill>
                <a:latin typeface="Cambria" pitchFamily="34" charset="0"/>
                <a:ea typeface="Cambria" pitchFamily="34" charset="-122"/>
                <a:cs typeface="Cambria" pitchFamily="34" charset="-120"/>
              </a:rPr>
              <a:t>88.5%</a:t>
            </a:r>
            <a:endParaRPr lang="en-US" sz="3200" dirty="0"/>
          </a:p>
        </p:txBody>
      </p:sp>
      <p:sp>
        <p:nvSpPr>
          <p:cNvPr id="12" name="codes all label"/>
          <p:cNvSpPr txBox="1"/>
          <p:nvPr/>
        </p:nvSpPr>
        <p:spPr>
          <a:xfrm>
            <a:off x="457200" y="2432304"/>
            <a:ext cx="2560320" cy="457200"/>
          </a:xfrm>
          <a:prstGeom prst="rect">
            <a:avLst/>
          </a:prstGeom>
          <a:noFill/>
          <a:ln/>
        </p:spPr>
        <p:txBody>
          <a:bodyPr wrap="square" lIns="0" tIns="0" rIns="0" bIns="0" rtlCol="0" anchor="t"/>
          <a:lstStyle/>
          <a:p>
            <a:pPr indent="0" marL="0">
              <a:buNone/>
            </a:pPr>
            <a:r>
              <a:rPr lang="en-US" sz="1200" dirty="0">
                <a:solidFill>
                  <a:srgbClr val="4A5568"/>
                </a:solidFill>
              </a:rPr>
              <a:t>of all dollars are on codes used in every era</a:t>
            </a:r>
            <a:endParaRPr lang="en-US" sz="1200" dirty="0"/>
          </a:p>
        </p:txBody>
      </p:sp>
      <p:sp>
        <p:nvSpPr>
          <p:cNvPr id="13" name="codes 2012 value"/>
          <p:cNvSpPr txBox="1"/>
          <p:nvPr/>
        </p:nvSpPr>
        <p:spPr>
          <a:xfrm>
            <a:off x="3291840" y="1828800"/>
            <a:ext cx="2560320" cy="566928"/>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6.5%</a:t>
            </a:r>
            <a:endParaRPr lang="en-US" sz="3200" dirty="0"/>
          </a:p>
        </p:txBody>
      </p:sp>
      <p:sp>
        <p:nvSpPr>
          <p:cNvPr id="14" name="codes 2012 label"/>
          <p:cNvSpPr txBox="1"/>
          <p:nvPr/>
        </p:nvSpPr>
        <p:spPr>
          <a:xfrm>
            <a:off x="3291840" y="2432304"/>
            <a:ext cx="2560320" cy="457200"/>
          </a:xfrm>
          <a:prstGeom prst="rect">
            <a:avLst/>
          </a:prstGeom>
          <a:noFill/>
          <a:ln/>
        </p:spPr>
        <p:txBody>
          <a:bodyPr wrap="square" lIns="0" tIns="0" rIns="0" bIns="0" rtlCol="0" anchor="t"/>
          <a:lstStyle/>
          <a:p>
            <a:pPr indent="0" marL="0">
              <a:buNone/>
            </a:pPr>
            <a:r>
              <a:rPr lang="en-US" sz="1200" dirty="0">
                <a:solidFill>
                  <a:srgbClr val="4A5568"/>
                </a:solidFill>
              </a:rPr>
              <a:t>of FY2012 dollars went to codes new that year</a:t>
            </a:r>
            <a:endParaRPr lang="en-US" sz="1200" dirty="0"/>
          </a:p>
        </p:txBody>
      </p:sp>
      <p:sp>
        <p:nvSpPr>
          <p:cNvPr id="15" name="codes 2021 value"/>
          <p:cNvSpPr txBox="1"/>
          <p:nvPr/>
        </p:nvSpPr>
        <p:spPr>
          <a:xfrm>
            <a:off x="6126480" y="1828800"/>
            <a:ext cx="2560320" cy="566928"/>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4.4%</a:t>
            </a:r>
            <a:endParaRPr lang="en-US" sz="3200" dirty="0"/>
          </a:p>
        </p:txBody>
      </p:sp>
      <p:sp>
        <p:nvSpPr>
          <p:cNvPr id="16" name="codes 2021 label"/>
          <p:cNvSpPr txBox="1"/>
          <p:nvPr/>
        </p:nvSpPr>
        <p:spPr>
          <a:xfrm>
            <a:off x="6126480" y="2432304"/>
            <a:ext cx="2560320" cy="457200"/>
          </a:xfrm>
          <a:prstGeom prst="rect">
            <a:avLst/>
          </a:prstGeom>
          <a:noFill/>
          <a:ln/>
        </p:spPr>
        <p:txBody>
          <a:bodyPr wrap="square" lIns="0" tIns="0" rIns="0" bIns="0" rtlCol="0" anchor="t"/>
          <a:lstStyle/>
          <a:p>
            <a:pPr indent="0" marL="0">
              <a:buNone/>
            </a:pPr>
            <a:r>
              <a:rPr lang="en-US" sz="1200" dirty="0">
                <a:solidFill>
                  <a:srgbClr val="4A5568"/>
                </a:solidFill>
              </a:rPr>
              <a:t>of FY2021 dollars went to codes new that year</a:t>
            </a:r>
            <a:endParaRPr lang="en-US" sz="12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200" b="1" dirty="0">
                <a:solidFill>
                  <a:srgbClr val="1F2430"/>
                </a:solidFill>
                <a:latin typeface="Cambria" pitchFamily="34" charset="0"/>
                <a:ea typeface="Cambria" pitchFamily="34" charset="-122"/>
                <a:cs typeface="Cambria" pitchFamily="34" charset="-120"/>
              </a:rPr>
              <a:t>Backup: yearly swings are larger than the 500-point cutoff</a:t>
            </a:r>
            <a:endParaRPr lang="en-US" sz="2200" dirty="0"/>
          </a:p>
        </p:txBody>
      </p:sp>
      <p:sp>
        <p:nvSpPr>
          <p:cNvPr id="4" name="backup note"/>
          <p:cNvSpPr txBox="1"/>
          <p:nvPr/>
        </p:nvSpPr>
        <p:spPr>
          <a:xfrm>
            <a:off x="457200" y="4069080"/>
            <a:ext cx="8229600" cy="685800"/>
          </a:xfrm>
          <a:prstGeom prst="rect">
            <a:avLst/>
          </a:prstGeom>
          <a:noFill/>
          <a:ln/>
        </p:spPr>
        <p:txBody>
          <a:bodyPr wrap="square" lIns="0" tIns="0" rIns="0" bIns="0" rtlCol="0" anchor="t"/>
          <a:lstStyle/>
          <a:p>
            <a:pPr indent="0" marL="0">
              <a:buNone/>
            </a:pPr>
            <a:r>
              <a:rPr lang="en-US" sz="1200" dirty="0">
                <a:solidFill>
                  <a:srgbClr val="4A5568"/>
                </a:solidFill>
              </a:rPr>
              <a:t>A line is one agency and one product code, FY2012 to FY2020, with at least 6 scored years and $10 million. Shuffling keeps each line's yearly scores and drops their order, so it shows what noise alone produces.</a:t>
            </a:r>
            <a:endParaRPr lang="en-US" sz="1200" dirty="0"/>
          </a:p>
        </p:txBody>
      </p:sp>
      <p:graphicFrame>
        <p:nvGraphicFramePr>
          <p:cNvPr id="5" name="noise chart" descr=""/>
          <p:cNvGraphicFramePr/>
          <p:nvPr/>
        </p:nvGraphicFramePr>
        <p:xfrm>
          <a:off x="365760" y="914400"/>
          <a:ext cx="51206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715000" y="1097280"/>
          <a:ext cx="2971800" cy="914400"/>
        </p:xfrm>
        <a:graphic>
          <a:graphicData uri="http://schemas.openxmlformats.org/drawingml/2006/table">
            <a:tbl>
              <a:tblPr/>
              <a:tblGrid>
                <a:gridCol w="822960"/>
                <a:gridCol w="1005840"/>
                <a:gridCol w="1143000"/>
              </a:tblGrid>
              <a:tr h="0">
                <a:tc>
                  <a:txBody>
                    <a:bodyPr/>
                    <a:lstStyle/>
                    <a:p>
                      <a:pPr indent="0" marL="0">
                        <a:buNone/>
                      </a:pPr>
                      <a:r>
                        <a:rPr lang="en-US" sz="1100" b="1" dirty="0">
                          <a:solidFill>
                            <a:srgbClr val="FFFFFF"/>
                          </a:solidFill>
                        </a:rPr>
                        <a:t>Cutoff</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Lines rising</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Years shuffled</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r>
              <a:tr h="0">
                <a:tc>
                  <a:txBody>
                    <a:bodyPr/>
                    <a:lstStyle/>
                    <a:p>
                      <a:pPr indent="0" marL="0">
                        <a:buNone/>
                      </a:pPr>
                      <a:r>
                        <a:rPr lang="en-US" sz="1100" dirty="0">
                          <a:solidFill>
                            <a:srgbClr val="1F2430"/>
                          </a:solidFill>
                        </a:rPr>
                        <a:t>250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44.8%</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36.1%</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430"/>
                          </a:solidFill>
                        </a:rPr>
                        <a:t>500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37.9%</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28.2%</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430"/>
                          </a:solidFill>
                        </a:rPr>
                        <a:t>1,000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28.4%</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18.0%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200" b="1" dirty="0">
                <a:solidFill>
                  <a:srgbClr val="1F2430"/>
                </a:solidFill>
                <a:latin typeface="Cambria" pitchFamily="34" charset="0"/>
                <a:ea typeface="Cambria" pitchFamily="34" charset="-122"/>
                <a:cs typeface="Cambria" pitchFamily="34" charset="-120"/>
              </a:rPr>
              <a:t>Backup: the 10 largest vendors, FY2008 to FY2025</a:t>
            </a:r>
            <a:endParaRPr lang="en-US" sz="2200" dirty="0"/>
          </a:p>
        </p:txBody>
      </p:sp>
      <p:sp>
        <p:nvSpPr>
          <p:cNvPr id="4" name="backup note"/>
          <p:cNvSpPr txBox="1"/>
          <p:nvPr/>
        </p:nvSpPr>
        <p:spPr>
          <a:xfrm>
            <a:off x="457200" y="4069080"/>
            <a:ext cx="8229600" cy="685800"/>
          </a:xfrm>
          <a:prstGeom prst="rect">
            <a:avLst/>
          </a:prstGeom>
          <a:noFill/>
          <a:ln/>
        </p:spPr>
        <p:txBody>
          <a:bodyPr wrap="square" lIns="0" tIns="0" rIns="0" bIns="0" rtlCol="0" anchor="t"/>
          <a:lstStyle/>
          <a:p>
            <a:pPr indent="0" marL="0">
              <a:buNone/>
            </a:pPr>
            <a:r>
              <a:rPr lang="en-US" sz="1200" dirty="0">
                <a:solidFill>
                  <a:srgbClr val="4A5568"/>
                </a:solidFill>
              </a:rPr>
              <a:t>Vendors are parent IDs as recorded at the time of each action. Names are the raw parent name carrying the most dollars, so they lag mergers: the RTX ID shows as United Technologies, and the Leidos ID as SAIC. A dated name list is planned for week 6.</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731520"/>
                <a:gridCol w="5486400"/>
                <a:gridCol w="2011680"/>
              </a:tblGrid>
              <a:tr h="246888">
                <a:tc>
                  <a:txBody>
                    <a:bodyPr/>
                    <a:lstStyle/>
                    <a:p>
                      <a:pPr indent="0" marL="0">
                        <a:buNone/>
                      </a:pPr>
                      <a:r>
                        <a:rPr lang="en-US" sz="1000" b="1" dirty="0">
                          <a:solidFill>
                            <a:srgbClr val="FFFFFF"/>
                          </a:solidFill>
                        </a:rPr>
                        <a:t>Rank</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000" b="1" dirty="0">
                          <a:solidFill>
                            <a:srgbClr val="FFFFFF"/>
                          </a:solidFill>
                        </a:rPr>
                        <a:t>Parent ID, by its name on the most dollars</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000" b="1" dirty="0">
                          <a:solidFill>
                            <a:srgbClr val="FFFFFF"/>
                          </a:solidFill>
                        </a:rPr>
                        <a:t>Net, FY2008 to FY2025</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r>
              <a:tr h="246888">
                <a:tc>
                  <a:txBody>
                    <a:bodyPr/>
                    <a:lstStyle/>
                    <a:p>
                      <a:pPr indent="0" marL="0">
                        <a:buNone/>
                      </a:pPr>
                      <a:r>
                        <a:rPr lang="en-US" sz="1000" dirty="0">
                          <a:solidFill>
                            <a:srgbClr val="1F2430"/>
                          </a:solidFill>
                        </a:rPr>
                        <a:t>1</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LOCKHEED MARTIN CORPORATION</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$784B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2</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THE BOEING COMPANY</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$412B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3</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GENERAL DYNAMICS CORPORATION</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$297B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4</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RAYTHEON COMPANY</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$193B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5</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NORTHROP GRUMMAN CORPORATION</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$191B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6</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UNITED TECHNOLOGIES CORPORATION</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$183B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7</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SAIC  INC.</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$127B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8</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MCKESSON CORPORATION</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$123B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9</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BAE SYSTEMS PLC</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$108B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F2430"/>
                          </a:solidFill>
                        </a:rPr>
                        <a:t>10</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HUNTINGTON INGALLS INDUSTRIES  INC.</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rPr>
                        <a:t>$101B</a:t>
                      </a:r>
                      <a:endParaRPr lang="en-US" sz="10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nchor="ctr"/>
          <a:lstStyle/>
          <a:p>
            <a:pPr algn="l" indent="0" marL="0">
              <a:buNone/>
            </a:pPr>
            <a:r>
              <a:rPr lang="en-US" sz="2200" b="1" dirty="0">
                <a:solidFill>
                  <a:srgbClr val="1F2430"/>
                </a:solidFill>
                <a:latin typeface="Cambria" pitchFamily="34" charset="0"/>
                <a:ea typeface="Cambria" pitchFamily="34" charset="-122"/>
                <a:cs typeface="Cambria" pitchFamily="34" charset="-120"/>
              </a:rPr>
              <a:t>Backup: some fields change coverage over time</a:t>
            </a:r>
            <a:endParaRPr lang="en-US" sz="2200" dirty="0"/>
          </a:p>
        </p:txBody>
      </p:sp>
      <p:sp>
        <p:nvSpPr>
          <p:cNvPr id="4" name="backup note"/>
          <p:cNvSpPr txBox="1"/>
          <p:nvPr/>
        </p:nvSpPr>
        <p:spPr>
          <a:xfrm>
            <a:off x="457200" y="4069080"/>
            <a:ext cx="8229600" cy="685800"/>
          </a:xfrm>
          <a:prstGeom prst="rect">
            <a:avLst/>
          </a:prstGeom>
          <a:noFill/>
          <a:ln/>
        </p:spPr>
        <p:txBody>
          <a:bodyPr wrap="square" lIns="0" tIns="0" rIns="0" bIns="0" rtlCol="0" anchor="t"/>
          <a:lstStyle/>
          <a:p>
            <a:pPr indent="0" marL="0">
              <a:buNone/>
            </a:pPr>
            <a:r>
              <a:rPr lang="en-US" sz="1200" dirty="0">
                <a:solidFill>
                  <a:srgbClr val="4A5568"/>
                </a:solidFill>
              </a:rPr>
              <a:t>Set-aside and offers fields are blank on many dollars from FY2018, and most of the blank rows are orders under contract vehicles. The order competition field is blank on 75% to 88% of dollars, since it applies only to some orders.</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108960"/>
                <a:gridCol w="1280160"/>
                <a:gridCol w="1280160"/>
                <a:gridCol w="1280160"/>
                <a:gridCol w="1280160"/>
              </a:tblGrid>
              <a:tr h="0">
                <a:tc>
                  <a:txBody>
                    <a:bodyPr/>
                    <a:lstStyle/>
                    <a:p>
                      <a:pPr indent="0" marL="0">
                        <a:buNone/>
                      </a:pPr>
                      <a:r>
                        <a:rPr lang="en-US" sz="1100" b="1" dirty="0">
                          <a:solidFill>
                            <a:srgbClr val="FFFFFF"/>
                          </a:solidFill>
                        </a:rPr>
                        <a:t>Share of dollars</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FY2008</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FY2012</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FY2018</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c>
                  <a:txBody>
                    <a:bodyPr/>
                    <a:lstStyle/>
                    <a:p>
                      <a:pPr indent="0" marL="0">
                        <a:buNone/>
                      </a:pPr>
                      <a:r>
                        <a:rPr lang="en-US" sz="1100" b="1" dirty="0">
                          <a:solidFill>
                            <a:srgbClr val="FFFFFF"/>
                          </a:solidFill>
                        </a:rPr>
                        <a:t>FY2025</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2E3A4D"/>
                    </a:solidFill>
                  </a:tcPr>
                </a:tc>
              </a:tr>
              <a:tr h="0">
                <a:tc>
                  <a:txBody>
                    <a:bodyPr/>
                    <a:lstStyle/>
                    <a:p>
                      <a:pPr indent="0" marL="0">
                        <a:buNone/>
                      </a:pPr>
                      <a:r>
                        <a:rPr lang="en-US" sz="1100" dirty="0">
                          <a:solidFill>
                            <a:srgbClr val="1F2430"/>
                          </a:solidFill>
                        </a:rPr>
                        <a:t>Sole source on the umbrella</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33.6%</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33.4%</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33.8%</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33.1%</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430"/>
                          </a:solidFill>
                        </a:rPr>
                        <a:t>Order field blank</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88.3%</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80.7%</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78.1%</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74.7%</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430"/>
                          </a:solidFill>
                        </a:rPr>
                        <a:t>Set-aside field blank</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5.3%</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4.0%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45.1%</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53.2%</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430"/>
                          </a:solidFill>
                        </a:rPr>
                        <a:t>Offers reported, share of competed</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100.0%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100.0%</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76.4%</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rgbClr val="1F2430"/>
                          </a:solidFill>
                        </a:rPr>
                        <a:t>69.7%</a:t>
                      </a:r>
                      <a:endParaRPr lang="en-US" sz="1100" dirty="0"/>
                    </a:p>
                  </a:txBody>
                  <a:tcPr marL="45720" marR="4572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4A5568"/>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federal contract money going to fewer companies?</dc:title>
  <dc:subject>PptxGenJS Presentation</dc:subject>
  <dc:creator>Suchitra Hole, Shivram Nekkanti, Andy Hannah</dc:creator>
  <cp:lastModifiedBy>Suchitra Hole, Shivram Nekkanti, Andy Hannah</cp:lastModifiedBy>
  <cp:revision>1</cp:revision>
  <dcterms:created xsi:type="dcterms:W3CDTF">2026-10-12T22:36:49Z</dcterms:created>
  <dcterms:modified xsi:type="dcterms:W3CDTF">2026-10-12T22:36:49Z</dcterms:modified>
</cp:coreProperties>
</file>