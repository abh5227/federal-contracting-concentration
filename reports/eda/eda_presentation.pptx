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e7deeb17-2e26-73e8-c06b-504fcf497ef1}">
          <p14:sldIdLst>
            <p14:sldId id="256"/>
            <p14:sldId id="257"/>
            <p14:sldId id="258"/>
            <p14:sldId id="259"/>
            <p14:sldId id="260"/>
            <p14:sldId id="261"/>
          </p14:sldIdLst>
        </p14:section>
        <p14:section name="Backup" id="{0194daf9-ba8c-c075-f151-e735acd4c818}">
          <p14:sldIdLst>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E3A4D"/>
                </a:solidFill>
                <a:latin typeface="+mn-lt"/>
              </a:defRPr>
            </a:pPr>
            <a:r>
              <a:rPr sz="1100" b="0" i="0" u="none" strike="noStrike">
                <a:solidFill>
                  <a:srgbClr val="2E3A4D"/>
                </a:solidFill>
                <a:latin typeface="+mn-lt"/>
              </a:rPr>
              <a:t>Share of each year's dollars in segments with HHI above 2,500</a:t>
            </a:r>
          </a:p>
        </c:rich>
      </c:tx>
      <c:layout/>
      <c:overlay val="0"/>
    </c:title>
    <c:autoTitleDeleted val="0"/>
    <c:plotArea>
      <c:layout/>
      <c:lineChart>
        <c:varyColors val="0"/>
        <c:ser>
          <c:idx val="0"/>
          <c:order val="0"/>
          <c:tx>
            <c:strRef>
              <c:f>Sheet1!$B$1</c:f>
              <c:strCache>
                <c:ptCount val="1"/>
                <c:pt idx="0">
                  <c:v>As recorded (V0)</c:v>
                </c:pt>
              </c:strCache>
            </c:strRef>
          </c:tx>
          <c:spPr>
            <a:solidFill>
              <a:srgbClr val="8A94A6"/>
            </a:solidFill>
            <a:ln w="31750" cap="flat">
              <a:solidFill>
                <a:srgbClr val="8A94A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4A6"/>
              </a:solidFill>
              <a:ln w="9525" cap="flat">
                <a:solidFill>
                  <a:srgbClr val="8A94A6"/>
                </a:solidFill>
                <a:prstDash val="solid"/>
                <a:round/>
              </a:ln>
              <a:effectLst/>
            </c:spPr>
          </c:marker>
          <c:cat>
            <c:multiLvlStrRef>
              <c:f>Sheet1!$A$2:$A$19</c:f>
              <c:multiLvlStrCache>
                <c:ptCount val="18"/>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pt idx="17">
                    <c:v>2025</c:v>
                  </c:pt>
                </c:lvl>
              </c:multiLvlStrCache>
            </c:multiLvlStrRef>
          </c:cat>
          <c:val>
            <c:numRef>
              <c:f>Sheet1!$B$2:$B$19</c:f>
              <c:numCache>
                <c:formatCode>General</c:formatCode>
                <c:ptCount val="18"/>
                <c:pt idx="0">
                  <c:v>46.69</c:v>
                </c:pt>
                <c:pt idx="1">
                  <c:v>40.2</c:v>
                </c:pt>
                <c:pt idx="2">
                  <c:v>41.51</c:v>
                </c:pt>
                <c:pt idx="3">
                  <c:v>39.18</c:v>
                </c:pt>
                <c:pt idx="4">
                  <c:v>39.55</c:v>
                </c:pt>
                <c:pt idx="5">
                  <c:v>41.39</c:v>
                </c:pt>
                <c:pt idx="6">
                  <c:v>39.51</c:v>
                </c:pt>
                <c:pt idx="7">
                  <c:v>41.01</c:v>
                </c:pt>
                <c:pt idx="8">
                  <c:v>42.63</c:v>
                </c:pt>
                <c:pt idx="9">
                  <c:v>44.31</c:v>
                </c:pt>
                <c:pt idx="10">
                  <c:v>43.3</c:v>
                </c:pt>
                <c:pt idx="11">
                  <c:v>46.26</c:v>
                </c:pt>
                <c:pt idx="12">
                  <c:v>47.02</c:v>
                </c:pt>
                <c:pt idx="13">
                  <c:v>44.22</c:v>
                </c:pt>
                <c:pt idx="14">
                  <c:v>49.78</c:v>
                </c:pt>
                <c:pt idx="15">
                  <c:v>48.72</c:v>
                </c:pt>
                <c:pt idx="16">
                  <c:v>35.52</c:v>
                </c:pt>
                <c:pt idx="17">
                  <c:v>50.32</c:v>
                </c:pt>
              </c:numCache>
            </c:numRef>
          </c:val>
          <c:smooth val="0"/>
        </c:ser>
        <c:ser>
          <c:idx val="1"/>
          <c:order val="1"/>
          <c:tx>
            <c:strRef>
              <c:f>Sheet1!$C$1</c:f>
              <c:strCache>
                <c:ptCount val="1"/>
                <c:pt idx="0">
                  <c:v>Decisions as proposed (V1)</c:v>
                </c:pt>
              </c:strCache>
            </c:strRef>
          </c:tx>
          <c:spPr>
            <a:solidFill>
              <a:srgbClr val="C2410C"/>
            </a:solidFill>
            <a:ln w="31750" cap="flat">
              <a:solidFill>
                <a:srgbClr val="C2410C"/>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2410C"/>
              </a:solidFill>
              <a:ln w="9525" cap="flat">
                <a:solidFill>
                  <a:srgbClr val="C2410C"/>
                </a:solidFill>
                <a:prstDash val="solid"/>
                <a:round/>
              </a:ln>
              <a:effectLst/>
            </c:spPr>
          </c:marker>
          <c:cat>
            <c:multiLvlStrRef>
              <c:f>Sheet1!$A$2:$A$19</c:f>
              <c:multiLvlStrCache>
                <c:ptCount val="18"/>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pt idx="17">
                    <c:v>2025</c:v>
                  </c:pt>
                </c:lvl>
              </c:multiLvlStrCache>
            </c:multiLvlStrRef>
          </c:cat>
          <c:val>
            <c:numRef>
              <c:f>Sheet1!$C$2:$C$19</c:f>
              <c:numCache>
                <c:formatCode>General</c:formatCode>
                <c:ptCount val="18"/>
                <c:pt idx="0">
                  <c:v>43.04</c:v>
                </c:pt>
                <c:pt idx="1">
                  <c:v>39.23</c:v>
                </c:pt>
                <c:pt idx="2">
                  <c:v>39.25</c:v>
                </c:pt>
                <c:pt idx="3">
                  <c:v>39.35</c:v>
                </c:pt>
                <c:pt idx="4">
                  <c:v>39.54</c:v>
                </c:pt>
                <c:pt idx="5">
                  <c:v>41.38</c:v>
                </c:pt>
                <c:pt idx="6">
                  <c:v>39.46</c:v>
                </c:pt>
                <c:pt idx="7">
                  <c:v>40.92</c:v>
                </c:pt>
                <c:pt idx="8">
                  <c:v>42.65</c:v>
                </c:pt>
                <c:pt idx="9">
                  <c:v>44.3</c:v>
                </c:pt>
                <c:pt idx="10">
                  <c:v>43.3</c:v>
                </c:pt>
                <c:pt idx="11">
                  <c:v>46.24</c:v>
                </c:pt>
                <c:pt idx="12">
                  <c:v>47.02</c:v>
                </c:pt>
                <c:pt idx="13">
                  <c:v>44.21</c:v>
                </c:pt>
                <c:pt idx="14">
                  <c:v>49.79</c:v>
                </c:pt>
                <c:pt idx="15">
                  <c:v>48.72</c:v>
                </c:pt>
                <c:pt idx="16">
                  <c:v>35.52</c:v>
                </c:pt>
                <c:pt idx="17">
                  <c:v>50.33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2E3A4D"/>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DE1E7"/>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2E3A4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E3A4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E3A4D"/>
                </a:solidFill>
                <a:latin typeface="+mn-lt"/>
              </a:defRPr>
            </a:pPr>
            <a:r>
              <a:rPr sz="1100" b="0" i="0" u="none" strike="noStrike">
                <a:solidFill>
                  <a:srgbClr val="2E3A4D"/>
                </a:solidFill>
                <a:latin typeface="+mn-lt"/>
              </a:rPr>
              <a:t>Share of dollars in segments with HHI above 2,500</a:t>
            </a:r>
          </a:p>
        </c:rich>
      </c:tx>
      <c:layout/>
      <c:overlay val="0"/>
    </c:title>
    <c:autoTitleDeleted val="0"/>
    <c:plotArea>
      <c:layout/>
      <c:barChart>
        <c:barDir val="col"/>
        <c:grouping val="clustered"/>
        <c:varyColors val="0"/>
        <c:ser>
          <c:idx val="0"/>
          <c:order val="0"/>
          <c:tx>
            <c:strRef>
              <c:f>Sheet1!$B$1</c:f>
              <c:strCache>
                <c:ptCount val="1"/>
                <c:pt idx="0">
                  <c:v>FY2008</c:v>
                </c:pt>
              </c:strCache>
            </c:strRef>
          </c:tx>
          <c:spPr>
            <a:solidFill>
              <a:srgbClr val="8A94A6"/>
            </a:solidFill>
            <a:effectLst/>
          </c:spPr>
          <c:invertIfNegative val="0"/>
          <c:dLbls>
            <c:numFmt formatCode="0&quot;%&quot;" sourceLinked="0"/>
            <c:txPr>
              <a:bodyPr/>
              <a:lstStyle/>
              <a:p>
                <a:pPr>
                  <a:defRPr b="0" i="0" strike="noStrike" sz="1000" u="none">
                    <a:solidFill>
                      <a:srgbClr val="2E3A4D"/>
                    </a:solidFill>
                    <a:latin typeface="+mn-lt"/>
                  </a:defRPr>
                </a:pPr>
              </a:p>
            </c:txPr>
            <c:showLegendKey val="0"/>
            <c:showVal val="1"/>
            <c:showCatName val="0"/>
            <c:showSerName val="0"/>
            <c:showPercent val="0"/>
            <c:showBubbleSize val="0"/>
            <c:showLeaderLines val="0"/>
          </c:dLbls>
          <c:cat>
            <c:multiLvlStrRef>
              <c:f>Sheet1!$A$2:$A$6</c:f>
              <c:multiLvlStrCache>
                <c:ptCount val="5"/>
                <c:lvl>
                  <c:pt idx="0">
                    <c:v>DoD</c:v>
                  </c:pt>
                  <c:pt idx="1">
                    <c:v>Civilian</c:v>
                  </c:pt>
                  <c:pt idx="2">
                    <c:v>Products</c:v>
                  </c:pt>
                  <c:pt idx="3">
                    <c:v>Services</c:v>
                  </c:pt>
                  <c:pt idx="4">
                    <c:v>Research</c:v>
                  </c:pt>
                </c:lvl>
              </c:multiLvlStrCache>
            </c:multiLvlStrRef>
          </c:cat>
          <c:val>
            <c:numRef>
              <c:f>Sheet1!$B$2:$B$6</c:f>
              <c:numCache>
                <c:formatCode>General</c:formatCode>
                <c:ptCount val="5"/>
                <c:pt idx="0">
                  <c:v>42.61</c:v>
                </c:pt>
                <c:pt idx="1">
                  <c:v>44.14</c:v>
                </c:pt>
                <c:pt idx="2">
                  <c:v>55.19</c:v>
                </c:pt>
                <c:pt idx="3">
                  <c:v>28.49</c:v>
                </c:pt>
                <c:pt idx="4">
                  <c:v>58.72</c:v>
                </c:pt>
              </c:numCache>
            </c:numRef>
          </c:val>
        </c:ser>
        <c:ser>
          <c:idx val="1"/>
          <c:order val="1"/>
          <c:tx>
            <c:strRef>
              <c:f>Sheet1!$C$1</c:f>
              <c:strCache>
                <c:ptCount val="1"/>
                <c:pt idx="0">
                  <c:v>FY2025</c:v>
                </c:pt>
              </c:strCache>
            </c:strRef>
          </c:tx>
          <c:spPr>
            <a:solidFill>
              <a:srgbClr val="C2410C"/>
            </a:solidFill>
            <a:effectLst/>
          </c:spPr>
          <c:invertIfNegative val="0"/>
          <c:dLbls>
            <c:numFmt formatCode="0&quot;%&quot;" sourceLinked="0"/>
            <c:txPr>
              <a:bodyPr/>
              <a:lstStyle/>
              <a:p>
                <a:pPr>
                  <a:defRPr b="0" i="0" strike="noStrike" sz="1000" u="none">
                    <a:solidFill>
                      <a:srgbClr val="2E3A4D"/>
                    </a:solidFill>
                    <a:latin typeface="+mn-lt"/>
                  </a:defRPr>
                </a:pPr>
              </a:p>
            </c:txPr>
            <c:showLegendKey val="0"/>
            <c:showVal val="1"/>
            <c:showCatName val="0"/>
            <c:showSerName val="0"/>
            <c:showPercent val="0"/>
            <c:showBubbleSize val="0"/>
            <c:showLeaderLines val="0"/>
          </c:dLbls>
          <c:cat>
            <c:multiLvlStrRef>
              <c:f>Sheet1!$A$2:$A$6</c:f>
              <c:multiLvlStrCache>
                <c:ptCount val="5"/>
                <c:lvl>
                  <c:pt idx="0">
                    <c:v>DoD</c:v>
                  </c:pt>
                  <c:pt idx="1">
                    <c:v>Civilian</c:v>
                  </c:pt>
                  <c:pt idx="2">
                    <c:v>Products</c:v>
                  </c:pt>
                  <c:pt idx="3">
                    <c:v>Services</c:v>
                  </c:pt>
                  <c:pt idx="4">
                    <c:v>Research</c:v>
                  </c:pt>
                </c:lvl>
              </c:multiLvlStrCache>
            </c:multiLvlStrRef>
          </c:cat>
          <c:val>
            <c:numRef>
              <c:f>Sheet1!$C$2:$C$6</c:f>
              <c:numCache>
                <c:formatCode>General</c:formatCode>
                <c:ptCount val="5"/>
                <c:pt idx="0">
                  <c:v>50.23</c:v>
                </c:pt>
                <c:pt idx="1">
                  <c:v>50.49</c:v>
                </c:pt>
                <c:pt idx="2">
                  <c:v>69.17</c:v>
                </c:pt>
                <c:pt idx="3">
                  <c:v>38.93</c:v>
                </c:pt>
                <c:pt idx="4">
                  <c:v>35.43</c:v>
                </c:pt>
              </c:numCache>
            </c:numRef>
          </c:val>
        </c:ser>
        <c:dLbls>
          <c:numFmt formatCode="0&quot;%&quot;" sourceLinked="0"/>
          <c:txPr>
            <a:bodyPr/>
            <a:lstStyle/>
            <a:p>
              <a:pPr>
                <a:defRPr b="0" i="0" strike="noStrike" sz="1000" u="none">
                  <a:solidFill>
                    <a:srgbClr val="2E3A4D"/>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2E3A4D"/>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DE1E7"/>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2E3A4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E3A4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E3A4D"/>
                </a:solidFill>
                <a:latin typeface="+mn-lt"/>
              </a:defRPr>
            </a:pPr>
            <a:r>
              <a:rPr sz="1100" b="0" i="0" u="none" strike="noStrike">
                <a:solidFill>
                  <a:srgbClr val="2E3A4D"/>
                </a:solidFill>
                <a:latin typeface="+mn-lt"/>
              </a:rPr>
              <a:t>Yearly change in HHI by segment size, smallest (D1) to largest (D10)</a:t>
            </a:r>
          </a:p>
        </c:rich>
      </c:tx>
      <c:layout/>
      <c:overlay val="0"/>
    </c:title>
    <c:autoTitleDeleted val="0"/>
    <c:plotArea>
      <c:layout/>
      <c:barChart>
        <c:barDir val="col"/>
        <c:grouping val="clustered"/>
        <c:varyColors val="0"/>
        <c:ser>
          <c:idx val="0"/>
          <c:order val="0"/>
          <c:tx>
            <c:strRef>
              <c:f>Sheet1!$B$1</c:f>
              <c:strCache>
                <c:ptCount val="1"/>
                <c:pt idx="0">
                  <c:v>Median yearly change</c:v>
                </c:pt>
              </c:strCache>
            </c:strRef>
          </c:tx>
          <c:spPr>
            <a:solidFill>
              <a:srgbClr val="2E3A4D"/>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Sheet1!$A$2:$A$11</c:f>
              <c:multiLvlStrCache>
                <c:ptCount val="10"/>
                <c:lvl>
                  <c:pt idx="0">
                    <c:v>D1</c:v>
                  </c:pt>
                  <c:pt idx="1">
                    <c:v>D2</c:v>
                  </c:pt>
                  <c:pt idx="2">
                    <c:v>D3</c:v>
                  </c:pt>
                  <c:pt idx="3">
                    <c:v>D4</c:v>
                  </c:pt>
                  <c:pt idx="4">
                    <c:v>D5</c:v>
                  </c:pt>
                  <c:pt idx="5">
                    <c:v>D6</c:v>
                  </c:pt>
                  <c:pt idx="6">
                    <c:v>D7</c:v>
                  </c:pt>
                  <c:pt idx="7">
                    <c:v>D8</c:v>
                  </c:pt>
                  <c:pt idx="8">
                    <c:v>D9</c:v>
                  </c:pt>
                  <c:pt idx="9">
                    <c:v>D10</c:v>
                  </c:pt>
                </c:lvl>
              </c:multiLvlStrCache>
            </c:multiLvlStrRef>
          </c:cat>
          <c:val>
            <c:numRef>
              <c:f>Sheet1!$B$2:$B$11</c:f>
              <c:numCache>
                <c:formatCode>General</c:formatCode>
                <c:ptCount val="10"/>
                <c:pt idx="0">
                  <c:v>0</c:v>
                </c:pt>
                <c:pt idx="1">
                  <c:v>1396.9</c:v>
                </c:pt>
                <c:pt idx="2">
                  <c:v>1401.3</c:v>
                </c:pt>
                <c:pt idx="3">
                  <c:v>1235.8</c:v>
                </c:pt>
                <c:pt idx="4">
                  <c:v>1107.3</c:v>
                </c:pt>
                <c:pt idx="5">
                  <c:v>976.1</c:v>
                </c:pt>
                <c:pt idx="6">
                  <c:v>894.5</c:v>
                </c:pt>
                <c:pt idx="7">
                  <c:v>780</c:v>
                </c:pt>
                <c:pt idx="8">
                  <c:v>652.5</c:v>
                </c:pt>
                <c:pt idx="9">
                  <c:v>363.9</c:v>
                </c:pt>
              </c:numCache>
            </c:numRef>
          </c:val>
        </c:ser>
        <c:ser>
          <c:idx val="1"/>
          <c:order val="1"/>
          <c:tx>
            <c:strRef>
              <c:f>Sheet1!$C$1</c:f>
              <c:strCache>
                <c:ptCount val="1"/>
                <c:pt idx="0">
                  <c:v>90th percentile</c:v>
                </c:pt>
              </c:strCache>
            </c:strRef>
          </c:tx>
          <c:spPr>
            <a:solidFill>
              <a:srgbClr val="B9C0CC"/>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Sheet1!$A$2:$A$11</c:f>
              <c:multiLvlStrCache>
                <c:ptCount val="10"/>
                <c:lvl>
                  <c:pt idx="0">
                    <c:v>D1</c:v>
                  </c:pt>
                  <c:pt idx="1">
                    <c:v>D2</c:v>
                  </c:pt>
                  <c:pt idx="2">
                    <c:v>D3</c:v>
                  </c:pt>
                  <c:pt idx="3">
                    <c:v>D4</c:v>
                  </c:pt>
                  <c:pt idx="4">
                    <c:v>D5</c:v>
                  </c:pt>
                  <c:pt idx="5">
                    <c:v>D6</c:v>
                  </c:pt>
                  <c:pt idx="6">
                    <c:v>D7</c:v>
                  </c:pt>
                  <c:pt idx="7">
                    <c:v>D8</c:v>
                  </c:pt>
                  <c:pt idx="8">
                    <c:v>D9</c:v>
                  </c:pt>
                  <c:pt idx="9">
                    <c:v>D10</c:v>
                  </c:pt>
                </c:lvl>
              </c:multiLvlStrCache>
            </c:multiLvlStrRef>
          </c:cat>
          <c:val>
            <c:numRef>
              <c:f>Sheet1!$C$2:$C$11</c:f>
              <c:numCache>
                <c:formatCode>General</c:formatCode>
                <c:ptCount val="10"/>
                <c:pt idx="0">
                  <c:v>4927.8</c:v>
                </c:pt>
                <c:pt idx="1">
                  <c:v>5376</c:v>
                </c:pt>
                <c:pt idx="2">
                  <c:v>4999.9</c:v>
                </c:pt>
                <c:pt idx="3">
                  <c:v>4799.6</c:v>
                </c:pt>
                <c:pt idx="4">
                  <c:v>4540.5</c:v>
                </c:pt>
                <c:pt idx="5">
                  <c:v>4388.3</c:v>
                </c:pt>
                <c:pt idx="6">
                  <c:v>4104.5</c:v>
                </c:pt>
                <c:pt idx="7">
                  <c:v>3862</c:v>
                </c:pt>
                <c:pt idx="8">
                  <c:v>3361.8</c:v>
                </c:pt>
                <c:pt idx="9">
                  <c:v>2384.3</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lineChart>
        <c:varyColors val="0"/>
        <c:ser>
          <c:idx val="2"/>
          <c:order val="2"/>
          <c:tx>
            <c:strRef>
              <c:f>Sheet1!$D$1</c:f>
              <c:strCache>
                <c:ptCount val="1"/>
                <c:pt idx="0">
                  <c:v>500-point cutoff</c:v>
                </c:pt>
              </c:strCache>
            </c:strRef>
          </c:tx>
          <c:spPr>
            <a:solidFill>
              <a:srgbClr val="C2410C"/>
            </a:solidFill>
            <a:ln w="25400" cap="flat">
              <a:solidFill>
                <a:srgbClr val="C2410C"/>
              </a:solidFill>
              <a:prstDash val="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2410C"/>
              </a:solidFill>
              <a:ln w="9525" cap="flat">
                <a:solidFill>
                  <a:srgbClr val="C2410C"/>
                </a:solidFill>
                <a:prstDash val="solid"/>
                <a:round/>
              </a:ln>
              <a:effectLst/>
            </c:spPr>
          </c:marker>
          <c:cat>
            <c:multiLvlStrRef>
              <c:f>Sheet1!$A$2:$A$11</c:f>
              <c:multiLvlStrCache>
                <c:ptCount val="10"/>
                <c:lvl>
                  <c:pt idx="0">
                    <c:v>D1</c:v>
                  </c:pt>
                  <c:pt idx="1">
                    <c:v>D2</c:v>
                  </c:pt>
                  <c:pt idx="2">
                    <c:v>D3</c:v>
                  </c:pt>
                  <c:pt idx="3">
                    <c:v>D4</c:v>
                  </c:pt>
                  <c:pt idx="4">
                    <c:v>D5</c:v>
                  </c:pt>
                  <c:pt idx="5">
                    <c:v>D6</c:v>
                  </c:pt>
                  <c:pt idx="6">
                    <c:v>D7</c:v>
                  </c:pt>
                  <c:pt idx="7">
                    <c:v>D8</c:v>
                  </c:pt>
                  <c:pt idx="8">
                    <c:v>D9</c:v>
                  </c:pt>
                  <c:pt idx="9">
                    <c:v>D10</c:v>
                  </c:pt>
                </c:lvl>
              </c:multiLvlStrCache>
            </c:multiLvlStrRef>
          </c:cat>
          <c:val>
            <c:numRef>
              <c:f>Sheet1!$D$2:$D$11</c:f>
              <c:numCache>
                <c:formatCode>General</c:formatCode>
                <c:ptCount val="10"/>
                <c:pt idx="0">
                  <c:v>500</c:v>
                </c:pt>
                <c:pt idx="1">
                  <c:v>500</c:v>
                </c:pt>
                <c:pt idx="2">
                  <c:v>500</c:v>
                </c:pt>
                <c:pt idx="3">
                  <c:v>500</c:v>
                </c:pt>
                <c:pt idx="4">
                  <c:v>500</c:v>
                </c:pt>
                <c:pt idx="5">
                  <c:v>500</c:v>
                </c:pt>
                <c:pt idx="6">
                  <c:v>500</c:v>
                </c:pt>
                <c:pt idx="7">
                  <c:v>500</c:v>
                </c:pt>
                <c:pt idx="8">
                  <c:v>500</c:v>
                </c:pt>
                <c:pt idx="9">
                  <c:v>500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2E3A4D"/>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DE1E7"/>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2E3A4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E3A4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first look at the full 18 years. Every number here is exploratory: none of the team's nine data decisions is final, and the slides use the proposed version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We use every federal contract transaction from FY2008 to FY2025. We split them into segments, one agency buying one product in one year, and score each segment with the HHI. Five equal vendors score 2,000. One vendor with 80% scores 6,500. Above 2,500 counts as highly concentrated. Our copy of the data is verified row by row against the published files, and our yearly totals are within 0.2% of GAO's.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share of each year's dollars that sits in segments scoring above 2,500. It was 43% in FY2008 and 39% to 41% from FY2011 to FY2014, then rose to about 50% by FY2022 and again in FY2025. In FY2024 it dipped to 36%. The two largest drops that year were Defense segments, combat ships and fixed-wing aircraft, which fell below 2,500 and rose back in FY2025. Large multi-year awards make single years jumpy, so we judge trends over many years. The two lines are the data as recorded and with our proposed data decisions applied. They differ only in FY2008 to FY2010, the years of a $13.9 billion entry reversed across two fiscal years and the two $10 billion US Mint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Defense and civilian agencies look alike: about half of each one's FY2025 dollars sit in highly concentrated segments, up from 43% and 44% in FY2008. The difference is what is bought. For products, 69% of FY2025 dollars sit in highly concentrated segments, against 39% for services. Research went the other way, from 59% to 35%. Single-vendor segments are common but small: 30% of FY2025 segments have one vendor, and they hold under 2% of the year's dollars. So the story is about large segments with a few big vendors, not about many tiny sole-source purchases.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expected the two product code manual changes to break our trend lines into short eras, which would have left only 9 usable years. The data says otherwise. The codes that stopped at either change held almost no dollars. 88.5% of all dollars are on codes used in all three periods. What happened is that new codes were added and some spending moved onto them: 6.5% of FY2012 dollars, 87% of them construction and repair, and 4.4% of FY2021 dollars, almost all of them IT. So we can follow most lines for all 18 years and handle IT and construction with a crosswalk.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plan calls a line rising when it gains 500 points. But HHI moves a lot by chance: the typical yearly change is about 360 points in the largest segments and over 1,000 in smaller ones. Under the 500-point rule, 38% of lines rise. When we shuffle each line's years, 28% still rise. So most of what the rule calls rising is noise, although rising does beat chance by about 10 points and falling does not. Next we set the cutoff against that shuffled baseline, map IT and construction codes, fix the thin-line rule and settle the data decisions with our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all 18 years, the proposed decisions change the concentration band of under 1% of segments, and more segments leave the highly concentrated band than enter it. The variant without large deobligations needs flags from a pipeline step that is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largest parent IDs over 18 years. The names come straight from the records and lag mergers, which the integrity report also found, so we will build a dated name list before naming vendors in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Sole-source share is stable at about a third of dollars. Two fields change coverage in FY2018, which matters for question 3: we will measure set-aside and offers on the vehicle, or limit them to the years where they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463040"/>
          </a:xfrm>
          <a:prstGeom prst="rect">
            <a:avLst/>
          </a:prstGeom>
          <a:noFill/>
          <a:ln/>
        </p:spPr>
        <p:txBody>
          <a:bodyPr wrap="square" rtlCol="0"/>
          <a:lstStyle>
            <a:lvl1pPr indent="0" marL="0">
              <a:buNone/>
              <a:defRPr lang="en-US" sz="3600" b="1" dirty="0">
                <a:solidFill>
                  <a:srgbClr val="FFFFFF"/>
                </a:solidFill>
                <a:latin typeface="Cambria" pitchFamily="34" charset="0"/>
                <a:ea typeface="Cambria" pitchFamily="34" charset="-122"/>
                <a:cs typeface="Cambria" pitchFamily="34" charset="-120"/>
              </a:defRPr>
            </a:lvl1pPr>
          </a:lstStyle>
          <a:p>
            <a:pPr indent="0" marL="0">
              <a:buNone/>
            </a:pPr>
            <a:endParaRPr lang="en-US" sz="3600" dirty="0"/>
          </a:p>
        </p:txBody>
      </p:sp>
      <p:sp>
        <p:nvSpPr>
          <p:cNvPr id="3" name="Text 0"/>
          <p:cNvSpPr/>
          <p:nvPr>
            <p:ph idx="101" type="body" hasCustomPrompt="1"/>
          </p:nvPr>
        </p:nvSpPr>
        <p:spPr>
          <a:xfrm>
            <a:off x="548640" y="3017520"/>
            <a:ext cx="8046720" cy="914400"/>
          </a:xfrm>
          <a:prstGeom prst="rect">
            <a:avLst/>
          </a:prstGeom>
          <a:noFill/>
          <a:ln/>
        </p:spPr>
        <p:txBody>
          <a:bodyPr wrap="square" rtlCol="0"/>
          <a:lstStyle>
            <a:lvl1pPr indent="0" marL="0">
              <a:buNone/>
              <a:defRPr lang="en-US" sz="1600" dirty="0">
                <a:solidFill>
                  <a:srgbClr val="EEF0F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indent="0" marL="0">
              <a:buNone/>
              <a:defRPr lang="en-US" sz="2600" b="1" dirty="0">
                <a:solidFill>
                  <a:srgbClr val="1F2430"/>
                </a:solidFill>
                <a:latin typeface="Cambria" pitchFamily="34" charset="0"/>
                <a:ea typeface="Cambria" pitchFamily="34" charset="-122"/>
                <a:cs typeface="Cambria" pitchFamily="34" charset="-120"/>
              </a:defRPr>
            </a:lvl1pPr>
          </a:lstStyle>
          <a:p>
            <a:pPr indent="0" marL="0">
              <a:buNone/>
            </a:pPr>
            <a:endParaRPr lang="en-US" sz="2600" dirty="0"/>
          </a:p>
        </p:txBody>
      </p:sp>
      <p:sp>
        <p:nvSpPr>
          <p:cNvPr id="3" name="Text 0"/>
          <p:cNvSpPr/>
          <p:nvPr/>
        </p:nvSpPr>
        <p:spPr>
          <a:xfrm>
            <a:off x="457200" y="4800600"/>
            <a:ext cx="6858000" cy="228600"/>
          </a:xfrm>
          <a:prstGeom prst="rect">
            <a:avLst/>
          </a:prstGeom>
          <a:noFill/>
          <a:ln/>
        </p:spPr>
        <p:txBody>
          <a:bodyPr wrap="square" rtlCol="0" anchor="ctr"/>
          <a:lstStyle/>
          <a:p>
            <a:pPr indent="0" marL="0">
              <a:buNone/>
            </a:pPr>
            <a:r>
              <a:rPr lang="en-US" sz="900" dirty="0">
                <a:solidFill>
                  <a:srgbClr val="2E3A4D"/>
                </a:solidFill>
              </a:rPr>
              <a:t>Federal contracting concentration, FY2008 to FY2025  |  EDA, October 2026</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rgbClr val="EEF0F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indent="0" marL="0">
              <a:buNone/>
              <a:defRPr lang="en-US" sz="2200" b="1" dirty="0">
                <a:solidFill>
                  <a:srgbClr val="1F2430"/>
                </a:solidFill>
                <a:latin typeface="Cambria" pitchFamily="34" charset="0"/>
                <a:ea typeface="Cambria" pitchFamily="34" charset="-122"/>
                <a:cs typeface="Cambria" pitchFamily="34" charset="-120"/>
              </a:defRPr>
            </a:lvl1pPr>
          </a:lstStyle>
          <a:p>
            <a:pPr indent="0" marL="0">
              <a:buNone/>
            </a:pPr>
            <a:endParaRPr lang="en-US" sz="2200" dirty="0"/>
          </a:p>
        </p:txBody>
      </p:sp>
      <p:sp>
        <p:nvSpPr>
          <p:cNvPr id="3" name="Text 0"/>
          <p:cNvSpPr/>
          <p:nvPr/>
        </p:nvSpPr>
        <p:spPr>
          <a:xfrm>
            <a:off x="457200" y="4800600"/>
            <a:ext cx="6858000" cy="228600"/>
          </a:xfrm>
          <a:prstGeom prst="rect">
            <a:avLst/>
          </a:prstGeom>
          <a:noFill/>
          <a:ln/>
        </p:spPr>
        <p:txBody>
          <a:bodyPr wrap="square" rtlCol="0" anchor="ctr"/>
          <a:lstStyle/>
          <a:p>
            <a:pPr indent="0" marL="0">
              <a:buNone/>
            </a:pPr>
            <a:r>
              <a:rPr lang="en-US" sz="900" dirty="0">
                <a:solidFill>
                  <a:srgbClr val="2E3A4D"/>
                </a:solidFill>
              </a:rPr>
              <a:t>Federal contracting concentration, FY2008 to FY2025  |  EDA, October 2026</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463040"/>
          </a:xfrm>
          <a:prstGeom prst="rect">
            <a:avLst/>
          </a:prstGeom>
          <a:noFill/>
          <a:ln/>
        </p:spPr>
        <p:txBody>
          <a:bodyPr wrap="square"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Who wins federal contracts? A first look at 18 years of vendor concentration</a:t>
            </a:r>
            <a:endParaRPr lang="en-US" sz="3600" dirty="0"/>
          </a:p>
        </p:txBody>
      </p:sp>
      <p:sp>
        <p:nvSpPr>
          <p:cNvPr id="3" name="Text 0"/>
          <p:cNvSpPr/>
          <p:nvPr>
            <p:ph idx="101" type="body" hasCustomPrompt="1"/>
          </p:nvPr>
        </p:nvSpPr>
        <p:spPr>
          <a:xfrm>
            <a:off x="548640" y="3017520"/>
            <a:ext cx="8046720" cy="914400"/>
          </a:xfrm>
          <a:prstGeom prst="rect">
            <a:avLst/>
          </a:prstGeom>
          <a:noFill/>
          <a:ln/>
        </p:spPr>
        <p:txBody>
          <a:bodyPr wrap="square" rtlCol="0" anchor="t"/>
          <a:lstStyle/>
          <a:p>
            <a:pPr indent="0" marL="0">
              <a:buNone/>
            </a:pPr>
            <a:r>
              <a:rPr lang="en-US" sz="1600" dirty="0">
                <a:solidFill>
                  <a:srgbClr val="EEF0F3"/>
                </a:solidFill>
              </a:rPr>
              <a:t>Suchitra Hole, Shivram Nekkanti, Andy Hannah  |  Exploratory analysis,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600" b="1" dirty="0">
                <a:solidFill>
                  <a:srgbClr val="1F2430"/>
                </a:solidFill>
                <a:latin typeface="Cambria" pitchFamily="34" charset="0"/>
                <a:ea typeface="Cambria" pitchFamily="34" charset="-122"/>
                <a:cs typeface="Cambria" pitchFamily="34" charset="-120"/>
              </a:rPr>
              <a:t>One score for every agency, product and year</a:t>
            </a:r>
            <a:endParaRPr lang="en-US" sz="2600" dirty="0"/>
          </a:p>
        </p:txBody>
      </p:sp>
      <p:sp>
        <p:nvSpPr>
          <p:cNvPr id="4" name="rows value"/>
          <p:cNvSpPr txBox="1"/>
          <p:nvPr/>
        </p:nvSpPr>
        <p:spPr>
          <a:xfrm>
            <a:off x="457200" y="1325880"/>
            <a:ext cx="1828800" cy="685800"/>
          </a:xfrm>
          <a:prstGeom prst="rect">
            <a:avLst/>
          </a:prstGeom>
          <a:noFill/>
          <a:ln/>
        </p:spPr>
        <p:txBody>
          <a:bodyPr wrap="square" lIns="0" tIns="0" rIns="0" bIns="0" rtlCol="0" anchor="ctr"/>
          <a:lstStyle/>
          <a:p>
            <a:pPr indent="0" marL="0">
              <a:buNone/>
            </a:pPr>
            <a:r>
              <a:rPr lang="en-US" sz="3600" b="1" dirty="0">
                <a:solidFill>
                  <a:srgbClr val="C2410C"/>
                </a:solidFill>
                <a:latin typeface="Cambria" pitchFamily="34" charset="0"/>
                <a:ea typeface="Cambria" pitchFamily="34" charset="-122"/>
                <a:cs typeface="Cambria" pitchFamily="34" charset="-120"/>
              </a:rPr>
              <a:t>88.8M</a:t>
            </a:r>
            <a:endParaRPr lang="en-US" sz="3600" dirty="0"/>
          </a:p>
        </p:txBody>
      </p:sp>
      <p:sp>
        <p:nvSpPr>
          <p:cNvPr id="5" name="rows label"/>
          <p:cNvSpPr txBox="1"/>
          <p:nvPr/>
        </p:nvSpPr>
        <p:spPr>
          <a:xfrm>
            <a:off x="457200" y="2011680"/>
            <a:ext cx="1828800" cy="548640"/>
          </a:xfrm>
          <a:prstGeom prst="rect">
            <a:avLst/>
          </a:prstGeom>
          <a:noFill/>
          <a:ln/>
        </p:spPr>
        <p:txBody>
          <a:bodyPr wrap="square" lIns="0" tIns="0" rIns="0" bIns="0" rtlCol="0" anchor="t"/>
          <a:lstStyle/>
          <a:p>
            <a:pPr indent="0" marL="0">
              <a:buNone/>
            </a:pPr>
            <a:r>
              <a:rPr lang="en-US" sz="1200" dirty="0">
                <a:solidFill>
                  <a:srgbClr val="2E3A4D"/>
                </a:solidFill>
              </a:rPr>
              <a:t>contract transactions, FY2008 to FY2025</a:t>
            </a:r>
            <a:endParaRPr lang="en-US" sz="1200" dirty="0"/>
          </a:p>
        </p:txBody>
      </p:sp>
      <p:sp>
        <p:nvSpPr>
          <p:cNvPr id="6" name="segments value"/>
          <p:cNvSpPr txBox="1"/>
          <p:nvPr/>
        </p:nvSpPr>
        <p:spPr>
          <a:xfrm>
            <a:off x="457200" y="2606040"/>
            <a:ext cx="1828800" cy="685800"/>
          </a:xfrm>
          <a:prstGeom prst="rect">
            <a:avLst/>
          </a:prstGeom>
          <a:noFill/>
          <a:ln/>
        </p:spPr>
        <p:txBody>
          <a:bodyPr wrap="square" lIns="0" tIns="0" rIns="0" bIns="0" rtlCol="0" anchor="ctr"/>
          <a:lstStyle/>
          <a:p>
            <a:pPr indent="0" marL="0">
              <a:buNone/>
            </a:pPr>
            <a:r>
              <a:rPr lang="en-US" sz="3600" b="1" dirty="0">
                <a:solidFill>
                  <a:srgbClr val="2E3A4D"/>
                </a:solidFill>
                <a:latin typeface="Cambria" pitchFamily="34" charset="0"/>
                <a:ea typeface="Cambria" pitchFamily="34" charset="-122"/>
                <a:cs typeface="Cambria" pitchFamily="34" charset="-120"/>
              </a:rPr>
              <a:t>365K</a:t>
            </a:r>
            <a:endParaRPr lang="en-US" sz="3600" dirty="0"/>
          </a:p>
        </p:txBody>
      </p:sp>
      <p:sp>
        <p:nvSpPr>
          <p:cNvPr id="7" name="segments label"/>
          <p:cNvSpPr txBox="1"/>
          <p:nvPr/>
        </p:nvSpPr>
        <p:spPr>
          <a:xfrm>
            <a:off x="457200" y="3291840"/>
            <a:ext cx="1828800" cy="548640"/>
          </a:xfrm>
          <a:prstGeom prst="rect">
            <a:avLst/>
          </a:prstGeom>
          <a:noFill/>
          <a:ln/>
        </p:spPr>
        <p:txBody>
          <a:bodyPr wrap="square" lIns="0" tIns="0" rIns="0" bIns="0" rtlCol="0" anchor="t"/>
          <a:lstStyle/>
          <a:p>
            <a:pPr indent="0" marL="0">
              <a:buNone/>
            </a:pPr>
            <a:r>
              <a:rPr lang="en-US" sz="1200" dirty="0">
                <a:solidFill>
                  <a:srgbClr val="2E3A4D"/>
                </a:solidFill>
              </a:rPr>
              <a:t>segments: one agency, one product code, one year</a:t>
            </a:r>
            <a:endParaRPr lang="en-US" sz="1200" dirty="0"/>
          </a:p>
        </p:txBody>
      </p:sp>
      <p:sp>
        <p:nvSpPr>
          <p:cNvPr id="8" name="gao value"/>
          <p:cNvSpPr txBox="1"/>
          <p:nvPr/>
        </p:nvSpPr>
        <p:spPr>
          <a:xfrm>
            <a:off x="457200" y="3657600"/>
            <a:ext cx="1828800" cy="685800"/>
          </a:xfrm>
          <a:prstGeom prst="rect">
            <a:avLst/>
          </a:prstGeom>
          <a:noFill/>
          <a:ln/>
        </p:spPr>
        <p:txBody>
          <a:bodyPr wrap="square" lIns="0" tIns="0" rIns="0" bIns="0" rtlCol="0" anchor="ctr"/>
          <a:lstStyle/>
          <a:p>
            <a:pPr indent="0" marL="0">
              <a:buNone/>
            </a:pPr>
            <a:r>
              <a:rPr lang="en-US" sz="3600" b="1" dirty="0">
                <a:solidFill>
                  <a:srgbClr val="2E3A4D"/>
                </a:solidFill>
                <a:latin typeface="Cambria" pitchFamily="34" charset="0"/>
                <a:ea typeface="Cambria" pitchFamily="34" charset="-122"/>
                <a:cs typeface="Cambria" pitchFamily="34" charset="-120"/>
              </a:rPr>
              <a:t>0.2%</a:t>
            </a:r>
            <a:endParaRPr lang="en-US" sz="3600" dirty="0"/>
          </a:p>
        </p:txBody>
      </p:sp>
      <p:sp>
        <p:nvSpPr>
          <p:cNvPr id="9" name="gao label"/>
          <p:cNvSpPr txBox="1"/>
          <p:nvPr/>
        </p:nvSpPr>
        <p:spPr>
          <a:xfrm>
            <a:off x="457200" y="4343400"/>
            <a:ext cx="1828800" cy="548640"/>
          </a:xfrm>
          <a:prstGeom prst="rect">
            <a:avLst/>
          </a:prstGeom>
          <a:noFill/>
          <a:ln/>
        </p:spPr>
        <p:txBody>
          <a:bodyPr wrap="square" lIns="0" tIns="0" rIns="0" bIns="0" rtlCol="0" anchor="t"/>
          <a:lstStyle/>
          <a:p>
            <a:pPr indent="0" marL="0">
              <a:buNone/>
            </a:pPr>
            <a:r>
              <a:rPr lang="en-US" sz="1200" dirty="0">
                <a:solidFill>
                  <a:srgbClr val="2E3A4D"/>
                </a:solidFill>
              </a:rPr>
              <a:t>largest gap to GAO's totals, FY2022 to FY2025</a:t>
            </a:r>
            <a:endParaRPr lang="en-US" sz="1200" dirty="0"/>
          </a:p>
        </p:txBody>
      </p:sp>
      <p:sp>
        <p:nvSpPr>
          <p:cNvPr id="10" name="hhi heading"/>
          <p:cNvSpPr txBox="1"/>
          <p:nvPr/>
        </p:nvSpPr>
        <p:spPr>
          <a:xfrm>
            <a:off x="2743200" y="1280160"/>
            <a:ext cx="5943600" cy="320040"/>
          </a:xfrm>
          <a:prstGeom prst="rect">
            <a:avLst/>
          </a:prstGeom>
          <a:noFill/>
          <a:ln/>
        </p:spPr>
        <p:txBody>
          <a:bodyPr wrap="square" lIns="0" tIns="0" rIns="0" bIns="0" rtlCol="0" anchor="ctr"/>
          <a:lstStyle/>
          <a:p>
            <a:pPr indent="0" marL="0">
              <a:buNone/>
            </a:pPr>
            <a:r>
              <a:rPr lang="en-US" sz="1400" b="1" dirty="0">
                <a:solidFill>
                  <a:srgbClr val="1F2430"/>
                </a:solidFill>
              </a:rPr>
              <a:t>HHI: the sum of each vendor's squared percentage share</a:t>
            </a:r>
            <a:endParaRPr lang="en-US" sz="1400" dirty="0"/>
          </a:p>
        </p:txBody>
      </p:sp>
      <p:sp>
        <p:nvSpPr>
          <p:cNvPr id="11" name="hhi row 1 label"/>
          <p:cNvSpPr txBox="1"/>
          <p:nvPr/>
        </p:nvSpPr>
        <p:spPr>
          <a:xfrm>
            <a:off x="2743200" y="1581912"/>
            <a:ext cx="4023360" cy="256032"/>
          </a:xfrm>
          <a:prstGeom prst="rect">
            <a:avLst/>
          </a:prstGeom>
          <a:noFill/>
          <a:ln/>
        </p:spPr>
        <p:txBody>
          <a:bodyPr wrap="square" lIns="0" tIns="0" rIns="0" bIns="0" rtlCol="0" anchor="ctr"/>
          <a:lstStyle/>
          <a:p>
            <a:pPr indent="0" marL="0">
              <a:buNone/>
            </a:pPr>
            <a:r>
              <a:rPr lang="en-US" sz="1200" dirty="0">
                <a:solidFill>
                  <a:srgbClr val="2E3A4D"/>
                </a:solidFill>
              </a:rPr>
              <a:t>Five equal vendors</a:t>
            </a:r>
            <a:endParaRPr lang="en-US" sz="1200" dirty="0"/>
          </a:p>
        </p:txBody>
      </p:sp>
      <p:sp>
        <p:nvSpPr>
          <p:cNvPr id="12" name="hhi row 1 vendor 1"/>
          <p:cNvSpPr/>
          <p:nvPr/>
        </p:nvSpPr>
        <p:spPr>
          <a:xfrm>
            <a:off x="2752344" y="1874520"/>
            <a:ext cx="786384" cy="457200"/>
          </a:xfrm>
          <a:prstGeom prst="rect">
            <a:avLst/>
          </a:prstGeom>
          <a:solidFill>
            <a:srgbClr val="2E3A4D"/>
          </a:solidFill>
          <a:ln/>
        </p:spPr>
      </p:sp>
      <p:sp>
        <p:nvSpPr>
          <p:cNvPr id="13" name="hhi row 1 share 1"/>
          <p:cNvSpPr txBox="1"/>
          <p:nvPr/>
        </p:nvSpPr>
        <p:spPr>
          <a:xfrm>
            <a:off x="2743200" y="1874520"/>
            <a:ext cx="804672" cy="457200"/>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4" name="hhi row 1 vendor 2"/>
          <p:cNvSpPr/>
          <p:nvPr/>
        </p:nvSpPr>
        <p:spPr>
          <a:xfrm>
            <a:off x="3557016" y="1874520"/>
            <a:ext cx="786384" cy="457200"/>
          </a:xfrm>
          <a:prstGeom prst="rect">
            <a:avLst/>
          </a:prstGeom>
          <a:solidFill>
            <a:srgbClr val="B9C0CC"/>
          </a:solidFill>
          <a:ln/>
        </p:spPr>
      </p:sp>
      <p:sp>
        <p:nvSpPr>
          <p:cNvPr id="15" name="hhi row 1 share 2"/>
          <p:cNvSpPr txBox="1"/>
          <p:nvPr/>
        </p:nvSpPr>
        <p:spPr>
          <a:xfrm>
            <a:off x="3547872" y="1874520"/>
            <a:ext cx="804672" cy="457200"/>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6" name="hhi row 1 vendor 3"/>
          <p:cNvSpPr/>
          <p:nvPr/>
        </p:nvSpPr>
        <p:spPr>
          <a:xfrm>
            <a:off x="4361688" y="1874520"/>
            <a:ext cx="786384" cy="457200"/>
          </a:xfrm>
          <a:prstGeom prst="rect">
            <a:avLst/>
          </a:prstGeom>
          <a:solidFill>
            <a:srgbClr val="8A94A6"/>
          </a:solidFill>
          <a:ln/>
        </p:spPr>
      </p:sp>
      <p:sp>
        <p:nvSpPr>
          <p:cNvPr id="17" name="hhi row 1 share 3"/>
          <p:cNvSpPr txBox="1"/>
          <p:nvPr/>
        </p:nvSpPr>
        <p:spPr>
          <a:xfrm>
            <a:off x="4352544" y="1874520"/>
            <a:ext cx="804672" cy="457200"/>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8" name="hhi row 1 vendor 4"/>
          <p:cNvSpPr/>
          <p:nvPr/>
        </p:nvSpPr>
        <p:spPr>
          <a:xfrm>
            <a:off x="5166360" y="1874520"/>
            <a:ext cx="786384" cy="457200"/>
          </a:xfrm>
          <a:prstGeom prst="rect">
            <a:avLst/>
          </a:prstGeom>
          <a:solidFill>
            <a:srgbClr val="B9C0CC"/>
          </a:solidFill>
          <a:ln/>
        </p:spPr>
      </p:sp>
      <p:sp>
        <p:nvSpPr>
          <p:cNvPr id="19" name="hhi row 1 share 4"/>
          <p:cNvSpPr txBox="1"/>
          <p:nvPr/>
        </p:nvSpPr>
        <p:spPr>
          <a:xfrm>
            <a:off x="5157216" y="1874520"/>
            <a:ext cx="804672" cy="457200"/>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20" name="hhi row 1 vendor 5"/>
          <p:cNvSpPr/>
          <p:nvPr/>
        </p:nvSpPr>
        <p:spPr>
          <a:xfrm>
            <a:off x="5971032" y="1874520"/>
            <a:ext cx="786384" cy="457200"/>
          </a:xfrm>
          <a:prstGeom prst="rect">
            <a:avLst/>
          </a:prstGeom>
          <a:solidFill>
            <a:srgbClr val="8A94A6"/>
          </a:solidFill>
          <a:ln/>
        </p:spPr>
      </p:sp>
      <p:sp>
        <p:nvSpPr>
          <p:cNvPr id="21" name="hhi row 1 share 5"/>
          <p:cNvSpPr txBox="1"/>
          <p:nvPr/>
        </p:nvSpPr>
        <p:spPr>
          <a:xfrm>
            <a:off x="5961888" y="1874520"/>
            <a:ext cx="804672" cy="457200"/>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22" name="hhi row 1 score"/>
          <p:cNvSpPr txBox="1"/>
          <p:nvPr/>
        </p:nvSpPr>
        <p:spPr>
          <a:xfrm>
            <a:off x="6995160" y="1764792"/>
            <a:ext cx="1691640" cy="731520"/>
          </a:xfrm>
          <a:prstGeom prst="rect">
            <a:avLst/>
          </a:prstGeom>
          <a:noFill/>
          <a:ln/>
        </p:spPr>
        <p:txBody>
          <a:bodyPr wrap="square" lIns="0" tIns="0" rIns="0" bIns="0" rtlCol="0" anchor="ctr"/>
          <a:lstStyle/>
          <a:p>
            <a:pPr indent="0" marL="0">
              <a:buNone/>
            </a:pPr>
            <a:r>
              <a:rPr lang="en-US" sz="2200" b="1" dirty="0">
                <a:solidFill>
                  <a:srgbClr val="2E3A4D"/>
                </a:solidFill>
              </a:rPr>
              <a:t>2,000</a:t>
            </a:r>
            <a:endParaRPr lang="en-US" sz="2200" dirty="0"/>
          </a:p>
          <a:p>
            <a:pPr indent="0" marL="0">
              <a:buNone/>
            </a:pPr>
            <a:r>
              <a:rPr lang="en-US" sz="1200" dirty="0">
                <a:solidFill>
                  <a:srgbClr val="2E3A4D"/>
                </a:solidFill>
              </a:rPr>
              <a:t>20² × 5</a:t>
            </a:r>
            <a:endParaRPr lang="en-US" sz="2200" dirty="0"/>
          </a:p>
        </p:txBody>
      </p:sp>
      <p:sp>
        <p:nvSpPr>
          <p:cNvPr id="23" name="hhi row 2 label"/>
          <p:cNvSpPr txBox="1"/>
          <p:nvPr/>
        </p:nvSpPr>
        <p:spPr>
          <a:xfrm>
            <a:off x="2743200" y="2633472"/>
            <a:ext cx="4023360" cy="256032"/>
          </a:xfrm>
          <a:prstGeom prst="rect">
            <a:avLst/>
          </a:prstGeom>
          <a:noFill/>
          <a:ln/>
        </p:spPr>
        <p:txBody>
          <a:bodyPr wrap="square" lIns="0" tIns="0" rIns="0" bIns="0" rtlCol="0" anchor="ctr"/>
          <a:lstStyle/>
          <a:p>
            <a:pPr indent="0" marL="0">
              <a:buNone/>
            </a:pPr>
            <a:r>
              <a:rPr lang="en-US" sz="1200" dirty="0">
                <a:solidFill>
                  <a:srgbClr val="2E3A4D"/>
                </a:solidFill>
              </a:rPr>
              <a:t>One vendor with 80%</a:t>
            </a:r>
            <a:endParaRPr lang="en-US" sz="1200" dirty="0"/>
          </a:p>
        </p:txBody>
      </p:sp>
      <p:sp>
        <p:nvSpPr>
          <p:cNvPr id="24" name="hhi row 2 vendor 1"/>
          <p:cNvSpPr/>
          <p:nvPr/>
        </p:nvSpPr>
        <p:spPr>
          <a:xfrm>
            <a:off x="2752344" y="2926080"/>
            <a:ext cx="3200400" cy="457200"/>
          </a:xfrm>
          <a:prstGeom prst="rect">
            <a:avLst/>
          </a:prstGeom>
          <a:solidFill>
            <a:srgbClr val="C2410C"/>
          </a:solidFill>
          <a:ln/>
        </p:spPr>
      </p:sp>
      <p:sp>
        <p:nvSpPr>
          <p:cNvPr id="25" name="hhi row 2 share 1"/>
          <p:cNvSpPr txBox="1"/>
          <p:nvPr/>
        </p:nvSpPr>
        <p:spPr>
          <a:xfrm>
            <a:off x="2743200" y="2926080"/>
            <a:ext cx="3218688" cy="457200"/>
          </a:xfrm>
          <a:prstGeom prst="rect">
            <a:avLst/>
          </a:prstGeom>
          <a:noFill/>
          <a:ln/>
        </p:spPr>
        <p:txBody>
          <a:bodyPr wrap="square" lIns="0" tIns="0" rIns="0" bIns="0" rtlCol="0" anchor="ctr"/>
          <a:lstStyle/>
          <a:p>
            <a:pPr algn="ctr" indent="0" marL="0">
              <a:buNone/>
            </a:pPr>
            <a:r>
              <a:rPr lang="en-US" sz="1100" b="1" dirty="0">
                <a:solidFill>
                  <a:srgbClr val="FFFFFF"/>
                </a:solidFill>
              </a:rPr>
              <a:t>80%</a:t>
            </a:r>
            <a:endParaRPr lang="en-US" sz="1100" dirty="0"/>
          </a:p>
        </p:txBody>
      </p:sp>
      <p:sp>
        <p:nvSpPr>
          <p:cNvPr id="26" name="hhi row 2 vendor 2"/>
          <p:cNvSpPr/>
          <p:nvPr/>
        </p:nvSpPr>
        <p:spPr>
          <a:xfrm>
            <a:off x="5971032" y="2926080"/>
            <a:ext cx="182880" cy="457200"/>
          </a:xfrm>
          <a:prstGeom prst="rect">
            <a:avLst/>
          </a:prstGeom>
          <a:solidFill>
            <a:srgbClr val="B9C0CC"/>
          </a:solidFill>
          <a:ln/>
        </p:spPr>
      </p:sp>
      <p:sp>
        <p:nvSpPr>
          <p:cNvPr id="27" name="hhi row 2 vendor 3"/>
          <p:cNvSpPr/>
          <p:nvPr/>
        </p:nvSpPr>
        <p:spPr>
          <a:xfrm>
            <a:off x="6172200" y="2926080"/>
            <a:ext cx="182880" cy="457200"/>
          </a:xfrm>
          <a:prstGeom prst="rect">
            <a:avLst/>
          </a:prstGeom>
          <a:solidFill>
            <a:srgbClr val="8A94A6"/>
          </a:solidFill>
          <a:ln/>
        </p:spPr>
      </p:sp>
      <p:sp>
        <p:nvSpPr>
          <p:cNvPr id="28" name="hhi row 2 vendor 4"/>
          <p:cNvSpPr/>
          <p:nvPr/>
        </p:nvSpPr>
        <p:spPr>
          <a:xfrm>
            <a:off x="6373368" y="2926080"/>
            <a:ext cx="182880" cy="457200"/>
          </a:xfrm>
          <a:prstGeom prst="rect">
            <a:avLst/>
          </a:prstGeom>
          <a:solidFill>
            <a:srgbClr val="B9C0CC"/>
          </a:solidFill>
          <a:ln/>
        </p:spPr>
      </p:sp>
      <p:sp>
        <p:nvSpPr>
          <p:cNvPr id="29" name="hhi row 2 vendor 5"/>
          <p:cNvSpPr/>
          <p:nvPr/>
        </p:nvSpPr>
        <p:spPr>
          <a:xfrm>
            <a:off x="6574536" y="2926080"/>
            <a:ext cx="182880" cy="457200"/>
          </a:xfrm>
          <a:prstGeom prst="rect">
            <a:avLst/>
          </a:prstGeom>
          <a:solidFill>
            <a:srgbClr val="8A94A6"/>
          </a:solidFill>
          <a:ln/>
        </p:spPr>
      </p:sp>
      <p:sp>
        <p:nvSpPr>
          <p:cNvPr id="30" name="hhi row 2 score"/>
          <p:cNvSpPr txBox="1"/>
          <p:nvPr/>
        </p:nvSpPr>
        <p:spPr>
          <a:xfrm>
            <a:off x="6995160" y="2816352"/>
            <a:ext cx="1691640" cy="731520"/>
          </a:xfrm>
          <a:prstGeom prst="rect">
            <a:avLst/>
          </a:prstGeom>
          <a:noFill/>
          <a:ln/>
        </p:spPr>
        <p:txBody>
          <a:bodyPr wrap="square" lIns="0" tIns="0" rIns="0" bIns="0" rtlCol="0" anchor="ctr"/>
          <a:lstStyle/>
          <a:p>
            <a:pPr indent="0" marL="0">
              <a:buNone/>
            </a:pPr>
            <a:r>
              <a:rPr lang="en-US" sz="2200" b="1" dirty="0">
                <a:solidFill>
                  <a:srgbClr val="C2410C"/>
                </a:solidFill>
              </a:rPr>
              <a:t>6,500</a:t>
            </a:r>
            <a:endParaRPr lang="en-US" sz="2200" dirty="0"/>
          </a:p>
          <a:p>
            <a:pPr indent="0" marL="0">
              <a:buNone/>
            </a:pPr>
            <a:r>
              <a:rPr lang="en-US" sz="1200" dirty="0">
                <a:solidFill>
                  <a:srgbClr val="2E3A4D"/>
                </a:solidFill>
              </a:rPr>
              <a:t>80² + 5² × 4</a:t>
            </a:r>
            <a:endParaRPr lang="en-US" sz="2200" dirty="0"/>
          </a:p>
        </p:txBody>
      </p:sp>
      <p:sp>
        <p:nvSpPr>
          <p:cNvPr id="31" name="hhi note"/>
          <p:cNvSpPr txBox="1"/>
          <p:nvPr/>
        </p:nvSpPr>
        <p:spPr>
          <a:xfrm>
            <a:off x="2743200" y="4114800"/>
            <a:ext cx="5943600" cy="365760"/>
          </a:xfrm>
          <a:prstGeom prst="rect">
            <a:avLst/>
          </a:prstGeom>
          <a:noFill/>
          <a:ln/>
        </p:spPr>
        <p:txBody>
          <a:bodyPr wrap="square" lIns="0" tIns="0" rIns="0" bIns="0" rtlCol="0" anchor="ctr"/>
          <a:lstStyle/>
          <a:p>
            <a:pPr indent="0" marL="0">
              <a:buNone/>
            </a:pPr>
            <a:r>
              <a:rPr lang="en-US" sz="1200" i="1" dirty="0">
                <a:solidFill>
                  <a:srgbClr val="2E3A4D"/>
                </a:solidFill>
              </a:rPr>
              <a:t>Above 2,500 is highly concentrated under the 2010 merger guidelines.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600" b="1" dirty="0">
                <a:solidFill>
                  <a:srgbClr val="1F2430"/>
                </a:solidFill>
                <a:latin typeface="Cambria" pitchFamily="34" charset="0"/>
                <a:ea typeface="Cambria" pitchFamily="34" charset="-122"/>
                <a:cs typeface="Cambria" pitchFamily="34" charset="-120"/>
              </a:rPr>
              <a:t>Concentrated segments now hold half the dollars</a:t>
            </a:r>
            <a:endParaRPr lang="en-US" sz="2600" dirty="0"/>
          </a:p>
        </p:txBody>
      </p:sp>
      <p:graphicFrame>
        <p:nvGraphicFramePr>
          <p:cNvPr id="4" name="trend chart" descr=""/>
          <p:cNvGraphicFramePr/>
          <p:nvPr/>
        </p:nvGraphicFramePr>
        <p:xfrm>
          <a:off x="457200" y="1188720"/>
          <a:ext cx="5760720" cy="3429000"/>
        </p:xfrm>
        <a:graphic xmlns:a="http://schemas.openxmlformats.org/drawingml/2006/main">
          <a:graphicData uri="http://schemas.openxmlformats.org/drawingml/2006/chart">
            <c:chart xmlns:c="http://schemas.openxmlformats.org/drawingml/2006/chart" r:id="rId1"/>
          </a:graphicData>
        </a:graphic>
      </p:graphicFrame>
      <p:sp>
        <p:nvSpPr>
          <p:cNvPr id="5" name="first year value"/>
          <p:cNvSpPr txBox="1"/>
          <p:nvPr/>
        </p:nvSpPr>
        <p:spPr>
          <a:xfrm>
            <a:off x="6492240" y="1371600"/>
            <a:ext cx="2194560" cy="685800"/>
          </a:xfrm>
          <a:prstGeom prst="rect">
            <a:avLst/>
          </a:prstGeom>
          <a:noFill/>
          <a:ln/>
        </p:spPr>
        <p:txBody>
          <a:bodyPr wrap="square" lIns="0" tIns="0" rIns="0" bIns="0" rtlCol="0" anchor="ctr"/>
          <a:lstStyle/>
          <a:p>
            <a:pPr indent="0" marL="0">
              <a:buNone/>
            </a:pPr>
            <a:r>
              <a:rPr lang="en-US" sz="3600" b="1" dirty="0">
                <a:solidFill>
                  <a:srgbClr val="2E3A4D"/>
                </a:solidFill>
                <a:latin typeface="Cambria" pitchFamily="34" charset="0"/>
                <a:ea typeface="Cambria" pitchFamily="34" charset="-122"/>
                <a:cs typeface="Cambria" pitchFamily="34" charset="-120"/>
              </a:rPr>
              <a:t>43%</a:t>
            </a:r>
            <a:endParaRPr lang="en-US" sz="3600" dirty="0"/>
          </a:p>
        </p:txBody>
      </p:sp>
      <p:sp>
        <p:nvSpPr>
          <p:cNvPr id="6" name="first year label"/>
          <p:cNvSpPr txBox="1"/>
          <p:nvPr/>
        </p:nvSpPr>
        <p:spPr>
          <a:xfrm>
            <a:off x="6492240" y="2057400"/>
            <a:ext cx="2194560" cy="548640"/>
          </a:xfrm>
          <a:prstGeom prst="rect">
            <a:avLst/>
          </a:prstGeom>
          <a:noFill/>
          <a:ln/>
        </p:spPr>
        <p:txBody>
          <a:bodyPr wrap="square" lIns="0" tIns="0" rIns="0" bIns="0" rtlCol="0" anchor="t"/>
          <a:lstStyle/>
          <a:p>
            <a:pPr indent="0" marL="0">
              <a:buNone/>
            </a:pPr>
            <a:r>
              <a:rPr lang="en-US" sz="1200" dirty="0">
                <a:solidFill>
                  <a:srgbClr val="2E3A4D"/>
                </a:solidFill>
              </a:rPr>
              <a:t>of dollars in FY2008</a:t>
            </a:r>
            <a:endParaRPr lang="en-US" sz="1200" dirty="0"/>
          </a:p>
        </p:txBody>
      </p:sp>
      <p:sp>
        <p:nvSpPr>
          <p:cNvPr id="7" name="last year value"/>
          <p:cNvSpPr txBox="1"/>
          <p:nvPr/>
        </p:nvSpPr>
        <p:spPr>
          <a:xfrm>
            <a:off x="6492240" y="2743200"/>
            <a:ext cx="2194560" cy="685800"/>
          </a:xfrm>
          <a:prstGeom prst="rect">
            <a:avLst/>
          </a:prstGeom>
          <a:noFill/>
          <a:ln/>
        </p:spPr>
        <p:txBody>
          <a:bodyPr wrap="square" lIns="0" tIns="0" rIns="0" bIns="0" rtlCol="0" anchor="ctr"/>
          <a:lstStyle/>
          <a:p>
            <a:pPr indent="0" marL="0">
              <a:buNone/>
            </a:pPr>
            <a:r>
              <a:rPr lang="en-US" sz="3600" b="1" dirty="0">
                <a:solidFill>
                  <a:srgbClr val="C2410C"/>
                </a:solidFill>
                <a:latin typeface="Cambria" pitchFamily="34" charset="0"/>
                <a:ea typeface="Cambria" pitchFamily="34" charset="-122"/>
                <a:cs typeface="Cambria" pitchFamily="34" charset="-120"/>
              </a:rPr>
              <a:t>50%</a:t>
            </a:r>
            <a:endParaRPr lang="en-US" sz="3600" dirty="0"/>
          </a:p>
        </p:txBody>
      </p:sp>
      <p:sp>
        <p:nvSpPr>
          <p:cNvPr id="8" name="last year label"/>
          <p:cNvSpPr txBox="1"/>
          <p:nvPr/>
        </p:nvSpPr>
        <p:spPr>
          <a:xfrm>
            <a:off x="6492240" y="3429000"/>
            <a:ext cx="2194560" cy="548640"/>
          </a:xfrm>
          <a:prstGeom prst="rect">
            <a:avLst/>
          </a:prstGeom>
          <a:noFill/>
          <a:ln/>
        </p:spPr>
        <p:txBody>
          <a:bodyPr wrap="square" lIns="0" tIns="0" rIns="0" bIns="0" rtlCol="0" anchor="t"/>
          <a:lstStyle/>
          <a:p>
            <a:pPr indent="0" marL="0">
              <a:buNone/>
            </a:pPr>
            <a:r>
              <a:rPr lang="en-US" sz="1200" dirty="0">
                <a:solidFill>
                  <a:srgbClr val="2E3A4D"/>
                </a:solidFill>
              </a:rPr>
              <a:t>of dollars in FY2025</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600" b="1" dirty="0">
                <a:solidFill>
                  <a:srgbClr val="1F2430"/>
                </a:solidFill>
                <a:latin typeface="Cambria" pitchFamily="34" charset="0"/>
                <a:ea typeface="Cambria" pitchFamily="34" charset="-122"/>
                <a:cs typeface="Cambria" pitchFamily="34" charset="-120"/>
              </a:rPr>
              <a:t>Products are far more concentrated than services</a:t>
            </a:r>
            <a:endParaRPr lang="en-US" sz="2600" dirty="0"/>
          </a:p>
        </p:txBody>
      </p:sp>
      <p:graphicFrame>
        <p:nvGraphicFramePr>
          <p:cNvPr id="4" name="location chart" descr=""/>
          <p:cNvGraphicFramePr/>
          <p:nvPr/>
        </p:nvGraphicFramePr>
        <p:xfrm>
          <a:off x="457200" y="1188720"/>
          <a:ext cx="5486400" cy="3429000"/>
        </p:xfrm>
        <a:graphic xmlns:a="http://schemas.openxmlformats.org/drawingml/2006/main">
          <a:graphicData uri="http://schemas.openxmlformats.org/drawingml/2006/chart">
            <c:chart xmlns:c="http://schemas.openxmlformats.org/drawingml/2006/chart" r:id="rId1"/>
          </a:graphicData>
        </a:graphic>
      </p:graphicFrame>
      <p:sp>
        <p:nvSpPr>
          <p:cNvPr id="5" name="single cells value"/>
          <p:cNvSpPr txBox="1"/>
          <p:nvPr/>
        </p:nvSpPr>
        <p:spPr>
          <a:xfrm>
            <a:off x="6309360" y="1371600"/>
            <a:ext cx="2377440" cy="685800"/>
          </a:xfrm>
          <a:prstGeom prst="rect">
            <a:avLst/>
          </a:prstGeom>
          <a:noFill/>
          <a:ln/>
        </p:spPr>
        <p:txBody>
          <a:bodyPr wrap="square" lIns="0" tIns="0" rIns="0" bIns="0" rtlCol="0" anchor="ctr"/>
          <a:lstStyle/>
          <a:p>
            <a:pPr indent="0" marL="0">
              <a:buNone/>
            </a:pPr>
            <a:r>
              <a:rPr lang="en-US" sz="3600" b="1" dirty="0">
                <a:solidFill>
                  <a:srgbClr val="2E3A4D"/>
                </a:solidFill>
                <a:latin typeface="Cambria" pitchFamily="34" charset="0"/>
                <a:ea typeface="Cambria" pitchFamily="34" charset="-122"/>
                <a:cs typeface="Cambria" pitchFamily="34" charset="-120"/>
              </a:rPr>
              <a:t>30%</a:t>
            </a:r>
            <a:endParaRPr lang="en-US" sz="3600" dirty="0"/>
          </a:p>
        </p:txBody>
      </p:sp>
      <p:sp>
        <p:nvSpPr>
          <p:cNvPr id="6" name="single cells label"/>
          <p:cNvSpPr txBox="1"/>
          <p:nvPr/>
        </p:nvSpPr>
        <p:spPr>
          <a:xfrm>
            <a:off x="6309360" y="2057400"/>
            <a:ext cx="2377440" cy="548640"/>
          </a:xfrm>
          <a:prstGeom prst="rect">
            <a:avLst/>
          </a:prstGeom>
          <a:noFill/>
          <a:ln/>
        </p:spPr>
        <p:txBody>
          <a:bodyPr wrap="square" lIns="0" tIns="0" rIns="0" bIns="0" rtlCol="0" anchor="t"/>
          <a:lstStyle/>
          <a:p>
            <a:pPr indent="0" marL="0">
              <a:buNone/>
            </a:pPr>
            <a:r>
              <a:rPr lang="en-US" sz="1200" dirty="0">
                <a:solidFill>
                  <a:srgbClr val="2E3A4D"/>
                </a:solidFill>
              </a:rPr>
              <a:t>of FY2025 segments have one vendor</a:t>
            </a:r>
            <a:endParaRPr lang="en-US" sz="1200" dirty="0"/>
          </a:p>
        </p:txBody>
      </p:sp>
      <p:sp>
        <p:nvSpPr>
          <p:cNvPr id="7" name="single dollars value"/>
          <p:cNvSpPr txBox="1"/>
          <p:nvPr/>
        </p:nvSpPr>
        <p:spPr>
          <a:xfrm>
            <a:off x="6309360" y="2743200"/>
            <a:ext cx="2377440" cy="685800"/>
          </a:xfrm>
          <a:prstGeom prst="rect">
            <a:avLst/>
          </a:prstGeom>
          <a:noFill/>
          <a:ln/>
        </p:spPr>
        <p:txBody>
          <a:bodyPr wrap="square" lIns="0" tIns="0" rIns="0" bIns="0" rtlCol="0" anchor="ctr"/>
          <a:lstStyle/>
          <a:p>
            <a:pPr indent="0" marL="0">
              <a:buNone/>
            </a:pPr>
            <a:r>
              <a:rPr lang="en-US" sz="3600" b="1" dirty="0">
                <a:solidFill>
                  <a:srgbClr val="C2410C"/>
                </a:solidFill>
                <a:latin typeface="Cambria" pitchFamily="34" charset="0"/>
                <a:ea typeface="Cambria" pitchFamily="34" charset="-122"/>
                <a:cs typeface="Cambria" pitchFamily="34" charset="-120"/>
              </a:rPr>
              <a:t>1.9%</a:t>
            </a:r>
            <a:endParaRPr lang="en-US" sz="3600" dirty="0"/>
          </a:p>
        </p:txBody>
      </p:sp>
      <p:sp>
        <p:nvSpPr>
          <p:cNvPr id="8" name="single dollars label"/>
          <p:cNvSpPr txBox="1"/>
          <p:nvPr/>
        </p:nvSpPr>
        <p:spPr>
          <a:xfrm>
            <a:off x="6309360" y="3429000"/>
            <a:ext cx="2377440" cy="548640"/>
          </a:xfrm>
          <a:prstGeom prst="rect">
            <a:avLst/>
          </a:prstGeom>
          <a:noFill/>
          <a:ln/>
        </p:spPr>
        <p:txBody>
          <a:bodyPr wrap="square" lIns="0" tIns="0" rIns="0" bIns="0" rtlCol="0" anchor="t"/>
          <a:lstStyle/>
          <a:p>
            <a:pPr indent="0" marL="0">
              <a:buNone/>
            </a:pPr>
            <a:r>
              <a:rPr lang="en-US" sz="1200" dirty="0">
                <a:solidFill>
                  <a:srgbClr val="2E3A4D"/>
                </a:solidFill>
              </a:rPr>
              <a:t>of that year's dollars sit in them</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600" b="1" dirty="0">
                <a:solidFill>
                  <a:srgbClr val="1F2430"/>
                </a:solidFill>
                <a:latin typeface="Cambria" pitchFamily="34" charset="0"/>
                <a:ea typeface="Cambria" pitchFamily="34" charset="-122"/>
                <a:cs typeface="Cambria" pitchFamily="34" charset="-120"/>
              </a:rPr>
              <a:t>Product codes mostly carry across both code changes</a:t>
            </a:r>
            <a:endParaRPr lang="en-US" sz="2600" dirty="0"/>
          </a:p>
        </p:txBody>
      </p:sp>
      <p:sp>
        <p:nvSpPr>
          <p:cNvPr id="4" name="era 1 bar"/>
          <p:cNvSpPr/>
          <p:nvPr/>
        </p:nvSpPr>
        <p:spPr>
          <a:xfrm>
            <a:off x="484632" y="1325880"/>
            <a:ext cx="1773936" cy="502920"/>
          </a:xfrm>
          <a:prstGeom prst="rect">
            <a:avLst/>
          </a:prstGeom>
          <a:solidFill>
            <a:srgbClr val="8A94A6"/>
          </a:solidFill>
          <a:ln/>
        </p:spPr>
      </p:sp>
      <p:sp>
        <p:nvSpPr>
          <p:cNvPr id="5" name="era 1 label"/>
          <p:cNvSpPr txBox="1"/>
          <p:nvPr/>
        </p:nvSpPr>
        <p:spPr>
          <a:xfrm>
            <a:off x="457200" y="1325880"/>
            <a:ext cx="1828800" cy="502920"/>
          </a:xfrm>
          <a:prstGeom prst="rect">
            <a:avLst/>
          </a:prstGeom>
          <a:noFill/>
          <a:ln/>
        </p:spPr>
        <p:txBody>
          <a:bodyPr wrap="square" lIns="0" tIns="0" rIns="0" bIns="0" rtlCol="0" anchor="ctr"/>
          <a:lstStyle/>
          <a:p>
            <a:pPr algn="ctr" indent="0" marL="0">
              <a:buNone/>
            </a:pPr>
            <a:r>
              <a:rPr lang="en-US" sz="1400" b="1" dirty="0">
                <a:solidFill>
                  <a:srgbClr val="FFFFFF"/>
                </a:solidFill>
              </a:rPr>
              <a:t>4 years</a:t>
            </a:r>
            <a:endParaRPr lang="en-US" sz="1400" dirty="0"/>
          </a:p>
          <a:p>
            <a:pPr algn="ctr" indent="0" marL="0">
              <a:buNone/>
            </a:pPr>
            <a:r>
              <a:rPr lang="en-US" sz="1000" dirty="0">
                <a:solidFill>
                  <a:srgbClr val="FFFFFF"/>
                </a:solidFill>
              </a:rPr>
              <a:t>FY2008 to FY2011</a:t>
            </a:r>
            <a:endParaRPr lang="en-US" sz="1400" dirty="0"/>
          </a:p>
        </p:txBody>
      </p:sp>
      <p:sp>
        <p:nvSpPr>
          <p:cNvPr id="6" name="era 2 bar"/>
          <p:cNvSpPr/>
          <p:nvPr/>
        </p:nvSpPr>
        <p:spPr>
          <a:xfrm>
            <a:off x="2313432" y="1325880"/>
            <a:ext cx="4059936" cy="502920"/>
          </a:xfrm>
          <a:prstGeom prst="rect">
            <a:avLst/>
          </a:prstGeom>
          <a:solidFill>
            <a:srgbClr val="2E3A4D"/>
          </a:solidFill>
          <a:ln/>
        </p:spPr>
      </p:sp>
      <p:sp>
        <p:nvSpPr>
          <p:cNvPr id="7" name="era 2 label"/>
          <p:cNvSpPr txBox="1"/>
          <p:nvPr/>
        </p:nvSpPr>
        <p:spPr>
          <a:xfrm>
            <a:off x="2286000" y="1325880"/>
            <a:ext cx="4114800" cy="502920"/>
          </a:xfrm>
          <a:prstGeom prst="rect">
            <a:avLst/>
          </a:prstGeom>
          <a:noFill/>
          <a:ln/>
        </p:spPr>
        <p:txBody>
          <a:bodyPr wrap="square" lIns="0" tIns="0" rIns="0" bIns="0" rtlCol="0" anchor="ctr"/>
          <a:lstStyle/>
          <a:p>
            <a:pPr algn="ctr" indent="0" marL="0">
              <a:buNone/>
            </a:pPr>
            <a:r>
              <a:rPr lang="en-US" sz="1400" b="1" dirty="0">
                <a:solidFill>
                  <a:srgbClr val="FFFFFF"/>
                </a:solidFill>
              </a:rPr>
              <a:t>9 years</a:t>
            </a:r>
            <a:endParaRPr lang="en-US" sz="1400" dirty="0"/>
          </a:p>
          <a:p>
            <a:pPr algn="ctr" indent="0" marL="0">
              <a:buNone/>
            </a:pPr>
            <a:r>
              <a:rPr lang="en-US" sz="1000" dirty="0">
                <a:solidFill>
                  <a:srgbClr val="FFFFFF"/>
                </a:solidFill>
              </a:rPr>
              <a:t>FY2012 to FY2020</a:t>
            </a:r>
            <a:endParaRPr lang="en-US" sz="1400" dirty="0"/>
          </a:p>
        </p:txBody>
      </p:sp>
      <p:sp>
        <p:nvSpPr>
          <p:cNvPr id="8" name="era 3 bar"/>
          <p:cNvSpPr/>
          <p:nvPr/>
        </p:nvSpPr>
        <p:spPr>
          <a:xfrm>
            <a:off x="6428232" y="1325880"/>
            <a:ext cx="2231136" cy="502920"/>
          </a:xfrm>
          <a:prstGeom prst="rect">
            <a:avLst/>
          </a:prstGeom>
          <a:solidFill>
            <a:srgbClr val="8A94A6"/>
          </a:solidFill>
          <a:ln/>
        </p:spPr>
      </p:sp>
      <p:sp>
        <p:nvSpPr>
          <p:cNvPr id="9" name="era 3 label"/>
          <p:cNvSpPr txBox="1"/>
          <p:nvPr/>
        </p:nvSpPr>
        <p:spPr>
          <a:xfrm>
            <a:off x="6400800" y="1325880"/>
            <a:ext cx="2286000" cy="502920"/>
          </a:xfrm>
          <a:prstGeom prst="rect">
            <a:avLst/>
          </a:prstGeom>
          <a:noFill/>
          <a:ln/>
        </p:spPr>
        <p:txBody>
          <a:bodyPr wrap="square" lIns="0" tIns="0" rIns="0" bIns="0" rtlCol="0" anchor="ctr"/>
          <a:lstStyle/>
          <a:p>
            <a:pPr algn="ctr" indent="0" marL="0">
              <a:buNone/>
            </a:pPr>
            <a:r>
              <a:rPr lang="en-US" sz="1400" b="1" dirty="0">
                <a:solidFill>
                  <a:srgbClr val="FFFFFF"/>
                </a:solidFill>
              </a:rPr>
              <a:t>5 years</a:t>
            </a:r>
            <a:endParaRPr lang="en-US" sz="1400" dirty="0"/>
          </a:p>
          <a:p>
            <a:pPr algn="ctr" indent="0" marL="0">
              <a:buNone/>
            </a:pPr>
            <a:r>
              <a:rPr lang="en-US" sz="1000" dirty="0">
                <a:solidFill>
                  <a:srgbClr val="FFFFFF"/>
                </a:solidFill>
              </a:rPr>
              <a:t>FY2021 to FY2025</a:t>
            </a:r>
            <a:endParaRPr lang="en-US" sz="1400" dirty="0"/>
          </a:p>
        </p:txBody>
      </p:sp>
      <p:sp>
        <p:nvSpPr>
          <p:cNvPr id="10" name="era note"/>
          <p:cNvSpPr txBox="1"/>
          <p:nvPr/>
        </p:nvSpPr>
        <p:spPr>
          <a:xfrm>
            <a:off x="457200" y="1874520"/>
            <a:ext cx="8229600" cy="274320"/>
          </a:xfrm>
          <a:prstGeom prst="rect">
            <a:avLst/>
          </a:prstGeom>
          <a:noFill/>
          <a:ln/>
        </p:spPr>
        <p:txBody>
          <a:bodyPr wrap="square" lIns="0" tIns="0" rIns="0" bIns="0" rtlCol="0" anchor="ctr"/>
          <a:lstStyle/>
          <a:p>
            <a:pPr indent="0" marL="0">
              <a:buNone/>
            </a:pPr>
            <a:r>
              <a:rPr lang="en-US" sz="1100" i="1" dirty="0">
                <a:solidFill>
                  <a:srgbClr val="2E3A4D"/>
                </a:solidFill>
              </a:rPr>
              <a:t>Product code manuals changed on 2011-10-01 and 2020-10-01. Codes that stopped at either change held almost no dollars.</a:t>
            </a:r>
            <a:endParaRPr lang="en-US" sz="1100" dirty="0"/>
          </a:p>
        </p:txBody>
      </p:sp>
      <p:sp>
        <p:nvSpPr>
          <p:cNvPr id="11" name="all eras value"/>
          <p:cNvSpPr txBox="1"/>
          <p:nvPr/>
        </p:nvSpPr>
        <p:spPr>
          <a:xfrm>
            <a:off x="457200" y="2377440"/>
            <a:ext cx="2560320" cy="685800"/>
          </a:xfrm>
          <a:prstGeom prst="rect">
            <a:avLst/>
          </a:prstGeom>
          <a:noFill/>
          <a:ln/>
        </p:spPr>
        <p:txBody>
          <a:bodyPr wrap="square" lIns="0" tIns="0" rIns="0" bIns="0" rtlCol="0" anchor="ctr"/>
          <a:lstStyle/>
          <a:p>
            <a:pPr indent="0" marL="0">
              <a:buNone/>
            </a:pPr>
            <a:r>
              <a:rPr lang="en-US" sz="3600" b="1" dirty="0">
                <a:solidFill>
                  <a:srgbClr val="2E3A4D"/>
                </a:solidFill>
                <a:latin typeface="Cambria" pitchFamily="34" charset="0"/>
                <a:ea typeface="Cambria" pitchFamily="34" charset="-122"/>
                <a:cs typeface="Cambria" pitchFamily="34" charset="-120"/>
              </a:rPr>
              <a:t>88.5%</a:t>
            </a:r>
            <a:endParaRPr lang="en-US" sz="3600" dirty="0"/>
          </a:p>
        </p:txBody>
      </p:sp>
      <p:sp>
        <p:nvSpPr>
          <p:cNvPr id="12" name="all eras label"/>
          <p:cNvSpPr txBox="1"/>
          <p:nvPr/>
        </p:nvSpPr>
        <p:spPr>
          <a:xfrm>
            <a:off x="457200" y="3063240"/>
            <a:ext cx="2560320" cy="548640"/>
          </a:xfrm>
          <a:prstGeom prst="rect">
            <a:avLst/>
          </a:prstGeom>
          <a:noFill/>
          <a:ln/>
        </p:spPr>
        <p:txBody>
          <a:bodyPr wrap="square" lIns="0" tIns="0" rIns="0" bIns="0" rtlCol="0" anchor="t"/>
          <a:lstStyle/>
          <a:p>
            <a:pPr indent="0" marL="0">
              <a:buNone/>
            </a:pPr>
            <a:r>
              <a:rPr lang="en-US" sz="1200" dirty="0">
                <a:solidFill>
                  <a:srgbClr val="2E3A4D"/>
                </a:solidFill>
              </a:rPr>
              <a:t>of all 18 years' dollars are on codes used in every era</a:t>
            </a:r>
            <a:endParaRPr lang="en-US" sz="1200" dirty="0"/>
          </a:p>
        </p:txBody>
      </p:sp>
      <p:sp>
        <p:nvSpPr>
          <p:cNvPr id="13" name="new 2012 value"/>
          <p:cNvSpPr txBox="1"/>
          <p:nvPr/>
        </p:nvSpPr>
        <p:spPr>
          <a:xfrm>
            <a:off x="3291840" y="2377440"/>
            <a:ext cx="2560320" cy="685800"/>
          </a:xfrm>
          <a:prstGeom prst="rect">
            <a:avLst/>
          </a:prstGeom>
          <a:noFill/>
          <a:ln/>
        </p:spPr>
        <p:txBody>
          <a:bodyPr wrap="square" lIns="0" tIns="0" rIns="0" bIns="0" rtlCol="0" anchor="ctr"/>
          <a:lstStyle/>
          <a:p>
            <a:pPr indent="0" marL="0">
              <a:buNone/>
            </a:pPr>
            <a:r>
              <a:rPr lang="en-US" sz="3600" b="1" dirty="0">
                <a:solidFill>
                  <a:srgbClr val="C2410C"/>
                </a:solidFill>
                <a:latin typeface="Cambria" pitchFamily="34" charset="0"/>
                <a:ea typeface="Cambria" pitchFamily="34" charset="-122"/>
                <a:cs typeface="Cambria" pitchFamily="34" charset="-120"/>
              </a:rPr>
              <a:t>6.5%</a:t>
            </a:r>
            <a:endParaRPr lang="en-US" sz="3600" dirty="0"/>
          </a:p>
        </p:txBody>
      </p:sp>
      <p:sp>
        <p:nvSpPr>
          <p:cNvPr id="14" name="new 2012 label"/>
          <p:cNvSpPr txBox="1"/>
          <p:nvPr/>
        </p:nvSpPr>
        <p:spPr>
          <a:xfrm>
            <a:off x="3291840" y="3063240"/>
            <a:ext cx="2560320" cy="548640"/>
          </a:xfrm>
          <a:prstGeom prst="rect">
            <a:avLst/>
          </a:prstGeom>
          <a:noFill/>
          <a:ln/>
        </p:spPr>
        <p:txBody>
          <a:bodyPr wrap="square" lIns="0" tIns="0" rIns="0" bIns="0" rtlCol="0" anchor="t"/>
          <a:lstStyle/>
          <a:p>
            <a:pPr indent="0" marL="0">
              <a:buNone/>
            </a:pPr>
            <a:r>
              <a:rPr lang="en-US" sz="1200" dirty="0">
                <a:solidFill>
                  <a:srgbClr val="2E3A4D"/>
                </a:solidFill>
              </a:rPr>
              <a:t>of FY2012 dollars moved to codes new that year</a:t>
            </a:r>
            <a:endParaRPr lang="en-US" sz="1200" dirty="0"/>
          </a:p>
        </p:txBody>
      </p:sp>
      <p:sp>
        <p:nvSpPr>
          <p:cNvPr id="15" name="new 2021 value"/>
          <p:cNvSpPr txBox="1"/>
          <p:nvPr/>
        </p:nvSpPr>
        <p:spPr>
          <a:xfrm>
            <a:off x="6126480" y="2377440"/>
            <a:ext cx="2560320" cy="685800"/>
          </a:xfrm>
          <a:prstGeom prst="rect">
            <a:avLst/>
          </a:prstGeom>
          <a:noFill/>
          <a:ln/>
        </p:spPr>
        <p:txBody>
          <a:bodyPr wrap="square" lIns="0" tIns="0" rIns="0" bIns="0" rtlCol="0" anchor="ctr"/>
          <a:lstStyle/>
          <a:p>
            <a:pPr indent="0" marL="0">
              <a:buNone/>
            </a:pPr>
            <a:r>
              <a:rPr lang="en-US" sz="3600" b="1" dirty="0">
                <a:solidFill>
                  <a:srgbClr val="C2410C"/>
                </a:solidFill>
                <a:latin typeface="Cambria" pitchFamily="34" charset="0"/>
                <a:ea typeface="Cambria" pitchFamily="34" charset="-122"/>
                <a:cs typeface="Cambria" pitchFamily="34" charset="-120"/>
              </a:rPr>
              <a:t>4.4%</a:t>
            </a:r>
            <a:endParaRPr lang="en-US" sz="3600" dirty="0"/>
          </a:p>
        </p:txBody>
      </p:sp>
      <p:sp>
        <p:nvSpPr>
          <p:cNvPr id="16" name="new 2021 label"/>
          <p:cNvSpPr txBox="1"/>
          <p:nvPr/>
        </p:nvSpPr>
        <p:spPr>
          <a:xfrm>
            <a:off x="6126480" y="3063240"/>
            <a:ext cx="2560320" cy="548640"/>
          </a:xfrm>
          <a:prstGeom prst="rect">
            <a:avLst/>
          </a:prstGeom>
          <a:noFill/>
          <a:ln/>
        </p:spPr>
        <p:txBody>
          <a:bodyPr wrap="square" lIns="0" tIns="0" rIns="0" bIns="0" rtlCol="0" anchor="t"/>
          <a:lstStyle/>
          <a:p>
            <a:pPr indent="0" marL="0">
              <a:buNone/>
            </a:pPr>
            <a:r>
              <a:rPr lang="en-US" sz="1200" dirty="0">
                <a:solidFill>
                  <a:srgbClr val="2E3A4D"/>
                </a:solidFill>
              </a:rPr>
              <a:t>of FY2021 dollars moved to codes new that year</a:t>
            </a:r>
            <a:endParaRPr lang="en-US" sz="1200" dirty="0"/>
          </a:p>
        </p:txBody>
      </p:sp>
      <p:sp>
        <p:nvSpPr>
          <p:cNvPr id="17" name="codes callout"/>
          <p:cNvSpPr txBox="1"/>
          <p:nvPr/>
        </p:nvSpPr>
        <p:spPr>
          <a:xfrm>
            <a:off x="457200" y="3886200"/>
            <a:ext cx="8229600" cy="685800"/>
          </a:xfrm>
          <a:prstGeom prst="rect">
            <a:avLst/>
          </a:prstGeom>
          <a:solidFill>
            <a:srgbClr val="EEF0F3"/>
          </a:solidFill>
          <a:ln/>
        </p:spPr>
        <p:txBody>
          <a:bodyPr wrap="square" lIns="1270" tIns="1270" rIns="1270" bIns="1270" rtlCol="0" anchor="ctr"/>
          <a:lstStyle/>
          <a:p>
            <a:pPr indent="0" marL="0">
              <a:buNone/>
            </a:pPr>
            <a:r>
              <a:rPr lang="en-US" sz="1400" dirty="0">
                <a:solidFill>
                  <a:srgbClr val="1F2430"/>
                </a:solidFill>
              </a:rPr>
              <a:t>Old codes were almost never retired. New codes were added and spending moved onto them: 87% of it construction and repair in FY2012, and almost all of it IT in FY2021. Most trend lines can run all 18 years.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600" b="1" dirty="0">
                <a:solidFill>
                  <a:srgbClr val="1F2430"/>
                </a:solidFill>
                <a:latin typeface="Cambria" pitchFamily="34" charset="0"/>
                <a:ea typeface="Cambria" pitchFamily="34" charset="-122"/>
                <a:cs typeface="Cambria" pitchFamily="34" charset="-120"/>
              </a:rPr>
              <a:t>Year-to-year noise is larger than the 500-point cutoff</a:t>
            </a:r>
            <a:endParaRPr lang="en-US" sz="2600" dirty="0"/>
          </a:p>
        </p:txBody>
      </p:sp>
      <p:graphicFrame>
        <p:nvGraphicFramePr>
          <p:cNvPr id="4" name="noise chart" descr=""/>
          <p:cNvGraphicFramePr/>
          <p:nvPr/>
        </p:nvGraphicFramePr>
        <p:xfrm>
          <a:off x="457200" y="1188720"/>
          <a:ext cx="4937760" cy="3429000"/>
        </p:xfrm>
        <a:graphic xmlns:a="http://schemas.openxmlformats.org/drawingml/2006/main">
          <a:graphicData uri="http://schemas.openxmlformats.org/drawingml/2006/chart">
            <c:chart xmlns:c="http://schemas.openxmlformats.org/drawingml/2006/chart" r:id="rId1"/>
          </a:graphicData>
        </a:graphic>
      </p:graphicFrame>
      <p:sp>
        <p:nvSpPr>
          <p:cNvPr id="5" name="rising value"/>
          <p:cNvSpPr txBox="1"/>
          <p:nvPr/>
        </p:nvSpPr>
        <p:spPr>
          <a:xfrm>
            <a:off x="5669280" y="1280160"/>
            <a:ext cx="1463040" cy="685800"/>
          </a:xfrm>
          <a:prstGeom prst="rect">
            <a:avLst/>
          </a:prstGeom>
          <a:noFill/>
          <a:ln/>
        </p:spPr>
        <p:txBody>
          <a:bodyPr wrap="square" lIns="0" tIns="0" rIns="0" bIns="0" rtlCol="0" anchor="ctr"/>
          <a:lstStyle/>
          <a:p>
            <a:pPr indent="0" marL="0">
              <a:buNone/>
            </a:pPr>
            <a:r>
              <a:rPr lang="en-US" sz="3600" b="1" dirty="0">
                <a:solidFill>
                  <a:srgbClr val="C2410C"/>
                </a:solidFill>
                <a:latin typeface="Cambria" pitchFamily="34" charset="0"/>
                <a:ea typeface="Cambria" pitchFamily="34" charset="-122"/>
                <a:cs typeface="Cambria" pitchFamily="34" charset="-120"/>
              </a:rPr>
              <a:t>38%</a:t>
            </a:r>
            <a:endParaRPr lang="en-US" sz="3600" dirty="0"/>
          </a:p>
        </p:txBody>
      </p:sp>
      <p:sp>
        <p:nvSpPr>
          <p:cNvPr id="6" name="rising label"/>
          <p:cNvSpPr txBox="1"/>
          <p:nvPr/>
        </p:nvSpPr>
        <p:spPr>
          <a:xfrm>
            <a:off x="5669280" y="1965960"/>
            <a:ext cx="1463040" cy="548640"/>
          </a:xfrm>
          <a:prstGeom prst="rect">
            <a:avLst/>
          </a:prstGeom>
          <a:noFill/>
          <a:ln/>
        </p:spPr>
        <p:txBody>
          <a:bodyPr wrap="square" lIns="0" tIns="0" rIns="0" bIns="0" rtlCol="0" anchor="t"/>
          <a:lstStyle/>
          <a:p>
            <a:pPr indent="0" marL="0">
              <a:buNone/>
            </a:pPr>
            <a:r>
              <a:rPr lang="en-US" sz="1200" dirty="0">
                <a:solidFill>
                  <a:srgbClr val="2E3A4D"/>
                </a:solidFill>
              </a:rPr>
              <a:t>of lines rise by 500 or more</a:t>
            </a:r>
            <a:endParaRPr lang="en-US" sz="1200" dirty="0"/>
          </a:p>
        </p:txBody>
      </p:sp>
      <p:sp>
        <p:nvSpPr>
          <p:cNvPr id="7" name="shuffled value"/>
          <p:cNvSpPr txBox="1"/>
          <p:nvPr/>
        </p:nvSpPr>
        <p:spPr>
          <a:xfrm>
            <a:off x="7223760" y="1280160"/>
            <a:ext cx="1463040" cy="685800"/>
          </a:xfrm>
          <a:prstGeom prst="rect">
            <a:avLst/>
          </a:prstGeom>
          <a:noFill/>
          <a:ln/>
        </p:spPr>
        <p:txBody>
          <a:bodyPr wrap="square" lIns="0" tIns="0" rIns="0" bIns="0" rtlCol="0" anchor="ctr"/>
          <a:lstStyle/>
          <a:p>
            <a:pPr indent="0" marL="0">
              <a:buNone/>
            </a:pPr>
            <a:r>
              <a:rPr lang="en-US" sz="3600" b="1" dirty="0">
                <a:solidFill>
                  <a:srgbClr val="8A94A6"/>
                </a:solidFill>
                <a:latin typeface="Cambria" pitchFamily="34" charset="0"/>
                <a:ea typeface="Cambria" pitchFamily="34" charset="-122"/>
                <a:cs typeface="Cambria" pitchFamily="34" charset="-120"/>
              </a:rPr>
              <a:t>28%</a:t>
            </a:r>
            <a:endParaRPr lang="en-US" sz="3600" dirty="0"/>
          </a:p>
        </p:txBody>
      </p:sp>
      <p:sp>
        <p:nvSpPr>
          <p:cNvPr id="8" name="shuffled label"/>
          <p:cNvSpPr txBox="1"/>
          <p:nvPr/>
        </p:nvSpPr>
        <p:spPr>
          <a:xfrm>
            <a:off x="7223760" y="1965960"/>
            <a:ext cx="1463040" cy="548640"/>
          </a:xfrm>
          <a:prstGeom prst="rect">
            <a:avLst/>
          </a:prstGeom>
          <a:noFill/>
          <a:ln/>
        </p:spPr>
        <p:txBody>
          <a:bodyPr wrap="square" lIns="0" tIns="0" rIns="0" bIns="0" rtlCol="0" anchor="t"/>
          <a:lstStyle/>
          <a:p>
            <a:pPr indent="0" marL="0">
              <a:buNone/>
            </a:pPr>
            <a:r>
              <a:rPr lang="en-US" sz="1200" dirty="0">
                <a:solidFill>
                  <a:srgbClr val="2E3A4D"/>
                </a:solidFill>
              </a:rPr>
              <a:t>after shuffling their years</a:t>
            </a:r>
            <a:endParaRPr lang="en-US" sz="1200" dirty="0"/>
          </a:p>
        </p:txBody>
      </p:sp>
      <p:sp>
        <p:nvSpPr>
          <p:cNvPr id="9" name="next decisions"/>
          <p:cNvSpPr txBox="1"/>
          <p:nvPr/>
        </p:nvSpPr>
        <p:spPr>
          <a:xfrm>
            <a:off x="5669280" y="269748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430"/>
                </a:solidFill>
              </a:rPr>
              <a:t>Set the rising cutoff against shuffled lines, not against zero</a:t>
            </a:r>
            <a:endParaRPr lang="en-US" sz="1300" dirty="0"/>
          </a:p>
          <a:p>
            <a:pPr marL="342900" indent="-342900">
              <a:spcAft>
                <a:spcPts val="600"/>
              </a:spcAft>
              <a:buSzPct val="100000"/>
              <a:buChar char="•"/>
            </a:pPr>
            <a:r>
              <a:rPr lang="en-US" sz="1300" dirty="0">
                <a:solidFill>
                  <a:srgbClr val="1F2430"/>
                </a:solidFill>
              </a:rPr>
              <a:t>Crosswalk IT and construction codes across the changes</a:t>
            </a:r>
            <a:endParaRPr lang="en-US" sz="1300" dirty="0"/>
          </a:p>
          <a:p>
            <a:pPr marL="342900" indent="-342900">
              <a:spcAft>
                <a:spcPts val="600"/>
              </a:spcAft>
              <a:buSzPct val="100000"/>
              <a:buChar char="•"/>
            </a:pPr>
            <a:r>
              <a:rPr lang="en-US" sz="1300" dirty="0">
                <a:solidFill>
                  <a:srgbClr val="1F2430"/>
                </a:solidFill>
              </a:rPr>
              <a:t>Thin-line rule: 6 years and $10M keeps 99% of dollars</a:t>
            </a:r>
            <a:endParaRPr lang="en-US" sz="1300" dirty="0"/>
          </a:p>
          <a:p>
            <a:pPr marL="342900" indent="-342900">
              <a:spcAft>
                <a:spcPts val="600"/>
              </a:spcAft>
              <a:buSzPct val="100000"/>
              <a:buChar char="•"/>
            </a:pPr>
            <a:r>
              <a:rPr lang="en-US" sz="1300" dirty="0">
                <a:solidFill>
                  <a:srgbClr val="1F2430"/>
                </a:solidFill>
              </a:rPr>
              <a:t>Then settle the nine data decisions with the sponsor</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200" b="1" dirty="0">
                <a:solidFill>
                  <a:srgbClr val="1F2430"/>
                </a:solidFill>
                <a:latin typeface="Cambria" pitchFamily="34" charset="0"/>
                <a:ea typeface="Cambria" pitchFamily="34" charset="-122"/>
                <a:cs typeface="Cambria" pitchFamily="34" charset="-120"/>
              </a:rPr>
              <a:t>Backup: the data decisions move few segments between bands</a:t>
            </a:r>
            <a:endParaRPr lang="en-US" sz="2200" dirty="0"/>
          </a:p>
        </p:txBody>
      </p:sp>
      <p:sp>
        <p:nvSpPr>
          <p:cNvPr id="4" name="backup note"/>
          <p:cNvSpPr txBox="1"/>
          <p:nvPr/>
        </p:nvSpPr>
        <p:spPr>
          <a:xfrm>
            <a:off x="457200" y="4069080"/>
            <a:ext cx="8229600" cy="640080"/>
          </a:xfrm>
          <a:prstGeom prst="rect">
            <a:avLst/>
          </a:prstGeom>
          <a:noFill/>
          <a:ln/>
        </p:spPr>
        <p:txBody>
          <a:bodyPr wrap="square" lIns="0" tIns="0" rIns="0" bIns="0" rtlCol="0" anchor="t"/>
          <a:lstStyle/>
          <a:p>
            <a:pPr indent="0" marL="0">
              <a:buNone/>
            </a:pPr>
            <a:r>
              <a:rPr lang="en-US" sz="1200" dirty="0">
                <a:solidFill>
                  <a:srgbClr val="2E3A4D"/>
                </a:solidFill>
              </a:rPr>
              <a:t>V1 applies the decisions as proposed: reversal pairs replaced by their net, the two US Mint rows, MISCELLANEOUS FOREIGN AWARDEES and rows with no vendor ID left out. V8b also leaves out deobligations larger than the award's obligations that year.</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743200"/>
                <a:gridCol w="1371600"/>
                <a:gridCol w="1463040"/>
                <a:gridCol w="1325880"/>
                <a:gridCol w="1325880"/>
              </a:tblGrid>
              <a:tr h="0">
                <a:tc>
                  <a:txBody>
                    <a:bodyPr/>
                    <a:lstStyle/>
                    <a:p>
                      <a:pPr indent="0" marL="0">
                        <a:buNone/>
                      </a:pPr>
                      <a:r>
                        <a:rPr lang="en-US" sz="1100" b="1" dirty="0">
                          <a:solidFill>
                            <a:srgbClr val="FFFFFF"/>
                          </a:solidFill>
                        </a:rPr>
                        <a:t>Variant against V0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Segments in both</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Change band</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Into above 2,500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Out of above 2,500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r>
              <a:tr h="0">
                <a:tc>
                  <a:txBody>
                    <a:bodyPr/>
                    <a:lstStyle/>
                    <a:p>
                      <a:pPr indent="0" marL="0">
                        <a:buNone/>
                      </a:pPr>
                      <a:r>
                        <a:rPr lang="en-US" sz="1100" dirty="0">
                          <a:solidFill>
                            <a:srgbClr val="1F2430"/>
                          </a:solidFill>
                        </a:rPr>
                        <a:t>V1, decisions as proposed</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357,284</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3,241 (0.9%)</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599</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1,801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V8b, V1 without J03 deobligations</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gridSpan="4">
                  <a:txBody>
                    <a:bodyPr/>
                    <a:lstStyle/>
                    <a:p>
                      <a:pPr indent="0" marL="0">
                        <a:buNone/>
                      </a:pPr>
                      <a:r>
                        <a:rPr lang="en-US" sz="1100" i="1" dirty="0">
                          <a:solidFill>
                            <a:srgbClr val="2E3A4D"/>
                          </a:solidFill>
                        </a:rPr>
                        <a:t>Pending: needs the Stage 2 flags for every year</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hMerge="1">
                  <a:tcPr/>
                </a:tc>
                <a:tc hMerge="1">
                  <a:tcPr/>
                </a:tc>
                <a:tc hMerge="1">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200" b="1" dirty="0">
                <a:solidFill>
                  <a:srgbClr val="1F2430"/>
                </a:solidFill>
                <a:latin typeface="Cambria" pitchFamily="34" charset="0"/>
                <a:ea typeface="Cambria" pitchFamily="34" charset="-122"/>
                <a:cs typeface="Cambria" pitchFamily="34" charset="-120"/>
              </a:rPr>
              <a:t>Backup: the 10 largest vendors, FY2008 to FY2025</a:t>
            </a:r>
            <a:endParaRPr lang="en-US" sz="2200" dirty="0"/>
          </a:p>
        </p:txBody>
      </p:sp>
      <p:sp>
        <p:nvSpPr>
          <p:cNvPr id="4" name="backup note"/>
          <p:cNvSpPr txBox="1"/>
          <p:nvPr/>
        </p:nvSpPr>
        <p:spPr>
          <a:xfrm>
            <a:off x="457200" y="4069080"/>
            <a:ext cx="8229600" cy="640080"/>
          </a:xfrm>
          <a:prstGeom prst="rect">
            <a:avLst/>
          </a:prstGeom>
          <a:noFill/>
          <a:ln/>
        </p:spPr>
        <p:txBody>
          <a:bodyPr wrap="square" lIns="0" tIns="0" rIns="0" bIns="0" rtlCol="0" anchor="t"/>
          <a:lstStyle/>
          <a:p>
            <a:pPr indent="0" marL="0">
              <a:buNone/>
            </a:pPr>
            <a:r>
              <a:rPr lang="en-US" sz="1200" dirty="0">
                <a:solidFill>
                  <a:srgbClr val="2E3A4D"/>
                </a:solidFill>
              </a:rPr>
              <a:t>Vendors are parent IDs as recorded at the time of each action. Names are the raw parent name carrying the most dollars, so they lag mergers: the RTX ID shows as United Technologies, and the Leidos ID as SAIC. A dated name list is planned for week 6.</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5486400"/>
                <a:gridCol w="2011680"/>
              </a:tblGrid>
              <a:tr h="246888">
                <a:tc>
                  <a:txBody>
                    <a:bodyPr/>
                    <a:lstStyle/>
                    <a:p>
                      <a:pPr indent="0" marL="0">
                        <a:buNone/>
                      </a:pPr>
                      <a:r>
                        <a:rPr lang="en-US" sz="1000" b="1" dirty="0">
                          <a:solidFill>
                            <a:srgbClr val="FFFFFF"/>
                          </a:solidFill>
                        </a:rPr>
                        <a:t>Rank</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000" b="1" dirty="0">
                          <a:solidFill>
                            <a:srgbClr val="FFFFFF"/>
                          </a:solidFill>
                        </a:rPr>
                        <a:t>Parent ID, by its name on the most dollars</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000" b="1" dirty="0">
                          <a:solidFill>
                            <a:srgbClr val="FFFFFF"/>
                          </a:solidFill>
                        </a:rPr>
                        <a:t>Net, FY2008 to FY2025</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r>
              <a:tr h="246888">
                <a:tc>
                  <a:txBody>
                    <a:bodyPr/>
                    <a:lstStyle/>
                    <a:p>
                      <a:pPr indent="0" marL="0">
                        <a:buNone/>
                      </a:pPr>
                      <a:r>
                        <a:rPr lang="en-US" sz="1000" dirty="0">
                          <a:solidFill>
                            <a:srgbClr val="1F2430"/>
                          </a:solidFill>
                        </a:rPr>
                        <a:t>1</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LOCKHEED MARTIN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$784.4B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2</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THE BOEING COMPANY</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$412.0B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3</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GENERAL DYNAMICS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$296.6B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4</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RAYTHEON COMPANY</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$192.5B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5</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NORTHROP GRUMMAN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$191.3B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6</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UNITED TECHNOLOGIES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$182.6B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7</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SAIC  INC.</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$126.8B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8</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MCKESSON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$122.6B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9</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BAE SYSTEMS PLC</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$107.7B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10</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HUNTINGTON INGALLS INDUSTRIES  INC.</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$100.9B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nchor="ctr"/>
          <a:lstStyle/>
          <a:p>
            <a:pPr indent="0" marL="0">
              <a:buNone/>
            </a:pPr>
            <a:r>
              <a:rPr lang="en-US" sz="2200" b="1" dirty="0">
                <a:solidFill>
                  <a:srgbClr val="1F2430"/>
                </a:solidFill>
                <a:latin typeface="Cambria" pitchFamily="34" charset="0"/>
                <a:ea typeface="Cambria" pitchFamily="34" charset="-122"/>
                <a:cs typeface="Cambria" pitchFamily="34" charset="-120"/>
              </a:rPr>
              <a:t>Backup: candidate features change coverage over time</a:t>
            </a:r>
            <a:endParaRPr lang="en-US" sz="2200" dirty="0"/>
          </a:p>
        </p:txBody>
      </p:sp>
      <p:sp>
        <p:nvSpPr>
          <p:cNvPr id="4" name="backup note"/>
          <p:cNvSpPr txBox="1"/>
          <p:nvPr/>
        </p:nvSpPr>
        <p:spPr>
          <a:xfrm>
            <a:off x="457200" y="4069080"/>
            <a:ext cx="8229600" cy="640080"/>
          </a:xfrm>
          <a:prstGeom prst="rect">
            <a:avLst/>
          </a:prstGeom>
          <a:noFill/>
          <a:ln/>
        </p:spPr>
        <p:txBody>
          <a:bodyPr wrap="square" lIns="0" tIns="0" rIns="0" bIns="0" rtlCol="0" anchor="t"/>
          <a:lstStyle/>
          <a:p>
            <a:pPr indent="0" marL="0">
              <a:buNone/>
            </a:pPr>
            <a:r>
              <a:rPr lang="en-US" sz="1200" dirty="0">
                <a:solidFill>
                  <a:srgbClr val="2E3A4D"/>
                </a:solidFill>
              </a:rPr>
              <a:t>Set-aside and offers fields are blank on many dollars from FY2018, and most of the blank rows are orders under contract vehicles. The order competition field is blank on 75% to 88% of dollars, since it applies only to some orders.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3108960"/>
                <a:gridCol w="1280160"/>
                <a:gridCol w="1280160"/>
                <a:gridCol w="1280160"/>
                <a:gridCol w="1280160"/>
              </a:tblGrid>
              <a:tr h="0">
                <a:tc>
                  <a:txBody>
                    <a:bodyPr/>
                    <a:lstStyle/>
                    <a:p>
                      <a:pPr indent="0" marL="0">
                        <a:buNone/>
                      </a:pPr>
                      <a:r>
                        <a:rPr lang="en-US" sz="1100" b="1" dirty="0">
                          <a:solidFill>
                            <a:srgbClr val="FFFFFF"/>
                          </a:solidFill>
                        </a:rPr>
                        <a:t>Share of V1 dollars</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FY2008</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FY2012</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FY2018</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FY2025</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r>
              <a:tr h="0">
                <a:tc>
                  <a:txBody>
                    <a:bodyPr/>
                    <a:lstStyle/>
                    <a:p>
                      <a:pPr indent="0" marL="0">
                        <a:buNone/>
                      </a:pPr>
                      <a:r>
                        <a:rPr lang="en-US" sz="1100" dirty="0">
                          <a:solidFill>
                            <a:srgbClr val="1F2430"/>
                          </a:solidFill>
                        </a:rPr>
                        <a:t>Sole source on the umbrella</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33.6%</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33.4%</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33.8%</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Order field blank</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88.3%</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80.7%</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78.1%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74.7%</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Set-aside field blank</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5.3%</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4.0%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45.1%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53.2%</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Offers reported, share of competed</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100.0%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100.0%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76.4%</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69.7%</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2E3A4D"/>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Vendor concentration in federal contracting: first look at 18 years</dc:title>
  <dc:subject>PptxGenJS Presentation</dc:subject>
  <dc:creator>Suchitra Hole, Shivram Nekkanti, Andy Hannah</dc:creator>
  <cp:lastModifiedBy>Suchitra Hole, Shivram Nekkanti, Andy Hannah</cp:lastModifiedBy>
  <cp:revision>1</cp:revision>
  <dcterms:created xsi:type="dcterms:W3CDTF">2026-10-12T22:18:54Z</dcterms:created>
  <dcterms:modified xsi:type="dcterms:W3CDTF">2026-10-12T22:18:54Z</dcterms:modified>
</cp:coreProperties>
</file>